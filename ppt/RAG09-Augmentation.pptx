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76" r:id="rId3"/>
    <p:sldId id="277" r:id="rId4"/>
    <p:sldId id="278" r:id="rId5"/>
    <p:sldId id="272" r:id="rId6"/>
    <p:sldId id="279" r:id="rId7"/>
    <p:sldId id="280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Augmentation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3EA56-7AFF-2D78-ED74-A79E2C1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D3116-3EDB-E50F-2228-F97618BF2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d'envoyer les k meilleurs vecteurs dans le prompt du LLM</a:t>
            </a:r>
          </a:p>
          <a:p>
            <a:r>
              <a:rPr lang="fr-FR" dirty="0"/>
              <a:t>Permet d'augmenter la réponse</a:t>
            </a:r>
          </a:p>
          <a:p>
            <a:pPr lvl="1"/>
            <a:r>
              <a:rPr lang="fr-FR" dirty="0"/>
              <a:t>Par défaut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 err="1"/>
              <a:t>query_engine</a:t>
            </a:r>
            <a:r>
              <a:rPr lang="fr-FR" dirty="0"/>
              <a:t> = </a:t>
            </a:r>
            <a:r>
              <a:rPr lang="fr-FR" dirty="0" err="1"/>
              <a:t>index.as_query_engine</a:t>
            </a:r>
            <a:r>
              <a:rPr lang="fr-FR" dirty="0"/>
              <a:t>(</a:t>
            </a:r>
            <a:r>
              <a:rPr lang="fr-FR" dirty="0" err="1"/>
              <a:t>similarity_top_k</a:t>
            </a:r>
            <a:r>
              <a:rPr lang="fr-FR" dirty="0"/>
              <a:t>=3)</a:t>
            </a:r>
          </a:p>
          <a:p>
            <a:pPr lvl="1"/>
            <a:r>
              <a:rPr lang="fr-FR" dirty="0" err="1"/>
              <a:t>query</a:t>
            </a:r>
            <a:r>
              <a:rPr lang="fr-FR" dirty="0"/>
              <a:t> = "Qu'est ce que le RAG en IA?"</a:t>
            </a:r>
          </a:p>
          <a:p>
            <a:pPr lvl="1"/>
            <a:r>
              <a:rPr lang="fr-FR" dirty="0" err="1"/>
              <a:t>response</a:t>
            </a:r>
            <a:r>
              <a:rPr lang="fr-FR" dirty="0"/>
              <a:t> = </a:t>
            </a:r>
            <a:r>
              <a:rPr lang="fr-FR" dirty="0" err="1"/>
              <a:t>query_engine.query</a:t>
            </a:r>
            <a:r>
              <a:rPr lang="fr-FR" dirty="0"/>
              <a:t>(</a:t>
            </a:r>
            <a:r>
              <a:rPr lang="fr-FR" dirty="0" err="1"/>
              <a:t>query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196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6DB49-3E47-C9E1-BA53-56AB2860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499F8-3954-EF55-FA08-31267FFA7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Possibilité d'utiliser d'autres LLM</a:t>
            </a:r>
          </a:p>
          <a:p>
            <a:pPr lvl="1"/>
            <a:r>
              <a:rPr lang="fr-FR" dirty="0"/>
              <a:t>Mistral</a:t>
            </a:r>
          </a:p>
          <a:p>
            <a:pPr lvl="1"/>
            <a:r>
              <a:rPr lang="fr-FR" dirty="0"/>
              <a:t>Claude</a:t>
            </a:r>
          </a:p>
          <a:p>
            <a:pPr lvl="1"/>
            <a:r>
              <a:rPr lang="fr-FR" dirty="0" err="1"/>
              <a:t>DeepSeek</a:t>
            </a:r>
            <a:endParaRPr lang="fr-FR" dirty="0"/>
          </a:p>
          <a:p>
            <a:pPr lvl="1"/>
            <a:r>
              <a:rPr lang="fr-FR" dirty="0"/>
              <a:t>…</a:t>
            </a:r>
          </a:p>
          <a:p>
            <a:pPr lvl="1"/>
            <a:r>
              <a:rPr lang="fr-FR" dirty="0"/>
              <a:t>Voir exemples</a:t>
            </a:r>
          </a:p>
        </p:txBody>
      </p:sp>
    </p:spTree>
    <p:extLst>
      <p:ext uri="{BB962C8B-B14F-4D97-AF65-F5344CB8AC3E}">
        <p14:creationId xmlns:p14="http://schemas.microsoft.com/office/powerpoint/2010/main" val="394768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BF66E-0C7B-57E2-F13B-A2909602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avec les </a:t>
            </a:r>
            <a:r>
              <a:rPr lang="fr-FR" dirty="0" err="1"/>
              <a:t>metadata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6E5AE1-9BE8-18DA-C412-74D1685DA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sourcer les réponses</a:t>
            </a:r>
          </a:p>
          <a:p>
            <a:pPr lvl="1"/>
            <a:r>
              <a:rPr lang="fr-FR" dirty="0"/>
              <a:t>Dans </a:t>
            </a:r>
            <a:r>
              <a:rPr lang="fr-FR" dirty="0" err="1"/>
              <a:t>VectorDB</a:t>
            </a:r>
            <a:r>
              <a:rPr lang="fr-FR" dirty="0"/>
              <a:t> chaque </a:t>
            </a:r>
            <a:r>
              <a:rPr lang="fr-FR" dirty="0" err="1"/>
              <a:t>Vector</a:t>
            </a:r>
            <a:r>
              <a:rPr lang="fr-FR" dirty="0"/>
              <a:t> est associé à un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Et donc à un document</a:t>
            </a:r>
          </a:p>
          <a:p>
            <a:pPr lvl="1"/>
            <a:r>
              <a:rPr lang="fr-FR" dirty="0"/>
              <a:t>Voir exemples</a:t>
            </a:r>
          </a:p>
        </p:txBody>
      </p:sp>
    </p:spTree>
    <p:extLst>
      <p:ext uri="{BB962C8B-B14F-4D97-AF65-F5344CB8AC3E}">
        <p14:creationId xmlns:p14="http://schemas.microsoft.com/office/powerpoint/2010/main" val="355991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C825A-C5F2-B5CC-2204-495E8FE9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Solidification du </a:t>
            </a:r>
            <a:r>
              <a:rPr lang="fr-FR" dirty="0" err="1"/>
              <a:t>VectorStore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9F4C30-B2D6-AA07-B2A4-61CC39111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défaut le </a:t>
            </a:r>
            <a:r>
              <a:rPr lang="fr-FR" dirty="0" err="1"/>
              <a:t>VectorStore</a:t>
            </a:r>
            <a:r>
              <a:rPr lang="fr-FR" dirty="0"/>
              <a:t> est en RAM</a:t>
            </a:r>
          </a:p>
          <a:p>
            <a:pPr lvl="1"/>
            <a:r>
              <a:rPr lang="fr-FR" dirty="0"/>
              <a:t>Perte à chaque redémarrage</a:t>
            </a:r>
          </a:p>
          <a:p>
            <a:r>
              <a:rPr lang="fr-FR" dirty="0"/>
              <a:t>Possibilité de l'enregistrer sur disque dur</a:t>
            </a:r>
          </a:p>
          <a:p>
            <a:pPr lvl="1"/>
            <a:r>
              <a:rPr lang="fr-FR" dirty="0"/>
              <a:t>Par Pickle</a:t>
            </a:r>
          </a:p>
          <a:p>
            <a:pPr lvl="1"/>
            <a:r>
              <a:rPr lang="it-IT" dirty="0" err="1"/>
              <a:t>index.storage_context.persist</a:t>
            </a:r>
            <a:r>
              <a:rPr lang="it-IT" dirty="0"/>
              <a:t>("data/storage")</a:t>
            </a:r>
            <a:endParaRPr lang="fr-FR" dirty="0"/>
          </a:p>
          <a:p>
            <a:r>
              <a:rPr lang="fr-FR" dirty="0"/>
              <a:t>Pour retrouver l'index</a:t>
            </a:r>
          </a:p>
          <a:p>
            <a:pPr lvl="1"/>
            <a:r>
              <a:rPr lang="fr-FR" dirty="0" err="1"/>
              <a:t>storage_context</a:t>
            </a:r>
            <a:r>
              <a:rPr lang="fr-FR" dirty="0"/>
              <a:t> = </a:t>
            </a:r>
            <a:r>
              <a:rPr lang="fr-FR" dirty="0" err="1"/>
              <a:t>StorageContext.from_defaults</a:t>
            </a:r>
            <a:r>
              <a:rPr lang="fr-FR" dirty="0"/>
              <a:t>(</a:t>
            </a:r>
            <a:r>
              <a:rPr lang="fr-FR" dirty="0" err="1"/>
              <a:t>persist_dir</a:t>
            </a:r>
            <a:r>
              <a:rPr lang="fr-FR" dirty="0"/>
              <a:t>="data/</a:t>
            </a:r>
            <a:r>
              <a:rPr lang="fr-FR" dirty="0" err="1"/>
              <a:t>storage</a:t>
            </a:r>
            <a:r>
              <a:rPr lang="fr-FR" dirty="0"/>
              <a:t>")</a:t>
            </a:r>
          </a:p>
          <a:p>
            <a:pPr lvl="1"/>
            <a:r>
              <a:rPr lang="fr-FR" dirty="0"/>
              <a:t>index = </a:t>
            </a:r>
            <a:r>
              <a:rPr lang="fr-FR" dirty="0" err="1"/>
              <a:t>load_index_from_storage</a:t>
            </a:r>
            <a:r>
              <a:rPr lang="fr-FR" dirty="0"/>
              <a:t>(</a:t>
            </a:r>
            <a:r>
              <a:rPr lang="fr-FR" dirty="0" err="1"/>
              <a:t>storage_context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303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C8610-6FA3-BFCE-68CB-4FC669C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PgVector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B9021A-9850-3DEB-85D1-7E65097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Base de données de vectorielle</a:t>
            </a:r>
          </a:p>
          <a:p>
            <a:r>
              <a:rPr lang="fr-FR" dirty="0"/>
              <a:t>Nécessaire au-delà de 10M </a:t>
            </a:r>
            <a:r>
              <a:rPr lang="fr-FR" dirty="0" err="1"/>
              <a:t>Chunks</a:t>
            </a:r>
            <a:endParaRPr lang="fr-FR" dirty="0"/>
          </a:p>
          <a:p>
            <a:r>
              <a:rPr lang="fr-FR" dirty="0"/>
              <a:t>Stockage fiable++</a:t>
            </a:r>
          </a:p>
          <a:p>
            <a:r>
              <a:rPr lang="fr-FR" dirty="0"/>
              <a:t>Rapide</a:t>
            </a:r>
          </a:p>
          <a:p>
            <a:r>
              <a:rPr lang="fr-FR" dirty="0"/>
              <a:t>Compatible SQL</a:t>
            </a:r>
          </a:p>
        </p:txBody>
      </p:sp>
    </p:spTree>
    <p:extLst>
      <p:ext uri="{BB962C8B-B14F-4D97-AF65-F5344CB8AC3E}">
        <p14:creationId xmlns:p14="http://schemas.microsoft.com/office/powerpoint/2010/main" val="324073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EE49E-05ED-4DF6-A7FA-B90623C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PineCone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8827-88AA-BF92-4E26-8756D909F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vectorielle</a:t>
            </a:r>
          </a:p>
          <a:p>
            <a:r>
              <a:rPr lang="fr-FR" dirty="0"/>
              <a:t>SaaS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5FABB-4EBA-9A4A-B938-A8286573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916832"/>
            <a:ext cx="427732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2772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3592</TotalTime>
  <Words>198</Words>
  <Application>Microsoft Office PowerPoint</Application>
  <PresentationFormat>Affichage à l'écran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Augmentation</vt:lpstr>
      <vt:lpstr>Autres modèles</vt:lpstr>
      <vt:lpstr>Augmentation avec les metadata</vt:lpstr>
      <vt:lpstr>Solidification du VectorStore</vt:lpstr>
      <vt:lpstr>PgVector</vt:lpstr>
      <vt:lpstr>PineCone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276</cp:revision>
  <dcterms:created xsi:type="dcterms:W3CDTF">2000-04-10T19:33:12Z</dcterms:created>
  <dcterms:modified xsi:type="dcterms:W3CDTF">2025-10-15T20:21:40Z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