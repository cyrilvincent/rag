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5"/>
  </p:notesMasterIdLst>
  <p:handoutMasterIdLst>
    <p:handoutMasterId r:id="rId16"/>
  </p:handoutMasterIdLst>
  <p:sldIdLst>
    <p:sldId id="264" r:id="rId2"/>
    <p:sldId id="290" r:id="rId3"/>
    <p:sldId id="291" r:id="rId4"/>
    <p:sldId id="292" r:id="rId5"/>
    <p:sldId id="276" r:id="rId6"/>
    <p:sldId id="281" r:id="rId7"/>
    <p:sldId id="282" r:id="rId8"/>
    <p:sldId id="293" r:id="rId9"/>
    <p:sldId id="284" r:id="rId10"/>
    <p:sldId id="283" r:id="rId11"/>
    <p:sldId id="285" r:id="rId12"/>
    <p:sldId id="286" r:id="rId13"/>
    <p:sldId id="288" r:id="rId14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30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259632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Persistence</a:t>
            </a:r>
            <a:r>
              <a:rPr lang="fr-FR" altLang="fr-FR" dirty="0"/>
              <a:t> &amp; Agent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B6D45-439D-ACFB-326E-14DE72EC9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Persistence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62579D-C7B6-214E-27D5-B243A87C7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4824536" cy="5040560"/>
          </a:xfrm>
        </p:spPr>
        <p:txBody>
          <a:bodyPr/>
          <a:lstStyle/>
          <a:p>
            <a:r>
              <a:rPr lang="fr-FR" dirty="0"/>
              <a:t>Il est souvent utile de sauvegarder les conversations d'un RAG dans une BD</a:t>
            </a:r>
          </a:p>
          <a:p>
            <a:r>
              <a:rPr lang="fr-FR" dirty="0"/>
              <a:t>A long terme</a:t>
            </a:r>
          </a:p>
          <a:p>
            <a:pPr lvl="1"/>
            <a:r>
              <a:rPr lang="fr-FR" dirty="0"/>
              <a:t>Un BD</a:t>
            </a:r>
          </a:p>
          <a:p>
            <a:r>
              <a:rPr lang="fr-FR" dirty="0"/>
              <a:t>A court terme</a:t>
            </a:r>
          </a:p>
          <a:p>
            <a:pPr lvl="1"/>
            <a:r>
              <a:rPr lang="fr-FR" dirty="0"/>
              <a:t>Pour maintenir un contexte pendant le chat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17A0699-E38C-5647-9BDA-29A06CCB7A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7825" y="2002532"/>
            <a:ext cx="4510648" cy="2938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1389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E4F2B0-FDBF-8452-85AC-25A45A398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MemorySaver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D58AB0-14D5-7321-CFEF-DFA8EEED8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Mémoire à court terme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langgraph.checkpoint.memory</a:t>
            </a:r>
            <a:r>
              <a:rPr lang="en-US" dirty="0"/>
              <a:t> import </a:t>
            </a:r>
            <a:r>
              <a:rPr lang="en-US" dirty="0" err="1"/>
              <a:t>MemorySaver</a:t>
            </a:r>
            <a:endParaRPr lang="en-US" dirty="0"/>
          </a:p>
          <a:p>
            <a:pPr lvl="1"/>
            <a:r>
              <a:rPr lang="en-US" dirty="0"/>
              <a:t>memory = </a:t>
            </a:r>
            <a:r>
              <a:rPr lang="en-US" dirty="0" err="1"/>
              <a:t>MemorySaver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graph = </a:t>
            </a:r>
            <a:r>
              <a:rPr lang="en-US" dirty="0" err="1"/>
              <a:t>graph_builder.compile</a:t>
            </a:r>
            <a:r>
              <a:rPr lang="en-US" dirty="0"/>
              <a:t>(</a:t>
            </a:r>
            <a:r>
              <a:rPr lang="en-US" dirty="0" err="1"/>
              <a:t>checkpointer</a:t>
            </a:r>
            <a:r>
              <a:rPr lang="en-US" dirty="0"/>
              <a:t>=memory)</a:t>
            </a:r>
          </a:p>
          <a:p>
            <a:pPr lvl="1"/>
            <a:r>
              <a:rPr lang="en-US" dirty="0" err="1"/>
              <a:t>Nécessite</a:t>
            </a:r>
            <a:r>
              <a:rPr lang="en-US" dirty="0"/>
              <a:t> un id unique par discussion</a:t>
            </a:r>
          </a:p>
          <a:p>
            <a:pPr lvl="1"/>
            <a:r>
              <a:rPr lang="en-US" dirty="0"/>
              <a:t>config = {"configurable": {"</a:t>
            </a:r>
            <a:r>
              <a:rPr lang="en-US" dirty="0" err="1"/>
              <a:t>thread_id</a:t>
            </a:r>
            <a:r>
              <a:rPr lang="en-US" dirty="0"/>
              <a:t>": "uniqueId1234"}}</a:t>
            </a:r>
          </a:p>
          <a:p>
            <a:pPr lvl="1"/>
            <a:r>
              <a:rPr lang="en-US" dirty="0"/>
              <a:t>response = </a:t>
            </a:r>
            <a:r>
              <a:rPr lang="en-US" dirty="0" err="1"/>
              <a:t>graph.invoke</a:t>
            </a:r>
            <a:r>
              <a:rPr lang="en-US" dirty="0"/>
              <a:t>({"question": "</a:t>
            </a:r>
            <a:r>
              <a:rPr lang="en-US" dirty="0" err="1"/>
              <a:t>Qu'est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le RAG?"}, config=config)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6784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9C70DA-55A3-E67C-1539-AB8DE106F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Postgres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29378-B95C-3133-E9B3-A74DA9EEC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Enregistrement BD à long terme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langgraph</a:t>
            </a:r>
            <a:r>
              <a:rPr lang="fr-FR" dirty="0"/>
              <a:t>-checkpoint-</a:t>
            </a:r>
            <a:r>
              <a:rPr lang="fr-FR" dirty="0" err="1"/>
              <a:t>postgres</a:t>
            </a:r>
            <a:endParaRPr lang="fr-FR" dirty="0"/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langgraph.store.postgres</a:t>
            </a:r>
            <a:r>
              <a:rPr lang="fr-FR" dirty="0"/>
              <a:t> import </a:t>
            </a:r>
            <a:r>
              <a:rPr lang="fr-FR" dirty="0" err="1"/>
              <a:t>PostgresStore</a:t>
            </a:r>
            <a:endParaRPr lang="fr-FR" dirty="0"/>
          </a:p>
          <a:p>
            <a:pPr lvl="1"/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PostgresStore.from_conn_string</a:t>
            </a:r>
            <a:r>
              <a:rPr lang="fr-FR" dirty="0"/>
              <a:t>(DB_URI) as store:</a:t>
            </a:r>
          </a:p>
          <a:p>
            <a:pPr lvl="1"/>
            <a:r>
              <a:rPr lang="fr-FR" dirty="0"/>
              <a:t>    </a:t>
            </a:r>
            <a:r>
              <a:rPr lang="fr-FR" dirty="0" err="1"/>
              <a:t>builder</a:t>
            </a:r>
            <a:r>
              <a:rPr lang="fr-FR" dirty="0"/>
              <a:t> = </a:t>
            </a:r>
            <a:r>
              <a:rPr lang="fr-FR" dirty="0" err="1"/>
              <a:t>StateGraph</a:t>
            </a:r>
            <a:r>
              <a:rPr lang="fr-FR" dirty="0"/>
              <a:t>(...)</a:t>
            </a:r>
          </a:p>
          <a:p>
            <a:pPr lvl="1"/>
            <a:r>
              <a:rPr lang="fr-FR" dirty="0"/>
              <a:t>    graph = </a:t>
            </a:r>
            <a:r>
              <a:rPr lang="fr-FR" dirty="0" err="1"/>
              <a:t>builder.compile</a:t>
            </a:r>
            <a:r>
              <a:rPr lang="fr-FR" dirty="0"/>
              <a:t>(store=store)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8070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93EA56-7AFF-2D78-ED74-A79E2C10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 IA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D3116-3EDB-E50F-2228-F97618BF2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intelligence artificielle, un agent intelligent est une entité autonome, éventuellement dotée d'une persona, éventuellement capable de percevoir son environnement grâce à des capteurs, ainsi que d'agir sur celui-ci, au moyen d'effecteurs, afin de réaliser une tâche</a:t>
            </a:r>
          </a:p>
        </p:txBody>
      </p:sp>
    </p:spTree>
    <p:extLst>
      <p:ext uri="{BB962C8B-B14F-4D97-AF65-F5344CB8AC3E}">
        <p14:creationId xmlns:p14="http://schemas.microsoft.com/office/powerpoint/2010/main" val="3531968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A130BB-9F17-3B45-8948-B193BC00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1724F3-AE22-BFB5-97C6-34205098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agent doit donc être capable</a:t>
            </a:r>
          </a:p>
          <a:p>
            <a:pPr lvl="1"/>
            <a:r>
              <a:rPr lang="fr-FR" dirty="0"/>
              <a:t>D'interagir avec une API externe</a:t>
            </a:r>
          </a:p>
          <a:p>
            <a:pPr lvl="1"/>
            <a:r>
              <a:rPr lang="fr-FR" dirty="0"/>
              <a:t>API, SQL, Capteurs, …</a:t>
            </a:r>
          </a:p>
          <a:p>
            <a:pPr lvl="1"/>
            <a:r>
              <a:rPr lang="fr-FR" dirty="0"/>
              <a:t>D'interagir avec le LLM</a:t>
            </a:r>
          </a:p>
          <a:p>
            <a:r>
              <a:rPr lang="fr-FR" dirty="0"/>
              <a:t>L'agent va enrichir la réponse du LLM</a:t>
            </a:r>
          </a:p>
          <a:p>
            <a:pPr lvl="1"/>
            <a:r>
              <a:rPr lang="fr-FR" dirty="0"/>
              <a:t>Arrive en fin de RAG</a:t>
            </a:r>
          </a:p>
          <a:p>
            <a:r>
              <a:rPr lang="fr-FR" dirty="0"/>
              <a:t>Peut être autonome</a:t>
            </a:r>
          </a:p>
          <a:p>
            <a:pPr lvl="1"/>
            <a:r>
              <a:rPr lang="fr-FR" dirty="0"/>
              <a:t>Programme indépendant</a:t>
            </a:r>
          </a:p>
        </p:txBody>
      </p:sp>
    </p:spTree>
    <p:extLst>
      <p:ext uri="{BB962C8B-B14F-4D97-AF65-F5344CB8AC3E}">
        <p14:creationId xmlns:p14="http://schemas.microsoft.com/office/powerpoint/2010/main" val="3429707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81E18B-F2F8-FC0E-821B-0E065BBC5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5834EA-A5F6-CE1B-773B-0E640B1F8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Supposons une fonction métier</a:t>
            </a:r>
          </a:p>
          <a:p>
            <a:pPr lvl="1"/>
            <a:r>
              <a:rPr lang="fr-FR" dirty="0"/>
              <a:t>Capteur de température</a:t>
            </a:r>
          </a:p>
          <a:p>
            <a:pPr lvl="1"/>
            <a:r>
              <a:rPr lang="fr-FR" dirty="0"/>
              <a:t>Calcul complexe</a:t>
            </a:r>
          </a:p>
          <a:p>
            <a:pPr lvl="1"/>
            <a:r>
              <a:rPr lang="fr-FR" dirty="0"/>
              <a:t>Interrogation SQL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7EDEC46-43DE-0177-0BA9-E919E802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60" y="3789040"/>
            <a:ext cx="4289750" cy="126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56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88FA9A-6A73-4320-BBC9-9B6BCC2B4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Tool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CAC8F5-6B28-F127-48A6-0020A9C8A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Tool est un outil que l'on peut intégrer à l'appel du LLM</a:t>
            </a:r>
          </a:p>
          <a:p>
            <a:pPr lvl="1"/>
            <a:r>
              <a:rPr lang="fr-FR" dirty="0"/>
              <a:t>Décoration Python</a:t>
            </a:r>
          </a:p>
          <a:p>
            <a:pPr lvl="1"/>
            <a:r>
              <a:rPr lang="fr-FR" dirty="0" err="1"/>
              <a:t>PyDoc</a:t>
            </a:r>
            <a:r>
              <a:rPr lang="fr-FR" dirty="0"/>
              <a:t> obligatoire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langchain_core.tools</a:t>
            </a:r>
            <a:r>
              <a:rPr lang="en-US" dirty="0"/>
              <a:t> import tool</a:t>
            </a:r>
          </a:p>
          <a:p>
            <a:pPr lvl="1"/>
            <a:r>
              <a:rPr lang="en-US" dirty="0" err="1"/>
              <a:t>llm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7A95A2D-4B1C-2B3B-183D-3D14D5208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642787"/>
            <a:ext cx="3689619" cy="281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17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7FB44-3720-AF55-BCCA-3E745129F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78474-4BBE-F12B-D19E-EA2B4F94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36DA66-047F-4265-AE6A-7C51A1C8B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984776" cy="5040560"/>
          </a:xfrm>
        </p:spPr>
        <p:txBody>
          <a:bodyPr/>
          <a:lstStyle/>
          <a:p>
            <a:r>
              <a:rPr lang="fr-FR" dirty="0"/>
              <a:t>Un agent est un nœud de </a:t>
            </a:r>
            <a:r>
              <a:rPr lang="fr-FR" dirty="0" err="1"/>
              <a:t>LangGraph</a:t>
            </a:r>
            <a:r>
              <a:rPr lang="fr-FR" dirty="0"/>
              <a:t> qui permet d'appeler un Tool</a:t>
            </a:r>
          </a:p>
          <a:p>
            <a:pPr lvl="1"/>
            <a:r>
              <a:rPr lang="fr-FR" dirty="0"/>
              <a:t>Voir exemple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000EAB-2E30-5BC9-B489-B7B685283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296" y="1412776"/>
            <a:ext cx="1209844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967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3AE19E-D7A7-0E83-F8DA-E918DFF2B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E8FFFA-B049-8E1A-76C8-AFB0D2E44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Supposons une requête LLM classique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Un agent permet d'enrichir la requête LLM par la méthode de l'agent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500F459-FD1D-7884-E515-56D3F4BCA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760" y="2060848"/>
            <a:ext cx="4124901" cy="115268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856640-9286-AACA-76D7-A66B90062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624" y="4721223"/>
            <a:ext cx="6725589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830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6F7EE6-7E1B-5825-8754-6C774094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 +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D2D3AE-96B6-89FA-63AA-1CCED998D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Agent est indépendant du RAG</a:t>
            </a:r>
          </a:p>
          <a:p>
            <a:pPr lvl="1"/>
            <a:r>
              <a:rPr lang="fr-FR" dirty="0"/>
              <a:t>Peut compléter du RAG</a:t>
            </a:r>
          </a:p>
          <a:p>
            <a:pPr lvl="1"/>
            <a:r>
              <a:rPr lang="fr-FR" dirty="0"/>
              <a:t>Il suffit de mettre le RAG dans une fonction</a:t>
            </a:r>
          </a:p>
          <a:p>
            <a:pPr lvl="1"/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B423BD9-3EAB-8AFF-0220-56A980CD8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446" y="2996952"/>
            <a:ext cx="6839905" cy="32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089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DCBE16-BFBA-9F6D-2476-F57EB0BD6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 +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00A1AF-10C0-974E-68B0-1E0BB2743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LA prompt </a:t>
            </a:r>
            <a:r>
              <a:rPr lang="fr-FR" dirty="0"/>
              <a:t>suivant va effectuer un RAG puis un appel à la fonction </a:t>
            </a:r>
            <a:r>
              <a:rPr lang="fr-FR" dirty="0" err="1"/>
              <a:t>multiply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6E79563-ECC2-8F67-34DA-2A52D023C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28" y="2785973"/>
            <a:ext cx="5334744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522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70A0E2-49A5-7C2E-92FD-CFE9D4C77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Tavily</a:t>
            </a:r>
            <a:r>
              <a:rPr lang="fr-FR" dirty="0"/>
              <a:t> </a:t>
            </a:r>
            <a:r>
              <a:rPr lang="fr-FR" dirty="0" err="1"/>
              <a:t>Search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88AB3-9A4D-4C8D-AD49-1538D03C0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Recherche Web</a:t>
            </a:r>
          </a:p>
        </p:txBody>
      </p:sp>
    </p:spTree>
    <p:extLst>
      <p:ext uri="{BB962C8B-B14F-4D97-AF65-F5344CB8AC3E}">
        <p14:creationId xmlns:p14="http://schemas.microsoft.com/office/powerpoint/2010/main" val="1423132459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3814</TotalTime>
  <Words>361</Words>
  <Application>Microsoft Office PowerPoint</Application>
  <PresentationFormat>Affichage à l'écran (4:3)</PresentationFormat>
  <Paragraphs>63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Monotype Sorts</vt:lpstr>
      <vt:lpstr>Times New Roman</vt:lpstr>
      <vt:lpstr>cvc</vt:lpstr>
      <vt:lpstr>Présentation PowerPoint</vt:lpstr>
      <vt:lpstr>Persistence</vt:lpstr>
      <vt:lpstr>MemorySaver</vt:lpstr>
      <vt:lpstr>Postgres</vt:lpstr>
      <vt:lpstr>Agent IA</vt:lpstr>
      <vt:lpstr>Agent</vt:lpstr>
      <vt:lpstr>Exemple</vt:lpstr>
      <vt:lpstr>Tool</vt:lpstr>
      <vt:lpstr>Agent</vt:lpstr>
      <vt:lpstr>Agent</vt:lpstr>
      <vt:lpstr>Agent + RAG</vt:lpstr>
      <vt:lpstr>Agent + RAG</vt:lpstr>
      <vt:lpstr>Tavily Search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284</cp:revision>
  <dcterms:created xsi:type="dcterms:W3CDTF">2000-04-10T19:33:12Z</dcterms:created>
  <dcterms:modified xsi:type="dcterms:W3CDTF">2025-10-19T19:34:55Z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