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94" r:id="rId3"/>
    <p:sldId id="290" r:id="rId4"/>
    <p:sldId id="291" r:id="rId5"/>
    <p:sldId id="292" r:id="rId6"/>
    <p:sldId id="276" r:id="rId7"/>
    <p:sldId id="281" r:id="rId8"/>
    <p:sldId id="282" r:id="rId9"/>
    <p:sldId id="293" r:id="rId10"/>
    <p:sldId id="284" r:id="rId11"/>
    <p:sldId id="288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Persistence</a:t>
            </a:r>
            <a:r>
              <a:rPr lang="fr-FR" altLang="fr-FR" dirty="0"/>
              <a:t> &amp; Agent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1844AD-0631-789D-382B-AE0192A7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Besoin de mémoire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7B2FF8-79C1-0514-D6F8-A72A2FD3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524A2F-C5B7-116E-FA0C-02FFCEC7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8" y="2060848"/>
            <a:ext cx="8630854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1B6D45-439D-ACFB-326E-14DE72EC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Persistence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62579D-C7B6-214E-27D5-B243A87C7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824536" cy="5040560"/>
          </a:xfrm>
        </p:spPr>
        <p:txBody>
          <a:bodyPr/>
          <a:lstStyle/>
          <a:p>
            <a:r>
              <a:rPr lang="fr-FR" dirty="0"/>
              <a:t>Il est souvent utile de sauvegarder les conversations d'un RAG dans une BD</a:t>
            </a:r>
          </a:p>
          <a:p>
            <a:r>
              <a:rPr lang="fr-FR" dirty="0"/>
              <a:t>A long terme</a:t>
            </a:r>
          </a:p>
          <a:p>
            <a:pPr lvl="1"/>
            <a:r>
              <a:rPr lang="fr-FR" dirty="0"/>
              <a:t>Un BD</a:t>
            </a:r>
          </a:p>
          <a:p>
            <a:r>
              <a:rPr lang="fr-FR" dirty="0"/>
              <a:t>A court terme</a:t>
            </a:r>
          </a:p>
          <a:p>
            <a:pPr lvl="1"/>
            <a:r>
              <a:rPr lang="fr-FR" dirty="0"/>
              <a:t>Pour maintenir un contexte pendant le chat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7A0699-E38C-5647-9BDA-29A06CCB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825" y="2002532"/>
            <a:ext cx="4510648" cy="293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389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E4F2B0-FDBF-8452-85AC-25A45A398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MemorySaver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D58AB0-14D5-7321-CFEF-DFA8EEED8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Mémoire à court terme</a:t>
            </a:r>
          </a:p>
          <a:p>
            <a:pPr lvl="1"/>
            <a:r>
              <a:rPr lang="en-US" dirty="0"/>
              <a:t>from </a:t>
            </a:r>
            <a:r>
              <a:rPr lang="en-US" dirty="0" err="1"/>
              <a:t>langgraph.checkpoint.memory</a:t>
            </a:r>
            <a:r>
              <a:rPr lang="en-US" dirty="0"/>
              <a:t> import </a:t>
            </a:r>
            <a:r>
              <a:rPr lang="en-US" dirty="0" err="1"/>
              <a:t>MemorySaver</a:t>
            </a:r>
            <a:endParaRPr lang="en-US" dirty="0"/>
          </a:p>
          <a:p>
            <a:pPr lvl="1"/>
            <a:r>
              <a:rPr lang="en-US" dirty="0"/>
              <a:t>memory = </a:t>
            </a:r>
            <a:r>
              <a:rPr lang="en-US" dirty="0" err="1"/>
              <a:t>MemorySaver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graph = </a:t>
            </a:r>
            <a:r>
              <a:rPr lang="en-US" dirty="0" err="1"/>
              <a:t>graph_builder.compile</a:t>
            </a:r>
            <a:r>
              <a:rPr lang="en-US" dirty="0"/>
              <a:t>(</a:t>
            </a:r>
            <a:r>
              <a:rPr lang="en-US" dirty="0" err="1"/>
              <a:t>checkpointer</a:t>
            </a:r>
            <a:r>
              <a:rPr lang="en-US" dirty="0"/>
              <a:t>=memory)</a:t>
            </a:r>
          </a:p>
          <a:p>
            <a:pPr lvl="1"/>
            <a:r>
              <a:rPr lang="en-US" dirty="0" err="1"/>
              <a:t>Nécessite</a:t>
            </a:r>
            <a:r>
              <a:rPr lang="en-US" dirty="0"/>
              <a:t> un id unique par discussion</a:t>
            </a:r>
          </a:p>
          <a:p>
            <a:pPr lvl="1"/>
            <a:r>
              <a:rPr lang="en-US" dirty="0"/>
              <a:t>config = {"configurable": {"</a:t>
            </a:r>
            <a:r>
              <a:rPr lang="en-US" dirty="0" err="1"/>
              <a:t>thread_id</a:t>
            </a:r>
            <a:r>
              <a:rPr lang="en-US" dirty="0"/>
              <a:t>": "uniqueId1234"}}</a:t>
            </a:r>
          </a:p>
          <a:p>
            <a:pPr lvl="1"/>
            <a:r>
              <a:rPr lang="en-US" dirty="0"/>
              <a:t>response = </a:t>
            </a:r>
            <a:r>
              <a:rPr lang="en-US" dirty="0" err="1"/>
              <a:t>graph.invoke</a:t>
            </a:r>
            <a:r>
              <a:rPr lang="en-US" dirty="0"/>
              <a:t>({"question": "</a:t>
            </a:r>
            <a:r>
              <a:rPr lang="en-US" dirty="0" err="1"/>
              <a:t>Qu'est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 RAG?"}, config=config)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678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9C70DA-55A3-E67C-1539-AB8DE106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Postgres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29378-B95C-3133-E9B3-A74DA9EEC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Enregistrement BD à long terme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langgraph</a:t>
            </a:r>
            <a:r>
              <a:rPr lang="fr-FR" dirty="0"/>
              <a:t>-checkpoint-</a:t>
            </a:r>
            <a:r>
              <a:rPr lang="fr-FR" dirty="0" err="1"/>
              <a:t>postgres</a:t>
            </a:r>
            <a:endParaRPr lang="fr-FR" dirty="0"/>
          </a:p>
          <a:p>
            <a:pPr lvl="1"/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langgraph.store.postgres</a:t>
            </a:r>
            <a:r>
              <a:rPr lang="fr-FR" dirty="0"/>
              <a:t> import </a:t>
            </a:r>
            <a:r>
              <a:rPr lang="fr-FR" dirty="0" err="1"/>
              <a:t>PostgresStore</a:t>
            </a:r>
            <a:endParaRPr lang="fr-FR" dirty="0"/>
          </a:p>
          <a:p>
            <a:pPr lvl="1"/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PostgresStore.from_conn_string</a:t>
            </a:r>
            <a:r>
              <a:rPr lang="fr-FR" dirty="0"/>
              <a:t>(DB_URI) as store:</a:t>
            </a:r>
          </a:p>
          <a:p>
            <a:pPr lvl="1"/>
            <a:r>
              <a:rPr lang="fr-FR" dirty="0"/>
              <a:t>    </a:t>
            </a:r>
            <a:r>
              <a:rPr lang="fr-FR" dirty="0" err="1"/>
              <a:t>builder</a:t>
            </a:r>
            <a:r>
              <a:rPr lang="fr-FR" dirty="0"/>
              <a:t> = </a:t>
            </a:r>
            <a:r>
              <a:rPr lang="fr-FR" dirty="0" err="1"/>
              <a:t>StateGraph</a:t>
            </a:r>
            <a:r>
              <a:rPr lang="fr-FR" dirty="0"/>
              <a:t>(...)</a:t>
            </a:r>
          </a:p>
          <a:p>
            <a:pPr lvl="1"/>
            <a:r>
              <a:rPr lang="fr-FR" dirty="0"/>
              <a:t>    graph = </a:t>
            </a:r>
            <a:r>
              <a:rPr lang="fr-FR" dirty="0" err="1"/>
              <a:t>builder.compile</a:t>
            </a:r>
            <a:r>
              <a:rPr lang="fr-FR" dirty="0"/>
              <a:t>(store=store)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8070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3EA56-7AFF-2D78-ED74-A79E2C10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 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1D3116-3EDB-E50F-2228-F97618BF2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intelligence artificielle, un agent intelligent est une entité autonome, éventuellement dotée d'une persona, éventuellement capable de percevoir son environnement grâce à des capteurs, ainsi que d'agir sur celui-ci, au moyen d'effecteurs, afin de réaliser une tâche</a:t>
            </a:r>
          </a:p>
        </p:txBody>
      </p:sp>
    </p:spTree>
    <p:extLst>
      <p:ext uri="{BB962C8B-B14F-4D97-AF65-F5344CB8AC3E}">
        <p14:creationId xmlns:p14="http://schemas.microsoft.com/office/powerpoint/2010/main" val="353196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A130BB-9F17-3B45-8948-B193BC00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1724F3-AE22-BFB5-97C6-34205098C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agent doit donc être capable</a:t>
            </a:r>
          </a:p>
          <a:p>
            <a:pPr lvl="1"/>
            <a:r>
              <a:rPr lang="fr-FR" dirty="0"/>
              <a:t>D'interagir avec une API externe</a:t>
            </a:r>
          </a:p>
          <a:p>
            <a:pPr lvl="1"/>
            <a:r>
              <a:rPr lang="fr-FR" dirty="0"/>
              <a:t>API, SQL, Capteurs, …</a:t>
            </a:r>
          </a:p>
          <a:p>
            <a:pPr lvl="1"/>
            <a:r>
              <a:rPr lang="fr-FR" dirty="0"/>
              <a:t>D'interagir avec le LLM</a:t>
            </a:r>
          </a:p>
          <a:p>
            <a:r>
              <a:rPr lang="fr-FR" dirty="0"/>
              <a:t>L'agent va enrichir la réponse du LLM</a:t>
            </a:r>
          </a:p>
          <a:p>
            <a:pPr lvl="1"/>
            <a:r>
              <a:rPr lang="fr-FR" dirty="0"/>
              <a:t>Arrive en fin de RAG</a:t>
            </a:r>
          </a:p>
          <a:p>
            <a:r>
              <a:rPr lang="fr-FR" dirty="0"/>
              <a:t>Peut être autonome</a:t>
            </a:r>
          </a:p>
          <a:p>
            <a:pPr lvl="1"/>
            <a:r>
              <a:rPr lang="fr-FR" dirty="0"/>
              <a:t>Programme indépendant</a:t>
            </a:r>
          </a:p>
        </p:txBody>
      </p:sp>
    </p:spTree>
    <p:extLst>
      <p:ext uri="{BB962C8B-B14F-4D97-AF65-F5344CB8AC3E}">
        <p14:creationId xmlns:p14="http://schemas.microsoft.com/office/powerpoint/2010/main" val="3429707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1E18B-F2F8-FC0E-821B-0E065BBC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5834EA-A5F6-CE1B-773B-0E640B1F8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Supposons une fonction métier</a:t>
            </a:r>
          </a:p>
          <a:p>
            <a:pPr lvl="1"/>
            <a:r>
              <a:rPr lang="fr-FR" dirty="0"/>
              <a:t>Capteur de température</a:t>
            </a:r>
          </a:p>
          <a:p>
            <a:pPr lvl="1"/>
            <a:r>
              <a:rPr lang="fr-FR" dirty="0"/>
              <a:t>Calcul complexe</a:t>
            </a:r>
          </a:p>
          <a:p>
            <a:pPr lvl="1"/>
            <a:r>
              <a:rPr lang="fr-FR" dirty="0"/>
              <a:t>Interrogation SQL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EDEC46-43DE-0177-0BA9-E919E802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60" y="3789040"/>
            <a:ext cx="4289750" cy="126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88FA9A-6A73-4320-BBC9-9B6BCC2B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Tool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CAC8F5-6B28-F127-48A6-0020A9C8A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Tool est un outil que l'on peut intégrer à l'appel du LLM</a:t>
            </a:r>
          </a:p>
          <a:p>
            <a:pPr lvl="1"/>
            <a:r>
              <a:rPr lang="fr-FR" dirty="0"/>
              <a:t>Décoration Python</a:t>
            </a:r>
          </a:p>
          <a:p>
            <a:pPr lvl="1"/>
            <a:r>
              <a:rPr lang="fr-FR" dirty="0" err="1"/>
              <a:t>PyDoc</a:t>
            </a:r>
            <a:r>
              <a:rPr lang="fr-FR" dirty="0"/>
              <a:t> obligatoire</a:t>
            </a:r>
          </a:p>
          <a:p>
            <a:pPr lvl="1"/>
            <a:r>
              <a:rPr lang="en-US" dirty="0"/>
              <a:t>from </a:t>
            </a:r>
            <a:r>
              <a:rPr lang="en-US" dirty="0" err="1"/>
              <a:t>langchain_core.tools</a:t>
            </a:r>
            <a:r>
              <a:rPr lang="en-US" dirty="0"/>
              <a:t> import tool</a:t>
            </a:r>
          </a:p>
          <a:p>
            <a:pPr lvl="1"/>
            <a:r>
              <a:rPr lang="en-US" dirty="0" err="1"/>
              <a:t>llm</a:t>
            </a:r>
            <a:r>
              <a:rPr lang="en-US" dirty="0"/>
              <a:t> = </a:t>
            </a:r>
            <a:r>
              <a:rPr lang="en-US" dirty="0" err="1"/>
              <a:t>llm.bind_tools</a:t>
            </a:r>
            <a:r>
              <a:rPr lang="en-US" dirty="0"/>
              <a:t>(tools)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A95A2D-4B1C-2B3B-183D-3D14D5208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42787"/>
            <a:ext cx="3689619" cy="281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17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FB44-3720-AF55-BCCA-3E745129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78474-4BBE-F12B-D19E-EA2B4F94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36DA66-047F-4265-AE6A-7C51A1C8B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984776" cy="5040560"/>
          </a:xfrm>
        </p:spPr>
        <p:txBody>
          <a:bodyPr/>
          <a:lstStyle/>
          <a:p>
            <a:r>
              <a:rPr lang="fr-FR" dirty="0"/>
              <a:t>Un agent est un nœud de </a:t>
            </a:r>
            <a:r>
              <a:rPr lang="fr-FR" dirty="0" err="1"/>
              <a:t>LangGraph</a:t>
            </a:r>
            <a:r>
              <a:rPr lang="fr-FR" dirty="0"/>
              <a:t> qui permet d'appeler un Tool</a:t>
            </a:r>
          </a:p>
          <a:p>
            <a:pPr lvl="1"/>
            <a:r>
              <a:rPr lang="fr-FR" dirty="0"/>
              <a:t>Voir exemple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000EAB-2E30-5BC9-B489-B7B685283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96" y="1412776"/>
            <a:ext cx="1209844" cy="458216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5AEA008-7EF0-1DF7-9F35-2E69CE3BF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89" y="4082273"/>
            <a:ext cx="6174903" cy="136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6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70A0E2-49A5-7C2E-92FD-CFE9D4C7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Tavily</a:t>
            </a:r>
            <a:r>
              <a:rPr lang="fr-FR" dirty="0"/>
              <a:t> </a:t>
            </a:r>
            <a:r>
              <a:rPr lang="fr-FR" dirty="0" err="1"/>
              <a:t>Search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88AB3-9A4D-4C8D-AD49-1538D03C0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des agents préfabriqués</a:t>
            </a:r>
          </a:p>
          <a:p>
            <a:r>
              <a:rPr lang="fr-FR" dirty="0" err="1"/>
              <a:t>Tavily</a:t>
            </a:r>
            <a:r>
              <a:rPr lang="fr-FR" dirty="0"/>
              <a:t> </a:t>
            </a:r>
            <a:r>
              <a:rPr lang="fr-FR" dirty="0" err="1"/>
              <a:t>Search</a:t>
            </a:r>
            <a:r>
              <a:rPr lang="fr-FR" dirty="0"/>
              <a:t> est un agent de </a:t>
            </a:r>
            <a:r>
              <a:rPr lang="fr-FR"/>
              <a:t>recherche spécialisé pour les LLM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313245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3884</TotalTime>
  <Words>321</Words>
  <Application>Microsoft Office PowerPoint</Application>
  <PresentationFormat>Affichage à l'écran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Monotype Sorts</vt:lpstr>
      <vt:lpstr>Times New Roman</vt:lpstr>
      <vt:lpstr>cvc</vt:lpstr>
      <vt:lpstr>Présentation PowerPoint</vt:lpstr>
      <vt:lpstr>Besoin de mémoire</vt:lpstr>
      <vt:lpstr>Persistence</vt:lpstr>
      <vt:lpstr>MemorySaver</vt:lpstr>
      <vt:lpstr>Postgres</vt:lpstr>
      <vt:lpstr>Agent IA</vt:lpstr>
      <vt:lpstr>Agent</vt:lpstr>
      <vt:lpstr>Exemple</vt:lpstr>
      <vt:lpstr>Tool</vt:lpstr>
      <vt:lpstr>Agent</vt:lpstr>
      <vt:lpstr>Tavily Search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286</cp:revision>
  <dcterms:created xsi:type="dcterms:W3CDTF">2000-04-10T19:33:12Z</dcterms:created>
  <dcterms:modified xsi:type="dcterms:W3CDTF">2025-10-20T11:28:50Z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