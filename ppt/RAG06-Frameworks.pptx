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3"/>
  </p:notesMasterIdLst>
  <p:handoutMasterIdLst>
    <p:handoutMasterId r:id="rId14"/>
  </p:handoutMasterIdLst>
  <p:sldIdLst>
    <p:sldId id="264" r:id="rId2"/>
    <p:sldId id="265" r:id="rId3"/>
    <p:sldId id="266" r:id="rId4"/>
    <p:sldId id="268" r:id="rId5"/>
    <p:sldId id="267" r:id="rId6"/>
    <p:sldId id="269" r:id="rId7"/>
    <p:sldId id="270" r:id="rId8"/>
    <p:sldId id="271" r:id="rId9"/>
    <p:sldId id="273" r:id="rId10"/>
    <p:sldId id="274" r:id="rId11"/>
    <p:sldId id="275" r:id="rId1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115616" y="5661248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Frameworks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 err="1"/>
              <a:t>Embedding</a:t>
            </a:r>
            <a:endParaRPr lang="fr-FR" sz="3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2487F-FFD0-5AE0-765A-EB9778063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Frameworks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52E0B5-1A8D-A8CF-F62E-A04B79F8E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Il existe des </a:t>
            </a:r>
            <a:r>
              <a:rPr lang="fr-FR" sz="2400" dirty="0" err="1"/>
              <a:t>frameworks</a:t>
            </a:r>
            <a:r>
              <a:rPr lang="fr-FR" sz="2400" dirty="0"/>
              <a:t> de LLM</a:t>
            </a:r>
          </a:p>
          <a:p>
            <a:pPr lvl="1"/>
            <a:r>
              <a:rPr lang="fr-FR" sz="2000" dirty="0"/>
              <a:t>Les Tools Chain</a:t>
            </a:r>
          </a:p>
          <a:p>
            <a:r>
              <a:rPr lang="fr-FR" sz="2400" dirty="0"/>
              <a:t>Portable</a:t>
            </a:r>
          </a:p>
          <a:p>
            <a:pPr lvl="1"/>
            <a:r>
              <a:rPr lang="fr-FR" sz="2000" dirty="0"/>
              <a:t>Permettent de programme un LLM indépendamment de son modèle</a:t>
            </a:r>
          </a:p>
          <a:p>
            <a:r>
              <a:rPr lang="fr-FR" sz="2400" dirty="0"/>
              <a:t>RAG</a:t>
            </a:r>
          </a:p>
          <a:p>
            <a:pPr lvl="1"/>
            <a:r>
              <a:rPr lang="fr-FR" sz="2000" dirty="0"/>
              <a:t>Permettent de programmer du RAG</a:t>
            </a:r>
          </a:p>
          <a:p>
            <a:pPr lvl="1"/>
            <a:r>
              <a:rPr lang="fr-FR" sz="2000" dirty="0"/>
              <a:t>Et d'autres choses</a:t>
            </a:r>
          </a:p>
          <a:p>
            <a:r>
              <a:rPr lang="fr-FR" sz="2400" dirty="0" err="1"/>
              <a:t>Chunks</a:t>
            </a:r>
            <a:endParaRPr lang="fr-FR" sz="2400" dirty="0"/>
          </a:p>
          <a:p>
            <a:pPr lvl="1"/>
            <a:r>
              <a:rPr lang="fr-FR" sz="2000" dirty="0"/>
              <a:t>Permettent une meilleure gestion des </a:t>
            </a:r>
            <a:r>
              <a:rPr lang="fr-FR" sz="2000" dirty="0" err="1"/>
              <a:t>chunks</a:t>
            </a:r>
            <a:endParaRPr lang="fr-FR" sz="2000" dirty="0"/>
          </a:p>
          <a:p>
            <a:r>
              <a:rPr lang="fr-FR" sz="2400" dirty="0" err="1"/>
              <a:t>VectorDb</a:t>
            </a:r>
            <a:endParaRPr lang="fr-FR" sz="2400" dirty="0"/>
          </a:p>
          <a:p>
            <a:pPr lvl="1"/>
            <a:r>
              <a:rPr lang="fr-FR" sz="2000" dirty="0"/>
              <a:t>Permettent d'avoir une meilleure gestion du stockage des vecteurs</a:t>
            </a:r>
          </a:p>
        </p:txBody>
      </p:sp>
    </p:spTree>
    <p:extLst>
      <p:ext uri="{BB962C8B-B14F-4D97-AF65-F5344CB8AC3E}">
        <p14:creationId xmlns:p14="http://schemas.microsoft.com/office/powerpoint/2010/main" val="3154948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AE7858-6156-07E3-FEA0-C4399620F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FEF0D1-1A58-DDF2-8773-91AAC044E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Historique 2022</a:t>
            </a:r>
          </a:p>
          <a:p>
            <a:r>
              <a:rPr lang="fr-FR" dirty="0"/>
              <a:t>Très complet</a:t>
            </a:r>
          </a:p>
          <a:p>
            <a:r>
              <a:rPr lang="fr-FR" dirty="0"/>
              <a:t>Facile d'utilisation</a:t>
            </a:r>
          </a:p>
          <a:p>
            <a:r>
              <a:rPr lang="fr-FR" dirty="0"/>
              <a:t>Permet d'automatiser un workflow RAG</a:t>
            </a:r>
          </a:p>
          <a:p>
            <a:r>
              <a:rPr lang="fr-FR" dirty="0"/>
              <a:t>Compatible Cloud</a:t>
            </a:r>
          </a:p>
          <a:p>
            <a:r>
              <a:rPr lang="fr-FR" dirty="0"/>
              <a:t>Nécessite une clé en mode SaaS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0DA405E-CD0C-8C36-7A7E-086440C7E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77096"/>
            <a:ext cx="4050357" cy="69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80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C7EF60-093A-F37C-B087-561DA52C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Haystack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83E798-6623-EFA6-23FA-09B215172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Orienté agent IA</a:t>
            </a:r>
          </a:p>
          <a:p>
            <a:r>
              <a:rPr lang="fr-FR" dirty="0"/>
              <a:t>Très complet</a:t>
            </a:r>
          </a:p>
          <a:p>
            <a:pPr lvl="1"/>
            <a:r>
              <a:rPr lang="fr-FR" dirty="0"/>
              <a:t>Assez complexe</a:t>
            </a:r>
          </a:p>
          <a:p>
            <a:r>
              <a:rPr lang="fr-FR" dirty="0"/>
              <a:t>RAG</a:t>
            </a:r>
          </a:p>
        </p:txBody>
      </p:sp>
    </p:spTree>
    <p:extLst>
      <p:ext uri="{BB962C8B-B14F-4D97-AF65-F5344CB8AC3E}">
        <p14:creationId xmlns:p14="http://schemas.microsoft.com/office/powerpoint/2010/main" val="3972758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1AB68F-B884-A0DD-E6DE-62A07E049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4D1EF0-163D-DE43-825B-6F8A8AD56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 </a:t>
            </a:r>
            <a:r>
              <a:rPr lang="fr-FR" dirty="0" err="1"/>
              <a:t>GPTIndex</a:t>
            </a:r>
            <a:endParaRPr lang="fr-FR" dirty="0"/>
          </a:p>
          <a:p>
            <a:r>
              <a:rPr lang="fr-FR" dirty="0"/>
              <a:t>Historique 2022</a:t>
            </a:r>
          </a:p>
          <a:p>
            <a:r>
              <a:rPr lang="fr-FR" dirty="0"/>
              <a:t>Complètement libre</a:t>
            </a:r>
          </a:p>
          <a:p>
            <a:r>
              <a:rPr lang="fr-FR" dirty="0"/>
              <a:t>Le plus facile d'utilisation</a:t>
            </a:r>
          </a:p>
          <a:p>
            <a:r>
              <a:rPr lang="fr-FR" dirty="0"/>
              <a:t>Très utilisé</a:t>
            </a:r>
          </a:p>
          <a:p>
            <a:r>
              <a:rPr lang="fr-FR" dirty="0"/>
              <a:t>RAG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9A860E2-ECCD-8C4D-AC35-CA1F6A0C4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251287"/>
            <a:ext cx="3362794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94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228D31-B5AA-6E50-E5C6-FAA4C802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Document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E31C68-697C-5885-8B2D-A24467E43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Objet qui encapsule un document</a:t>
            </a:r>
          </a:p>
          <a:p>
            <a:pPr lvl="1"/>
            <a:r>
              <a:rPr lang="fr-FR" dirty="0"/>
              <a:t>Permet de créer des </a:t>
            </a:r>
            <a:r>
              <a:rPr lang="fr-FR" dirty="0" err="1"/>
              <a:t>metadata</a:t>
            </a:r>
            <a:endParaRPr lang="fr-FR" dirty="0"/>
          </a:p>
          <a:p>
            <a:pPr lvl="1"/>
            <a:r>
              <a:rPr lang="fr-FR" dirty="0"/>
              <a:t>Obligatoire pour le </a:t>
            </a:r>
            <a:r>
              <a:rPr lang="fr-FR" dirty="0" err="1"/>
              <a:t>chunk</a:t>
            </a:r>
            <a:endParaRPr lang="fr-FR" dirty="0"/>
          </a:p>
          <a:p>
            <a:pPr lvl="1"/>
            <a:r>
              <a:rPr lang="fr-FR" dirty="0"/>
              <a:t>Document(</a:t>
            </a:r>
            <a:r>
              <a:rPr lang="fr-FR" dirty="0" err="1"/>
              <a:t>text</a:t>
            </a:r>
            <a:r>
              <a:rPr lang="fr-FR" dirty="0"/>
              <a:t>="Hello World")</a:t>
            </a:r>
          </a:p>
        </p:txBody>
      </p:sp>
    </p:spTree>
    <p:extLst>
      <p:ext uri="{BB962C8B-B14F-4D97-AF65-F5344CB8AC3E}">
        <p14:creationId xmlns:p14="http://schemas.microsoft.com/office/powerpoint/2010/main" val="3419722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8A2ECC-C8DB-EF1D-60F9-E07CCC4D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Vector</a:t>
            </a:r>
            <a:r>
              <a:rPr lang="fr-FR" dirty="0"/>
              <a:t> </a:t>
            </a:r>
            <a:r>
              <a:rPr lang="fr-FR" dirty="0" err="1"/>
              <a:t>Database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9C9395-D10F-7DAE-5D75-45EF1C35E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devient très important de pouvoir stocker des listes de vecteurs dans une base de données</a:t>
            </a:r>
          </a:p>
          <a:p>
            <a:pPr lvl="1"/>
            <a:r>
              <a:rPr lang="fr-FR" dirty="0"/>
              <a:t>En RAM</a:t>
            </a:r>
          </a:p>
          <a:p>
            <a:pPr lvl="1"/>
            <a:r>
              <a:rPr lang="fr-FR" dirty="0"/>
              <a:t>Sur disque dur</a:t>
            </a:r>
          </a:p>
          <a:p>
            <a:pPr lvl="1"/>
            <a:r>
              <a:rPr lang="fr-FR" dirty="0"/>
              <a:t>Recherche efficace</a:t>
            </a:r>
          </a:p>
        </p:txBody>
      </p:sp>
    </p:spTree>
    <p:extLst>
      <p:ext uri="{BB962C8B-B14F-4D97-AF65-F5344CB8AC3E}">
        <p14:creationId xmlns:p14="http://schemas.microsoft.com/office/powerpoint/2010/main" val="1434076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374682-6559-D2E1-F1C7-BA85D9C4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VectorStoreIndex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B228F7-B6ED-C69F-DEE0-0BC70C9E6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Également appelé </a:t>
            </a:r>
            <a:r>
              <a:rPr lang="fr-FR" dirty="0" err="1"/>
              <a:t>GPTVectorStoreIndex</a:t>
            </a:r>
            <a:endParaRPr lang="fr-FR" dirty="0"/>
          </a:p>
          <a:p>
            <a:r>
              <a:rPr lang="fr-FR" dirty="0"/>
              <a:t>Base de données en RAM</a:t>
            </a:r>
          </a:p>
          <a:p>
            <a:pPr lvl="1"/>
            <a:r>
              <a:rPr lang="fr-FR" dirty="0"/>
              <a:t>1M à 10M de </a:t>
            </a:r>
            <a:r>
              <a:rPr lang="fr-FR" dirty="0" err="1"/>
              <a:t>Chunks</a:t>
            </a:r>
            <a:endParaRPr lang="fr-FR" dirty="0"/>
          </a:p>
          <a:p>
            <a:pPr lvl="1"/>
            <a:r>
              <a:rPr lang="fr-FR" dirty="0"/>
              <a:t>Très rapide</a:t>
            </a:r>
          </a:p>
          <a:p>
            <a:r>
              <a:rPr lang="fr-FR" dirty="0"/>
              <a:t>Création de la base</a:t>
            </a:r>
          </a:p>
          <a:p>
            <a:pPr lvl="1"/>
            <a:r>
              <a:rPr lang="fr-FR" dirty="0" err="1"/>
              <a:t>from_document</a:t>
            </a:r>
            <a:r>
              <a:rPr lang="fr-FR" dirty="0"/>
              <a:t> : depuis une liste de Document()</a:t>
            </a:r>
          </a:p>
          <a:p>
            <a:pPr lvl="1"/>
            <a:r>
              <a:rPr lang="fr-FR" dirty="0" err="1"/>
              <a:t>SimpleDirectoryReader</a:t>
            </a:r>
            <a:r>
              <a:rPr lang="fr-FR" dirty="0"/>
              <a:t> : depuis un répertoire</a:t>
            </a:r>
          </a:p>
          <a:p>
            <a:r>
              <a:rPr lang="fr-FR" dirty="0"/>
              <a:t>De nombreuses commandes</a:t>
            </a:r>
          </a:p>
          <a:p>
            <a:pPr lvl="1"/>
            <a:r>
              <a:rPr lang="fr-FR" dirty="0" err="1"/>
              <a:t>Refresh</a:t>
            </a:r>
            <a:r>
              <a:rPr lang="fr-FR" dirty="0"/>
              <a:t> : Update des index</a:t>
            </a:r>
          </a:p>
          <a:p>
            <a:pPr lvl="1"/>
            <a:r>
              <a:rPr lang="fr-FR" dirty="0"/>
              <a:t>Update : mise à jour d'un document</a:t>
            </a:r>
          </a:p>
          <a:p>
            <a:pPr lvl="1"/>
            <a:r>
              <a:rPr lang="fr-FR" dirty="0" err="1"/>
              <a:t>Delete</a:t>
            </a:r>
            <a:r>
              <a:rPr lang="fr-FR" dirty="0"/>
              <a:t> : effacement d'un document</a:t>
            </a:r>
          </a:p>
        </p:txBody>
      </p:sp>
    </p:spTree>
    <p:extLst>
      <p:ext uri="{BB962C8B-B14F-4D97-AF65-F5344CB8AC3E}">
        <p14:creationId xmlns:p14="http://schemas.microsoft.com/office/powerpoint/2010/main" val="764689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3467EB-172C-042E-7EE2-1B8302FD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Embedding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674E85-DF0F-6D65-7AE8-05F550C56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Choix du model</a:t>
            </a:r>
          </a:p>
          <a:p>
            <a:r>
              <a:rPr lang="fr-FR" dirty="0"/>
              <a:t>Pour créer un vecteur sans le stocker</a:t>
            </a:r>
          </a:p>
          <a:p>
            <a:r>
              <a:rPr lang="fr-FR" dirty="0"/>
              <a:t>Exemple avec Mistral</a:t>
            </a:r>
          </a:p>
          <a:p>
            <a:pPr lvl="1"/>
            <a:r>
              <a:rPr lang="fr-FR" dirty="0" err="1"/>
              <a:t>embed_model</a:t>
            </a:r>
            <a:r>
              <a:rPr lang="fr-FR" dirty="0"/>
              <a:t> = </a:t>
            </a:r>
            <a:r>
              <a:rPr lang="fr-FR" dirty="0" err="1"/>
              <a:t>MistralAIEmbedding</a:t>
            </a:r>
            <a:r>
              <a:rPr lang="fr-FR" dirty="0"/>
              <a:t>(</a:t>
            </a:r>
            <a:r>
              <a:rPr lang="fr-FR" dirty="0" err="1"/>
              <a:t>model_name</a:t>
            </a:r>
            <a:r>
              <a:rPr lang="fr-FR" dirty="0"/>
              <a:t>=</a:t>
            </a:r>
            <a:r>
              <a:rPr lang="fr-FR" dirty="0" err="1"/>
              <a:t>model_name</a:t>
            </a:r>
            <a:r>
              <a:rPr lang="fr-FR" dirty="0"/>
              <a:t>, </a:t>
            </a:r>
            <a:r>
              <a:rPr lang="fr-FR" dirty="0" err="1"/>
              <a:t>api_key</a:t>
            </a:r>
            <a:r>
              <a:rPr lang="fr-FR" dirty="0"/>
              <a:t>=</a:t>
            </a:r>
            <a:r>
              <a:rPr lang="fr-FR" dirty="0" err="1"/>
              <a:t>api_key</a:t>
            </a:r>
            <a:r>
              <a:rPr lang="fr-FR" dirty="0"/>
              <a:t>)</a:t>
            </a:r>
          </a:p>
          <a:p>
            <a:pPr lvl="1"/>
            <a:r>
              <a:rPr lang="fr-FR" dirty="0" err="1"/>
              <a:t>embeddings</a:t>
            </a:r>
            <a:r>
              <a:rPr lang="fr-FR" dirty="0"/>
              <a:t> = </a:t>
            </a:r>
            <a:r>
              <a:rPr lang="fr-FR" dirty="0" err="1"/>
              <a:t>embed_model.get_text_embedding</a:t>
            </a:r>
            <a:r>
              <a:rPr lang="fr-FR" dirty="0"/>
              <a:t>("Cyril Vincent")</a:t>
            </a:r>
          </a:p>
          <a:p>
            <a:pPr lvl="1"/>
            <a:r>
              <a:rPr lang="fr-FR" dirty="0"/>
              <a:t>Retourne une liste de vecteurs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9239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8BAB12-E4FB-6EB2-7F22-F2348D393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Embedding</a:t>
            </a:r>
            <a:r>
              <a:rPr lang="fr-FR" dirty="0"/>
              <a:t> automatique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3A2255-A156-6914-D3E9-CEE12EC3C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créer et stocker automatiquement une grande quantité de vecteurs</a:t>
            </a:r>
          </a:p>
          <a:p>
            <a:pPr lvl="1"/>
            <a:r>
              <a:rPr lang="en-US" dirty="0"/>
              <a:t>index = </a:t>
            </a:r>
            <a:r>
              <a:rPr lang="en-US" dirty="0" err="1"/>
              <a:t>VectorStoreIndex.from_documents</a:t>
            </a:r>
            <a:r>
              <a:rPr lang="en-US" dirty="0"/>
              <a:t>(documents, </a:t>
            </a:r>
            <a:r>
              <a:rPr lang="en-US" dirty="0" err="1"/>
              <a:t>show_progress</a:t>
            </a:r>
            <a:r>
              <a:rPr lang="en-US" dirty="0"/>
              <a:t>=True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Stockage en RAM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5801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07CB8B-08E8-FEB9-8E83-E58324A14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Retriever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EF69B3-4CFE-8875-8C73-48E704C7F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Calculs des distances par rapport à un vecteurs</a:t>
            </a:r>
          </a:p>
          <a:p>
            <a:r>
              <a:rPr lang="fr-FR" dirty="0"/>
              <a:t>Retour des k plus proches voisins</a:t>
            </a:r>
          </a:p>
          <a:p>
            <a:pPr lvl="1"/>
            <a:r>
              <a:rPr lang="fr-FR" dirty="0"/>
              <a:t>retriever = </a:t>
            </a:r>
            <a:r>
              <a:rPr lang="fr-FR" dirty="0" err="1"/>
              <a:t>index.as_retriever</a:t>
            </a:r>
            <a:r>
              <a:rPr lang="fr-FR" dirty="0"/>
              <a:t>()</a:t>
            </a:r>
          </a:p>
          <a:p>
            <a:pPr lvl="1"/>
            <a:r>
              <a:rPr lang="fr-FR" dirty="0" err="1"/>
              <a:t>nodes</a:t>
            </a:r>
            <a:r>
              <a:rPr lang="fr-FR" dirty="0"/>
              <a:t> = </a:t>
            </a:r>
            <a:r>
              <a:rPr lang="fr-FR" dirty="0" err="1"/>
              <a:t>retriever.retrieve</a:t>
            </a:r>
            <a:r>
              <a:rPr lang="fr-FR" dirty="0"/>
              <a:t>(</a:t>
            </a:r>
            <a:r>
              <a:rPr lang="fr-FR" dirty="0" err="1"/>
              <a:t>query</a:t>
            </a:r>
            <a:r>
              <a:rPr lang="fr-FR" dirty="0"/>
              <a:t>)</a:t>
            </a:r>
          </a:p>
          <a:p>
            <a:r>
              <a:rPr lang="fr-FR" dirty="0"/>
              <a:t>Retourne une liste de Node</a:t>
            </a:r>
          </a:p>
          <a:p>
            <a:r>
              <a:rPr lang="fr-FR" dirty="0"/>
              <a:t>Chaque Node possède</a:t>
            </a:r>
          </a:p>
          <a:p>
            <a:pPr lvl="1"/>
            <a:r>
              <a:rPr lang="fr-FR" dirty="0"/>
              <a:t>Un Id</a:t>
            </a:r>
          </a:p>
          <a:p>
            <a:pPr lvl="1"/>
            <a:r>
              <a:rPr lang="fr-FR" dirty="0"/>
              <a:t>Un </a:t>
            </a:r>
            <a:r>
              <a:rPr lang="fr-FR" dirty="0" err="1"/>
              <a:t>chunk</a:t>
            </a:r>
            <a:endParaRPr lang="fr-FR" dirty="0"/>
          </a:p>
          <a:p>
            <a:pPr lvl="1"/>
            <a:r>
              <a:rPr lang="fr-FR" dirty="0"/>
              <a:t>Un score</a:t>
            </a:r>
          </a:p>
        </p:txBody>
      </p:sp>
    </p:spTree>
    <p:extLst>
      <p:ext uri="{BB962C8B-B14F-4D97-AF65-F5344CB8AC3E}">
        <p14:creationId xmlns:p14="http://schemas.microsoft.com/office/powerpoint/2010/main" val="386313445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3644</TotalTime>
  <Words>327</Words>
  <Application>Microsoft Office PowerPoint</Application>
  <PresentationFormat>Affichage à l'écran (4:3)</PresentationFormat>
  <Paragraphs>75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Monotype Sorts</vt:lpstr>
      <vt:lpstr>Times New Roman</vt:lpstr>
      <vt:lpstr>cvc</vt:lpstr>
      <vt:lpstr>Présentation PowerPoint</vt:lpstr>
      <vt:lpstr>Frameworks</vt:lpstr>
      <vt:lpstr>Présentation PowerPoint</vt:lpstr>
      <vt:lpstr>Haystack</vt:lpstr>
      <vt:lpstr>Présentation PowerPoint</vt:lpstr>
      <vt:lpstr>Document</vt:lpstr>
      <vt:lpstr>Vector Database</vt:lpstr>
      <vt:lpstr>VectorStoreIndex</vt:lpstr>
      <vt:lpstr>Embedding</vt:lpstr>
      <vt:lpstr>Embedding automatique</vt:lpstr>
      <vt:lpstr>Retriever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277</cp:revision>
  <dcterms:created xsi:type="dcterms:W3CDTF">2000-04-10T19:33:12Z</dcterms:created>
  <dcterms:modified xsi:type="dcterms:W3CDTF">2025-09-30T21:55:47Z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