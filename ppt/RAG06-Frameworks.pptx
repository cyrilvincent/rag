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3" r:id="rId1"/>
  </p:sldMasterIdLst>
  <p:notesMasterIdLst>
    <p:notesMasterId r:id="rId13"/>
  </p:notesMasterIdLst>
  <p:handoutMasterIdLst>
    <p:handoutMasterId r:id="rId14"/>
  </p:handoutMasterIdLst>
  <p:sldIdLst>
    <p:sldId id="264" r:id="rId2"/>
    <p:sldId id="265" r:id="rId3"/>
    <p:sldId id="266" r:id="rId4"/>
    <p:sldId id="268" r:id="rId5"/>
    <p:sldId id="267" r:id="rId6"/>
    <p:sldId id="269" r:id="rId7"/>
    <p:sldId id="270" r:id="rId8"/>
    <p:sldId id="271" r:id="rId9"/>
    <p:sldId id="273" r:id="rId10"/>
    <p:sldId id="274" r:id="rId11"/>
    <p:sldId id="275" r:id="rId12"/>
  </p:sldIdLst>
  <p:sldSz cx="9144000" cy="6858000" type="screen4x3"/>
  <p:notesSz cx="6648450" cy="9782175"/>
  <p:defaultTextStyle>
    <a:defPPr>
      <a:defRPr lang="fr-FR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81">
          <p15:clr>
            <a:srgbClr val="A4A3A4"/>
          </p15:clr>
        </p15:guide>
        <p15:guide id="2" pos="209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34" autoAdjust="0"/>
    <p:restoredTop sz="94590" autoAdjust="0"/>
  </p:normalViewPr>
  <p:slideViewPr>
    <p:cSldViewPr>
      <p:cViewPr varScale="1">
        <p:scale>
          <a:sx n="70" d="100"/>
          <a:sy n="70" d="100"/>
        </p:scale>
        <p:origin x="1810" y="27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6918"/>
    </p:cViewPr>
  </p:sorterViewPr>
  <p:notesViewPr>
    <p:cSldViewPr>
      <p:cViewPr>
        <p:scale>
          <a:sx n="100" d="100"/>
          <a:sy n="100" d="100"/>
        </p:scale>
        <p:origin x="-924" y="2430"/>
      </p:cViewPr>
      <p:guideLst>
        <p:guide orient="horz" pos="3081"/>
        <p:guide pos="209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1000">
                <a:latin typeface="Arial" charset="0"/>
              </a:defRPr>
            </a:lvl1pPr>
          </a:lstStyle>
          <a:p>
            <a:pPr>
              <a:defRPr/>
            </a:pPr>
            <a:fld id="{05A6847E-ECD8-4888-9A6C-CBE85B378C1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9439950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0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76300" y="733425"/>
            <a:ext cx="4895850" cy="36703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560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379413" y="4646613"/>
            <a:ext cx="5851525" cy="4402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  <a:p>
            <a:pPr lvl="4"/>
            <a:r>
              <a:rPr lang="fr-FR" noProof="0"/>
              <a:t>Cinquième niveau</a:t>
            </a:r>
          </a:p>
        </p:txBody>
      </p:sp>
      <p:sp>
        <p:nvSpPr>
          <p:cNvPr id="2560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© HANDSHAKE - Philippe MASINA</a:t>
            </a:r>
          </a:p>
        </p:txBody>
      </p:sp>
      <p:sp>
        <p:nvSpPr>
          <p:cNvPr id="2560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I-</a:t>
            </a:r>
            <a:fld id="{88B410AF-14E7-4D87-8C8E-6E377E0C2388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0022458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Cliquez pour modifier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2118913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87624" y="13209"/>
            <a:ext cx="7829947" cy="1143000"/>
          </a:xfrm>
        </p:spPr>
        <p:txBody>
          <a:bodyPr/>
          <a:lstStyle>
            <a:lvl1pPr>
              <a:defRPr sz="320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412776"/>
            <a:ext cx="8766051" cy="5040560"/>
          </a:xfrm>
        </p:spPr>
        <p:txBody>
          <a:bodyPr/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0103424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11731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1355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38927567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5688189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3664286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0620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8558998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3719346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42549468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7002463" y="457200"/>
            <a:ext cx="1943100" cy="5638800"/>
          </a:xfrm>
        </p:spPr>
        <p:txBody>
          <a:bodyPr vert="eaVert"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1173163" y="457200"/>
            <a:ext cx="5676900" cy="563880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7167171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ChangeArrowheads="1"/>
          </p:cNvSpPr>
          <p:nvPr/>
        </p:nvSpPr>
        <p:spPr bwMode="auto">
          <a:xfrm>
            <a:off x="0" y="6477000"/>
            <a:ext cx="9144000" cy="76200"/>
          </a:xfrm>
          <a:prstGeom prst="rect">
            <a:avLst/>
          </a:prstGeom>
          <a:solidFill>
            <a:srgbClr val="FF66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endParaRPr lang="fr-FR" altLang="fr-FR"/>
          </a:p>
        </p:txBody>
      </p:sp>
      <p:sp>
        <p:nvSpPr>
          <p:cNvPr id="1027" name="Text Box 3"/>
          <p:cNvSpPr txBox="1">
            <a:spLocks noChangeArrowheads="1"/>
          </p:cNvSpPr>
          <p:nvPr/>
        </p:nvSpPr>
        <p:spPr bwMode="auto">
          <a:xfrm>
            <a:off x="6934200" y="6553200"/>
            <a:ext cx="12192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 dirty="0"/>
              <a:t>Page </a:t>
            </a:r>
            <a:fld id="{E218E9B1-FD08-4C80-902E-210BA2967D0D}" type="slidenum">
              <a:rPr lang="fr-FR" sz="1200" smtClean="0"/>
              <a:pPr>
                <a:spcBef>
                  <a:spcPct val="50000"/>
                </a:spcBef>
                <a:defRPr/>
              </a:pPr>
              <a:t>‹N°›</a:t>
            </a:fld>
            <a:endParaRPr lang="fr-FR" dirty="0">
              <a:latin typeface="Times New Roman" pitchFamily="18" charset="0"/>
            </a:endParaRPr>
          </a:p>
        </p:txBody>
      </p:sp>
      <p:sp>
        <p:nvSpPr>
          <p:cNvPr id="1028" name="Text Box 4"/>
          <p:cNvSpPr txBox="1">
            <a:spLocks noChangeArrowheads="1"/>
          </p:cNvSpPr>
          <p:nvPr/>
        </p:nvSpPr>
        <p:spPr bwMode="auto">
          <a:xfrm>
            <a:off x="2209800" y="6553200"/>
            <a:ext cx="47244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fr-FR" sz="1600"/>
              <a:t>LLM</a:t>
            </a:r>
            <a:endParaRPr lang="fr-FR" dirty="0">
              <a:latin typeface="Times New Roman" pitchFamily="18" charset="0"/>
            </a:endParaRP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title"/>
          </p:nvPr>
        </p:nvSpPr>
        <p:spPr bwMode="auto">
          <a:xfrm>
            <a:off x="1177925" y="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 style du titre du masque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9388" y="1196975"/>
            <a:ext cx="8766175" cy="528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les styles du texte du masque</a:t>
            </a:r>
          </a:p>
          <a:p>
            <a:pPr lvl="1"/>
            <a:r>
              <a:rPr lang="fr-FR" altLang="fr-FR"/>
              <a:t>Deuxième niveau</a:t>
            </a:r>
          </a:p>
          <a:p>
            <a:pPr lvl="2"/>
            <a:r>
              <a:rPr lang="fr-FR" altLang="fr-FR"/>
              <a:t>Troisième niveau</a:t>
            </a:r>
          </a:p>
          <a:p>
            <a:pPr lvl="3"/>
            <a:r>
              <a:rPr lang="fr-FR" altLang="fr-FR"/>
              <a:t>Quatrième niveau</a:t>
            </a:r>
          </a:p>
          <a:p>
            <a:pPr lvl="4"/>
            <a:r>
              <a:rPr lang="fr-FR" altLang="fr-FR"/>
              <a:t>Cinquième niveau</a:t>
            </a:r>
          </a:p>
        </p:txBody>
      </p:sp>
      <p:sp>
        <p:nvSpPr>
          <p:cNvPr id="1031" name="Text Box 7"/>
          <p:cNvSpPr txBox="1">
            <a:spLocks noChangeArrowheads="1"/>
          </p:cNvSpPr>
          <p:nvPr/>
        </p:nvSpPr>
        <p:spPr bwMode="auto">
          <a:xfrm>
            <a:off x="0" y="6521450"/>
            <a:ext cx="34290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/>
              <a:t>© Cyril Vincent Conseil</a:t>
            </a:r>
            <a:endParaRPr lang="fr-FR">
              <a:latin typeface="Times New Roman" pitchFamily="18" charset="0"/>
            </a:endParaRPr>
          </a:p>
        </p:txBody>
      </p:sp>
      <p:pic>
        <p:nvPicPr>
          <p:cNvPr id="1032" name="Picture 8" descr="cartevisite"/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187450" cy="76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60" r:id="rId7"/>
    <p:sldLayoutId id="2147483661" r:id="rId8"/>
    <p:sldLayoutId id="2147483662" r:id="rId9"/>
    <p:sldLayoutId id="2147483663" r:id="rId10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Monotype Sorts" pitchFamily="2" charset="2"/>
        <a:buChar char="o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5"/>
          <p:cNvSpPr>
            <a:spLocks noGrp="1" noChangeArrowheads="1"/>
          </p:cNvSpPr>
          <p:nvPr>
            <p:ph type="subTitle" idx="1"/>
          </p:nvPr>
        </p:nvSpPr>
        <p:spPr>
          <a:xfrm>
            <a:off x="1259632" y="5572223"/>
            <a:ext cx="6400800" cy="551554"/>
          </a:xfrm>
        </p:spPr>
        <p:txBody>
          <a:bodyPr/>
          <a:lstStyle/>
          <a:p>
            <a:pPr eaLnBrk="1" hangingPunct="1"/>
            <a:r>
              <a:rPr lang="fr-FR" altLang="fr-FR" dirty="0" err="1"/>
              <a:t>Frameworks</a:t>
            </a:r>
            <a:endParaRPr lang="fr-FR" altLang="fr-FR" dirty="0"/>
          </a:p>
        </p:txBody>
      </p:sp>
      <p:sp>
        <p:nvSpPr>
          <p:cNvPr id="3" name="ZoneTexte 2"/>
          <p:cNvSpPr txBox="1"/>
          <p:nvPr/>
        </p:nvSpPr>
        <p:spPr>
          <a:xfrm>
            <a:off x="2107222" y="1120676"/>
            <a:ext cx="492955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3600" dirty="0"/>
              <a:t>Large </a:t>
            </a:r>
            <a:r>
              <a:rPr lang="fr-FR" sz="3600" dirty="0" err="1"/>
              <a:t>Language</a:t>
            </a:r>
            <a:r>
              <a:rPr lang="fr-FR" sz="3600" dirty="0"/>
              <a:t> Model</a:t>
            </a:r>
          </a:p>
          <a:p>
            <a:pPr algn="ctr"/>
            <a:r>
              <a:rPr lang="fr-FR" sz="3600" dirty="0"/>
              <a:t>RAG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352C0B44-A72F-4C23-DF0D-20BA9F6FF0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0056" y="2852936"/>
            <a:ext cx="3851920" cy="246313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412487F-FFD0-5AE0-765A-EB97780635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Frameworks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752E0B5-1A8D-A8CF-F62E-A04B79F8EF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sz="2400" dirty="0"/>
              <a:t>Il existe des </a:t>
            </a:r>
            <a:r>
              <a:rPr lang="fr-FR" sz="2400" dirty="0" err="1"/>
              <a:t>frameworks</a:t>
            </a:r>
            <a:r>
              <a:rPr lang="fr-FR" sz="2400" dirty="0"/>
              <a:t> de LLM et de Chainage</a:t>
            </a:r>
          </a:p>
          <a:p>
            <a:pPr lvl="1"/>
            <a:r>
              <a:rPr lang="fr-FR" sz="2000" dirty="0"/>
              <a:t>Les Tools Chain</a:t>
            </a:r>
          </a:p>
          <a:p>
            <a:r>
              <a:rPr lang="fr-FR" sz="2400" dirty="0"/>
              <a:t>Portable</a:t>
            </a:r>
          </a:p>
          <a:p>
            <a:pPr lvl="1"/>
            <a:r>
              <a:rPr lang="fr-FR" sz="2000" dirty="0"/>
              <a:t>Permettent de programme un LLM indépendamment de son modèle</a:t>
            </a:r>
          </a:p>
          <a:p>
            <a:r>
              <a:rPr lang="fr-FR" sz="2400" dirty="0"/>
              <a:t>RAG</a:t>
            </a:r>
          </a:p>
          <a:p>
            <a:pPr lvl="1"/>
            <a:r>
              <a:rPr lang="fr-FR" sz="2000" dirty="0"/>
              <a:t>Permettent de programmer du RAG</a:t>
            </a:r>
          </a:p>
          <a:p>
            <a:pPr lvl="1"/>
            <a:r>
              <a:rPr lang="fr-FR" sz="2000" dirty="0"/>
              <a:t>Et d'autres choses</a:t>
            </a:r>
          </a:p>
          <a:p>
            <a:r>
              <a:rPr lang="fr-FR" sz="2400" dirty="0" err="1"/>
              <a:t>Chunks</a:t>
            </a:r>
            <a:endParaRPr lang="fr-FR" sz="2400" dirty="0"/>
          </a:p>
          <a:p>
            <a:pPr lvl="1"/>
            <a:r>
              <a:rPr lang="fr-FR" sz="2000" dirty="0"/>
              <a:t>Permettent une meilleure gestion des </a:t>
            </a:r>
            <a:r>
              <a:rPr lang="fr-FR" sz="2000" dirty="0" err="1"/>
              <a:t>chunks</a:t>
            </a:r>
            <a:endParaRPr lang="fr-FR" sz="2000" dirty="0"/>
          </a:p>
          <a:p>
            <a:r>
              <a:rPr lang="fr-FR" sz="2400" dirty="0" err="1"/>
              <a:t>VectorDb</a:t>
            </a:r>
            <a:endParaRPr lang="fr-FR" sz="2400" dirty="0"/>
          </a:p>
          <a:p>
            <a:pPr lvl="1"/>
            <a:r>
              <a:rPr lang="fr-FR" sz="2000" dirty="0"/>
              <a:t>Permettent d'avoir une meilleure gestion du stockage des vecteurs</a:t>
            </a:r>
          </a:p>
          <a:p>
            <a:r>
              <a:rPr lang="fr-FR" sz="2400" dirty="0"/>
              <a:t>Tout peut être fait sans </a:t>
            </a:r>
            <a:r>
              <a:rPr lang="fr-FR" sz="2400"/>
              <a:t>framework</a:t>
            </a:r>
            <a:endParaRPr lang="fr-FR" sz="2400" dirty="0"/>
          </a:p>
        </p:txBody>
      </p:sp>
    </p:spTree>
    <p:extLst>
      <p:ext uri="{BB962C8B-B14F-4D97-AF65-F5344CB8AC3E}">
        <p14:creationId xmlns:p14="http://schemas.microsoft.com/office/powerpoint/2010/main" val="31549488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8AE7858-6156-07E3-FEA0-C4399620F2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8FEF0D1-1A58-DDF2-8773-91AAC044EF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Historique 2022</a:t>
            </a:r>
          </a:p>
          <a:p>
            <a:r>
              <a:rPr lang="fr-FR" dirty="0"/>
              <a:t>Très complet</a:t>
            </a:r>
          </a:p>
          <a:p>
            <a:r>
              <a:rPr lang="fr-FR" dirty="0"/>
              <a:t>Facile d'utilisation</a:t>
            </a:r>
          </a:p>
          <a:p>
            <a:r>
              <a:rPr lang="fr-FR" dirty="0"/>
              <a:t>Permet d'automatiser un workflow RAG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10DA405E-CD0C-8C36-7A7E-086440C7E1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9792" y="277096"/>
            <a:ext cx="4050357" cy="691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53805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2C7EF60-093A-F37C-B087-561DA52CC9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Haystack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683E798-6623-EFA6-23FA-09B2151723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Orienté agent IA</a:t>
            </a:r>
          </a:p>
          <a:p>
            <a:r>
              <a:rPr lang="fr-FR" dirty="0"/>
              <a:t>Très complet</a:t>
            </a:r>
          </a:p>
          <a:p>
            <a:pPr lvl="1"/>
            <a:r>
              <a:rPr lang="fr-FR" dirty="0"/>
              <a:t>Assez complexe</a:t>
            </a:r>
          </a:p>
          <a:p>
            <a:r>
              <a:rPr lang="fr-FR" dirty="0"/>
              <a:t>RAG</a:t>
            </a:r>
          </a:p>
        </p:txBody>
      </p:sp>
    </p:spTree>
    <p:extLst>
      <p:ext uri="{BB962C8B-B14F-4D97-AF65-F5344CB8AC3E}">
        <p14:creationId xmlns:p14="http://schemas.microsoft.com/office/powerpoint/2010/main" val="39727586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B1AB68F-B884-A0DD-E6DE-62A07E049E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B4D1EF0-163D-DE43-825B-6F8A8AD56F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Ex </a:t>
            </a:r>
            <a:r>
              <a:rPr lang="fr-FR" dirty="0" err="1"/>
              <a:t>GPTIndex</a:t>
            </a:r>
            <a:endParaRPr lang="fr-FR" dirty="0"/>
          </a:p>
          <a:p>
            <a:r>
              <a:rPr lang="fr-FR" dirty="0"/>
              <a:t>Historique 2022</a:t>
            </a:r>
          </a:p>
          <a:p>
            <a:r>
              <a:rPr lang="fr-FR" dirty="0"/>
              <a:t>Libre</a:t>
            </a:r>
          </a:p>
          <a:p>
            <a:r>
              <a:rPr lang="fr-FR" dirty="0"/>
              <a:t>Le plus facile d'utilisation</a:t>
            </a:r>
          </a:p>
          <a:p>
            <a:r>
              <a:rPr lang="fr-FR"/>
              <a:t>RAG</a:t>
            </a:r>
            <a:endParaRPr lang="fr-FR" dirty="0"/>
          </a:p>
          <a:p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89A860E2-ECCD-8C4D-AC35-CA1F6A0C42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3848" y="251287"/>
            <a:ext cx="3362794" cy="666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66945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4228D31-B5AA-6E50-E5C6-FAA4C80262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Exemple de </a:t>
            </a:r>
            <a:r>
              <a:rPr lang="fr-FR" dirty="0" err="1"/>
              <a:t>LlamaIndex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6E31C68-697C-5885-8B2D-A24467E431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/>
              <a:t>Document</a:t>
            </a:r>
          </a:p>
          <a:p>
            <a:r>
              <a:rPr lang="fr-FR" dirty="0"/>
              <a:t>Objet qui encapsule un document</a:t>
            </a:r>
          </a:p>
          <a:p>
            <a:pPr lvl="1"/>
            <a:r>
              <a:rPr lang="fr-FR" dirty="0"/>
              <a:t>Permet de créer des </a:t>
            </a:r>
            <a:r>
              <a:rPr lang="fr-FR" dirty="0" err="1"/>
              <a:t>metadata</a:t>
            </a:r>
            <a:endParaRPr lang="fr-FR" dirty="0"/>
          </a:p>
          <a:p>
            <a:pPr lvl="1"/>
            <a:r>
              <a:rPr lang="fr-FR" dirty="0"/>
              <a:t>Obligatoire pour le </a:t>
            </a:r>
            <a:r>
              <a:rPr lang="fr-FR" dirty="0" err="1"/>
              <a:t>chunk</a:t>
            </a:r>
            <a:endParaRPr lang="fr-FR" dirty="0"/>
          </a:p>
          <a:p>
            <a:pPr lvl="1"/>
            <a:r>
              <a:rPr lang="fr-FR" dirty="0"/>
              <a:t>Document(</a:t>
            </a:r>
            <a:r>
              <a:rPr lang="fr-FR" dirty="0" err="1"/>
              <a:t>text</a:t>
            </a:r>
            <a:r>
              <a:rPr lang="fr-FR" dirty="0"/>
              <a:t>="Hello World")</a:t>
            </a:r>
          </a:p>
        </p:txBody>
      </p:sp>
    </p:spTree>
    <p:extLst>
      <p:ext uri="{BB962C8B-B14F-4D97-AF65-F5344CB8AC3E}">
        <p14:creationId xmlns:p14="http://schemas.microsoft.com/office/powerpoint/2010/main" val="34197220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E8A2ECC-C8DB-EF1D-60F9-E07CCC4D97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Vector</a:t>
            </a:r>
            <a:r>
              <a:rPr lang="fr-FR" dirty="0"/>
              <a:t> </a:t>
            </a:r>
            <a:r>
              <a:rPr lang="fr-FR" dirty="0" err="1"/>
              <a:t>Database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39C9395-D10F-7DAE-5D75-45EF1C35E3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Il devient très important de pouvoir stocker des listes de vecteurs dans une base de données</a:t>
            </a:r>
          </a:p>
          <a:p>
            <a:pPr lvl="1"/>
            <a:r>
              <a:rPr lang="fr-FR" dirty="0"/>
              <a:t>En RAM</a:t>
            </a:r>
          </a:p>
          <a:p>
            <a:pPr lvl="1"/>
            <a:r>
              <a:rPr lang="fr-FR" dirty="0"/>
              <a:t>Sur disque dur</a:t>
            </a:r>
          </a:p>
          <a:p>
            <a:pPr lvl="1"/>
            <a:r>
              <a:rPr lang="fr-FR" dirty="0"/>
              <a:t>Recherche efficace</a:t>
            </a:r>
          </a:p>
        </p:txBody>
      </p:sp>
    </p:spTree>
    <p:extLst>
      <p:ext uri="{BB962C8B-B14F-4D97-AF65-F5344CB8AC3E}">
        <p14:creationId xmlns:p14="http://schemas.microsoft.com/office/powerpoint/2010/main" val="14340762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3374682-6559-D2E1-F1C7-BA85D9C484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VectorStoreIndex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BB228F7-B6ED-C69F-DEE0-0BC70C9E6D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Également appelé </a:t>
            </a:r>
            <a:r>
              <a:rPr lang="fr-FR" dirty="0" err="1"/>
              <a:t>GPTVectorStoreIndex</a:t>
            </a:r>
            <a:endParaRPr lang="fr-FR" dirty="0"/>
          </a:p>
          <a:p>
            <a:r>
              <a:rPr lang="fr-FR" dirty="0"/>
              <a:t>Base de données en RAM</a:t>
            </a:r>
          </a:p>
          <a:p>
            <a:pPr lvl="1"/>
            <a:r>
              <a:rPr lang="fr-FR" dirty="0"/>
              <a:t>1M à 10M de </a:t>
            </a:r>
            <a:r>
              <a:rPr lang="fr-FR" dirty="0" err="1"/>
              <a:t>Chunks</a:t>
            </a:r>
            <a:endParaRPr lang="fr-FR" dirty="0"/>
          </a:p>
          <a:p>
            <a:pPr lvl="1"/>
            <a:r>
              <a:rPr lang="fr-FR" dirty="0"/>
              <a:t>Très rapide</a:t>
            </a:r>
          </a:p>
          <a:p>
            <a:r>
              <a:rPr lang="fr-FR" dirty="0"/>
              <a:t>Création de la base</a:t>
            </a:r>
          </a:p>
          <a:p>
            <a:pPr lvl="1"/>
            <a:r>
              <a:rPr lang="fr-FR" dirty="0" err="1"/>
              <a:t>from_document</a:t>
            </a:r>
            <a:r>
              <a:rPr lang="fr-FR" dirty="0"/>
              <a:t> : depuis une liste de Document()</a:t>
            </a:r>
          </a:p>
          <a:p>
            <a:pPr lvl="1"/>
            <a:r>
              <a:rPr lang="fr-FR" dirty="0" err="1"/>
              <a:t>SimpleDirectoryReader</a:t>
            </a:r>
            <a:r>
              <a:rPr lang="fr-FR" dirty="0"/>
              <a:t> : depuis un répertoire</a:t>
            </a:r>
          </a:p>
          <a:p>
            <a:r>
              <a:rPr lang="fr-FR" dirty="0"/>
              <a:t>De nombreuses commandes</a:t>
            </a:r>
          </a:p>
          <a:p>
            <a:pPr lvl="1"/>
            <a:r>
              <a:rPr lang="fr-FR" dirty="0" err="1"/>
              <a:t>Refresh</a:t>
            </a:r>
            <a:r>
              <a:rPr lang="fr-FR" dirty="0"/>
              <a:t> : Update des index</a:t>
            </a:r>
          </a:p>
          <a:p>
            <a:pPr lvl="1"/>
            <a:r>
              <a:rPr lang="fr-FR" dirty="0"/>
              <a:t>Update : mise à jour d'un document</a:t>
            </a:r>
          </a:p>
          <a:p>
            <a:pPr lvl="1"/>
            <a:r>
              <a:rPr lang="fr-FR" dirty="0" err="1"/>
              <a:t>Delete</a:t>
            </a:r>
            <a:r>
              <a:rPr lang="fr-FR" dirty="0"/>
              <a:t> : effacement d'un document</a:t>
            </a:r>
          </a:p>
        </p:txBody>
      </p:sp>
    </p:spTree>
    <p:extLst>
      <p:ext uri="{BB962C8B-B14F-4D97-AF65-F5344CB8AC3E}">
        <p14:creationId xmlns:p14="http://schemas.microsoft.com/office/powerpoint/2010/main" val="7646892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43467EB-172C-042E-7EE2-1B8302FDFF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Embedding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4674E85-DF0F-6D65-7AE8-05F550C564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Choix du model</a:t>
            </a:r>
          </a:p>
          <a:p>
            <a:r>
              <a:rPr lang="fr-FR" dirty="0"/>
              <a:t>Pour créer un vecteur sans le stocker</a:t>
            </a:r>
          </a:p>
          <a:p>
            <a:r>
              <a:rPr lang="fr-FR" dirty="0"/>
              <a:t>Exemple avec Mistral</a:t>
            </a:r>
          </a:p>
          <a:p>
            <a:pPr lvl="1"/>
            <a:r>
              <a:rPr lang="fr-FR" dirty="0" err="1"/>
              <a:t>embed_model</a:t>
            </a:r>
            <a:r>
              <a:rPr lang="fr-FR" dirty="0"/>
              <a:t> = </a:t>
            </a:r>
            <a:r>
              <a:rPr lang="fr-FR" dirty="0" err="1"/>
              <a:t>MistralAIEmbedding</a:t>
            </a:r>
            <a:r>
              <a:rPr lang="fr-FR" dirty="0"/>
              <a:t>(</a:t>
            </a:r>
            <a:r>
              <a:rPr lang="fr-FR" dirty="0" err="1"/>
              <a:t>model_name</a:t>
            </a:r>
            <a:r>
              <a:rPr lang="fr-FR" dirty="0"/>
              <a:t>=</a:t>
            </a:r>
            <a:r>
              <a:rPr lang="fr-FR" dirty="0" err="1"/>
              <a:t>model_name</a:t>
            </a:r>
            <a:r>
              <a:rPr lang="fr-FR" dirty="0"/>
              <a:t>, </a:t>
            </a:r>
            <a:r>
              <a:rPr lang="fr-FR" dirty="0" err="1"/>
              <a:t>api_key</a:t>
            </a:r>
            <a:r>
              <a:rPr lang="fr-FR" dirty="0"/>
              <a:t>=</a:t>
            </a:r>
            <a:r>
              <a:rPr lang="fr-FR" dirty="0" err="1"/>
              <a:t>api_key</a:t>
            </a:r>
            <a:r>
              <a:rPr lang="fr-FR" dirty="0"/>
              <a:t>)</a:t>
            </a:r>
          </a:p>
          <a:p>
            <a:pPr lvl="1"/>
            <a:r>
              <a:rPr lang="fr-FR" dirty="0" err="1"/>
              <a:t>embeddings</a:t>
            </a:r>
            <a:r>
              <a:rPr lang="fr-FR" dirty="0"/>
              <a:t> = </a:t>
            </a:r>
            <a:r>
              <a:rPr lang="fr-FR" dirty="0" err="1"/>
              <a:t>embed_model.get_text_embedding</a:t>
            </a:r>
            <a:r>
              <a:rPr lang="fr-FR" dirty="0"/>
              <a:t>("Cyril Vincent")</a:t>
            </a:r>
          </a:p>
          <a:p>
            <a:pPr lvl="1"/>
            <a:r>
              <a:rPr lang="fr-FR" dirty="0"/>
              <a:t>Retourne une liste de vecteurs</a:t>
            </a:r>
          </a:p>
          <a:p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7492390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78BAB12-E4FB-6EB2-7F22-F2348D3935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Embedding</a:t>
            </a:r>
            <a:r>
              <a:rPr lang="fr-FR" dirty="0"/>
              <a:t> automatique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43A2255-A156-6914-D3E9-CEE12EC3CD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Permet de créer et stocker automatiquement une grande quantité de vecteurs</a:t>
            </a:r>
          </a:p>
          <a:p>
            <a:pPr lvl="1"/>
            <a:r>
              <a:rPr lang="en-US" dirty="0"/>
              <a:t>index = </a:t>
            </a:r>
            <a:r>
              <a:rPr lang="en-US" dirty="0" err="1"/>
              <a:t>VectorStoreIndex.from_documents</a:t>
            </a:r>
            <a:r>
              <a:rPr lang="en-US" dirty="0"/>
              <a:t>(documents, </a:t>
            </a:r>
            <a:r>
              <a:rPr lang="en-US" dirty="0" err="1"/>
              <a:t>show_progress</a:t>
            </a:r>
            <a:r>
              <a:rPr lang="en-US" dirty="0"/>
              <a:t>=True</a:t>
            </a:r>
            <a:r>
              <a:rPr lang="fr-FR" dirty="0"/>
              <a:t>)</a:t>
            </a:r>
          </a:p>
          <a:p>
            <a:pPr lvl="1"/>
            <a:r>
              <a:rPr lang="fr-FR" dirty="0"/>
              <a:t>Stockage en RAM</a:t>
            </a:r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658019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D07CB8B-08E8-FEB9-8E83-E58324A141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Retriever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0EF69B3-4CFE-8875-8C73-48E704C7F5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Calculs des distances par rapport à un vecteurs</a:t>
            </a:r>
          </a:p>
          <a:p>
            <a:r>
              <a:rPr lang="fr-FR" dirty="0"/>
              <a:t>Retour des k plus proches voisins</a:t>
            </a:r>
          </a:p>
          <a:p>
            <a:pPr lvl="1"/>
            <a:r>
              <a:rPr lang="fr-FR" dirty="0"/>
              <a:t>retriever = </a:t>
            </a:r>
            <a:r>
              <a:rPr lang="fr-FR" dirty="0" err="1"/>
              <a:t>index.as_retriever</a:t>
            </a:r>
            <a:r>
              <a:rPr lang="fr-FR" dirty="0"/>
              <a:t>()</a:t>
            </a:r>
          </a:p>
          <a:p>
            <a:pPr lvl="1"/>
            <a:r>
              <a:rPr lang="fr-FR" dirty="0" err="1"/>
              <a:t>nodes</a:t>
            </a:r>
            <a:r>
              <a:rPr lang="fr-FR" dirty="0"/>
              <a:t> = </a:t>
            </a:r>
            <a:r>
              <a:rPr lang="fr-FR" dirty="0" err="1"/>
              <a:t>retriever.retrieve</a:t>
            </a:r>
            <a:r>
              <a:rPr lang="fr-FR" dirty="0"/>
              <a:t>(</a:t>
            </a:r>
            <a:r>
              <a:rPr lang="fr-FR" dirty="0" err="1"/>
              <a:t>query</a:t>
            </a:r>
            <a:r>
              <a:rPr lang="fr-FR" dirty="0"/>
              <a:t>)</a:t>
            </a:r>
          </a:p>
          <a:p>
            <a:r>
              <a:rPr lang="fr-FR" dirty="0"/>
              <a:t>Retourne une liste de Node</a:t>
            </a:r>
          </a:p>
          <a:p>
            <a:r>
              <a:rPr lang="fr-FR" dirty="0"/>
              <a:t>Chaque Node possède</a:t>
            </a:r>
          </a:p>
          <a:p>
            <a:pPr lvl="1"/>
            <a:r>
              <a:rPr lang="fr-FR" dirty="0"/>
              <a:t>Un Id</a:t>
            </a:r>
          </a:p>
          <a:p>
            <a:pPr lvl="1"/>
            <a:r>
              <a:rPr lang="fr-FR" dirty="0"/>
              <a:t>Un </a:t>
            </a:r>
            <a:r>
              <a:rPr lang="fr-FR" dirty="0" err="1"/>
              <a:t>chunk</a:t>
            </a:r>
            <a:endParaRPr lang="fr-FR" dirty="0"/>
          </a:p>
          <a:p>
            <a:pPr lvl="1"/>
            <a:r>
              <a:rPr lang="fr-FR" dirty="0"/>
              <a:t>Un score</a:t>
            </a:r>
          </a:p>
        </p:txBody>
      </p:sp>
    </p:spTree>
    <p:extLst>
      <p:ext uri="{BB962C8B-B14F-4D97-AF65-F5344CB8AC3E}">
        <p14:creationId xmlns:p14="http://schemas.microsoft.com/office/powerpoint/2010/main" val="3863134457"/>
      </p:ext>
    </p:extLst>
  </p:cSld>
  <p:clrMapOvr>
    <a:masterClrMapping/>
  </p:clrMapOvr>
</p:sld>
</file>

<file path=ppt/theme/theme1.xml><?xml version="1.0" encoding="utf-8"?>
<a:theme xmlns:a="http://schemas.openxmlformats.org/drawingml/2006/main" name="cvc">
  <a:themeElements>
    <a:clrScheme name="cvc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cvc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cvc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vc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3645</TotalTime>
  <Words>328</Words>
  <Application>Microsoft Office PowerPoint</Application>
  <PresentationFormat>Affichage à l'écran (4:3)</PresentationFormat>
  <Paragraphs>74</Paragraphs>
  <Slides>11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11</vt:i4>
      </vt:variant>
    </vt:vector>
  </HeadingPairs>
  <TitlesOfParts>
    <vt:vector size="15" baseType="lpstr">
      <vt:lpstr>Arial</vt:lpstr>
      <vt:lpstr>Monotype Sorts</vt:lpstr>
      <vt:lpstr>Times New Roman</vt:lpstr>
      <vt:lpstr>cvc</vt:lpstr>
      <vt:lpstr>Présentation PowerPoint</vt:lpstr>
      <vt:lpstr>Frameworks</vt:lpstr>
      <vt:lpstr>Présentation PowerPoint</vt:lpstr>
      <vt:lpstr>Haystack</vt:lpstr>
      <vt:lpstr>Présentation PowerPoint</vt:lpstr>
      <vt:lpstr>Exemple de LlamaIndex</vt:lpstr>
      <vt:lpstr>Vector Database</vt:lpstr>
      <vt:lpstr>VectorStoreIndex</vt:lpstr>
      <vt:lpstr>Embedding</vt:lpstr>
      <vt:lpstr>Embedding automatique</vt:lpstr>
      <vt:lpstr>Retriever</vt:lpstr>
    </vt:vector>
  </TitlesOfParts>
  <Company>jkhjkjkh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</dc:title>
  <dc:creator>jhkhkhkj</dc:creator>
  <cp:lastModifiedBy>Cyril Vincent</cp:lastModifiedBy>
  <cp:revision>282</cp:revision>
  <dcterms:created xsi:type="dcterms:W3CDTF">2000-04-10T19:33:12Z</dcterms:created>
  <dcterms:modified xsi:type="dcterms:W3CDTF">2025-10-17T15:31:58Z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lpwstr>0.1</vt:lpwstr>
  </property>
</Properties>
</file>