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7"/>
  </p:notesMasterIdLst>
  <p:handoutMasterIdLst>
    <p:handoutMasterId r:id="rId18"/>
  </p:handoutMasterIdLst>
  <p:sldIdLst>
    <p:sldId id="264" r:id="rId2"/>
    <p:sldId id="265" r:id="rId3"/>
    <p:sldId id="266" r:id="rId4"/>
    <p:sldId id="305" r:id="rId5"/>
    <p:sldId id="311" r:id="rId6"/>
    <p:sldId id="306" r:id="rId7"/>
    <p:sldId id="315" r:id="rId8"/>
    <p:sldId id="325" r:id="rId9"/>
    <p:sldId id="339" r:id="rId10"/>
    <p:sldId id="321" r:id="rId11"/>
    <p:sldId id="323" r:id="rId12"/>
    <p:sldId id="326" r:id="rId13"/>
    <p:sldId id="318" r:id="rId14"/>
    <p:sldId id="278" r:id="rId15"/>
    <p:sldId id="279" r:id="rId16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877888" y="733425"/>
            <a:ext cx="4892675" cy="36703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 smtClean="0"/>
              <a:pPr>
                <a:defRPr/>
              </a:pPr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7996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599" y="5572223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Fine Tuning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/>
              <a:t>RAG</a:t>
            </a:r>
            <a:endParaRPr lang="fr-FR" sz="36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001164-A837-0D8F-BDC2-8A6B4E7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Défauts du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29894E-B768-7A84-E886-F7501CDCF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Avec le RAG, le LLM n'a pas appris avec vos données</a:t>
            </a:r>
          </a:p>
          <a:p>
            <a:pPr lvl="1"/>
            <a:r>
              <a:rPr lang="fr-FR" dirty="0"/>
              <a:t>Le contexte à été augmenté</a:t>
            </a:r>
          </a:p>
          <a:p>
            <a:pPr lvl="1"/>
            <a:r>
              <a:rPr lang="fr-FR" dirty="0"/>
              <a:t>Chaque requête nécessite des </a:t>
            </a:r>
            <a:r>
              <a:rPr lang="fr-FR" dirty="0" err="1"/>
              <a:t>tokens</a:t>
            </a:r>
            <a:r>
              <a:rPr lang="fr-FR" dirty="0"/>
              <a:t> supplémentaires pour les vecteurs</a:t>
            </a:r>
          </a:p>
        </p:txBody>
      </p:sp>
    </p:spTree>
    <p:extLst>
      <p:ext uri="{BB962C8B-B14F-4D97-AF65-F5344CB8AC3E}">
        <p14:creationId xmlns:p14="http://schemas.microsoft.com/office/powerpoint/2010/main" val="1167108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A229D0-07A9-FACC-A99D-D789A4383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Fine Tuning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781E00-FE84-ECF1-4441-2D4144314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modèle peut être réentraîné avec VOS données afin d'intégrer les données</a:t>
            </a:r>
          </a:p>
          <a:p>
            <a:pPr lvl="1"/>
            <a:r>
              <a:rPr lang="fr-FR" dirty="0"/>
              <a:t>Il n'aura plus besoin de RAG</a:t>
            </a:r>
          </a:p>
          <a:p>
            <a:pPr lvl="1"/>
            <a:r>
              <a:rPr lang="fr-FR" dirty="0"/>
              <a:t>Processus couteux</a:t>
            </a:r>
          </a:p>
        </p:txBody>
      </p:sp>
    </p:spTree>
    <p:extLst>
      <p:ext uri="{BB962C8B-B14F-4D97-AF65-F5344CB8AC3E}">
        <p14:creationId xmlns:p14="http://schemas.microsoft.com/office/powerpoint/2010/main" val="1816486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 à d’autre neurones qui a la faculté de laisser passer ou non un courant électrique</a:t>
            </a:r>
          </a:p>
          <a:p>
            <a:pPr lvl="1"/>
            <a:r>
              <a:rPr lang="fr-FR" dirty="0"/>
              <a:t>Sa modélisation mathématique est appelé perceptron</a:t>
            </a:r>
          </a:p>
          <a:p>
            <a:endParaRPr lang="fr-FR" dirty="0"/>
          </a:p>
        </p:txBody>
      </p:sp>
      <p:pic>
        <p:nvPicPr>
          <p:cNvPr id="6146" name="Picture 2" descr="RÃ©sultat de recherche d'images pour &quot;neuron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356992"/>
            <a:ext cx="5184576" cy="291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719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Synapse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liaison synaptique s’effectue par des neurotransmetteurs</a:t>
            </a:r>
          </a:p>
          <a:p>
            <a:endParaRPr lang="fr-FR" dirty="0"/>
          </a:p>
        </p:txBody>
      </p:sp>
      <p:pic>
        <p:nvPicPr>
          <p:cNvPr id="3074" name="Picture 2" descr="https://scr.sad.supinfo.com/articles/resources/214662/7923/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645024"/>
            <a:ext cx="5724525" cy="158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385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neurone possède plusieurs entrées (ix), une sortie (o), un seuil et une fonction d’activation (f)</a:t>
            </a:r>
          </a:p>
          <a:p>
            <a:r>
              <a:rPr lang="fr-FR" dirty="0"/>
              <a:t>Chaque entrée possède un poids (</a:t>
            </a:r>
            <a:r>
              <a:rPr lang="fr-FR" dirty="0" err="1"/>
              <a:t>Wx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pic>
        <p:nvPicPr>
          <p:cNvPr id="1026" name="Picture 2" descr="Schéma d'un perceptron à n entrée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473" y="2719205"/>
            <a:ext cx="5640561" cy="3990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497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Multi Layer Perceptron</a:t>
            </a:r>
          </a:p>
          <a:p>
            <a:pPr lvl="1"/>
            <a:r>
              <a:rPr lang="fr-FR" dirty="0"/>
              <a:t>Les perceptrons sont mis dans un graphe acyclique</a:t>
            </a:r>
          </a:p>
        </p:txBody>
      </p:sp>
      <p:pic>
        <p:nvPicPr>
          <p:cNvPr id="4" name="Picture 12" descr="Résultat de recherche d'images pour &quot;mlp inference&quot;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852936"/>
            <a:ext cx="4804506" cy="3164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993503B-2ED5-4061-88B8-420B4BF6AFFF}"/>
              </a:ext>
            </a:extLst>
          </p:cNvPr>
          <p:cNvSpPr txBox="1"/>
          <p:nvPr/>
        </p:nvSpPr>
        <p:spPr>
          <a:xfrm>
            <a:off x="1043608" y="3356992"/>
            <a:ext cx="86914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1 4 7</a:t>
            </a:r>
          </a:p>
          <a:p>
            <a:endParaRPr lang="fr-FR" dirty="0"/>
          </a:p>
          <a:p>
            <a:r>
              <a:rPr lang="fr-FR" dirty="0"/>
              <a:t>2 5 8</a:t>
            </a:r>
          </a:p>
          <a:p>
            <a:endParaRPr lang="fr-FR" dirty="0"/>
          </a:p>
          <a:p>
            <a:r>
              <a:rPr lang="fr-FR" dirty="0"/>
              <a:t>3 6 9</a:t>
            </a:r>
          </a:p>
        </p:txBody>
      </p:sp>
    </p:spTree>
    <p:extLst>
      <p:ext uri="{BB962C8B-B14F-4D97-AF65-F5344CB8AC3E}">
        <p14:creationId xmlns:p14="http://schemas.microsoft.com/office/powerpoint/2010/main" val="1994866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Réseau (2,2,2)</a:t>
            </a:r>
          </a:p>
          <a:p>
            <a:pPr lvl="1"/>
            <a:r>
              <a:rPr lang="fr-FR" dirty="0"/>
              <a:t>2 inputs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hiddens</a:t>
            </a:r>
            <a:endParaRPr lang="fr-FR" dirty="0"/>
          </a:p>
          <a:p>
            <a:pPr lvl="1"/>
            <a:r>
              <a:rPr lang="fr-FR" dirty="0"/>
              <a:t>2 outputs</a:t>
            </a:r>
          </a:p>
          <a:p>
            <a:r>
              <a:rPr lang="fr-FR" dirty="0"/>
              <a:t>Input [0.05, 0.1]</a:t>
            </a:r>
          </a:p>
          <a:p>
            <a:r>
              <a:rPr lang="fr-FR" dirty="0"/>
              <a:t>Output </a:t>
            </a:r>
            <a:r>
              <a:rPr lang="fr-FR" dirty="0" err="1"/>
              <a:t>target</a:t>
            </a:r>
            <a:r>
              <a:rPr lang="fr-FR" dirty="0"/>
              <a:t> [0.01, 0.99]</a:t>
            </a:r>
          </a:p>
          <a:p>
            <a:r>
              <a:rPr lang="fr-FR" dirty="0" err="1"/>
              <a:t>wx</a:t>
            </a:r>
            <a:r>
              <a:rPr lang="fr-FR" dirty="0"/>
              <a:t> = Poids</a:t>
            </a:r>
          </a:p>
          <a:p>
            <a:r>
              <a:rPr lang="fr-FR" dirty="0" err="1"/>
              <a:t>bx</a:t>
            </a:r>
            <a:r>
              <a:rPr lang="fr-FR" dirty="0"/>
              <a:t> = </a:t>
            </a:r>
            <a:r>
              <a:rPr lang="fr-FR" dirty="0" err="1"/>
              <a:t>Bias</a:t>
            </a:r>
            <a:r>
              <a:rPr lang="fr-FR" dirty="0"/>
              <a:t> (seuils)</a:t>
            </a:r>
          </a:p>
        </p:txBody>
      </p:sp>
      <p:pic>
        <p:nvPicPr>
          <p:cNvPr id="1028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2537" y="1556792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40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C13282-F0EC-B6B9-620B-8E98B2FEA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Descente du gradient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9B14DB-1F36-B22E-72A4-3F81FF8BF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EBE3EEC-A083-E0D3-DFB3-5174B7FAA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197594"/>
            <a:ext cx="8023041" cy="511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083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  <a:p>
            <a:pPr lvl="1"/>
            <a:r>
              <a:rPr lang="fr-FR" dirty="0"/>
              <a:t>Algorithme RMS</a:t>
            </a:r>
          </a:p>
          <a:p>
            <a:pPr lvl="1"/>
            <a:r>
              <a:rPr lang="fr-FR" dirty="0" err="1"/>
              <a:t>dW</a:t>
            </a:r>
            <a:r>
              <a:rPr lang="fr-FR" dirty="0"/>
              <a:t> = 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</a:t>
            </a:r>
          </a:p>
        </p:txBody>
      </p:sp>
      <p:pic>
        <p:nvPicPr>
          <p:cNvPr id="7170" name="Picture 2" descr="https://miro.medium.com/max/1500/0*oqm7QVnI9-inFGCc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768752" cy="2651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926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Learning rate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taux d’apprentissage résout le problème des minimums locaux</a:t>
            </a:r>
          </a:p>
          <a:p>
            <a:pPr lvl="1"/>
            <a:r>
              <a:rPr lang="fr-FR" dirty="0"/>
              <a:t>Entre 0.01 et 0.00001</a:t>
            </a:r>
          </a:p>
        </p:txBody>
      </p:sp>
      <p:pic>
        <p:nvPicPr>
          <p:cNvPr id="13314" name="Picture 2" descr="https://miro.medium.com/max/700/0*G8a4jCsMLJ7xNQ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82" y="1772816"/>
            <a:ext cx="3120281" cy="23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Image result for gradient descen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501008"/>
            <a:ext cx="4577354" cy="2141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766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4098" name="Picture 2" descr="https://dpzbhybb2pdcj.cloudfront.net/allaire/Figures/01fig09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341" y="1772816"/>
            <a:ext cx="4608512" cy="365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929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Complexes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peuvent être complexes</a:t>
            </a:r>
          </a:p>
        </p:txBody>
      </p:sp>
      <p:pic>
        <p:nvPicPr>
          <p:cNvPr id="4" name="Picture 16" descr="Résultat de recherche d'images pour &quot;multi layer perceptron inference animated gif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916832"/>
            <a:ext cx="5273934" cy="4428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947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DB26A2-249F-4AA1-8871-6813CCCD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Clonage du réseau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3A2EB4-5179-44D7-B4C1-8D3EFDF0E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cloner et/ou modifier un réseau</a:t>
            </a:r>
          </a:p>
          <a:p>
            <a:r>
              <a:rPr lang="fr-FR" dirty="0"/>
              <a:t>Il est alors possible de transférer les poids</a:t>
            </a:r>
          </a:p>
          <a:p>
            <a:r>
              <a:rPr lang="fr-FR" dirty="0"/>
              <a:t>Le réentrainement total peut être long</a:t>
            </a:r>
          </a:p>
        </p:txBody>
      </p:sp>
    </p:spTree>
    <p:extLst>
      <p:ext uri="{BB962C8B-B14F-4D97-AF65-F5344CB8AC3E}">
        <p14:creationId xmlns:p14="http://schemas.microsoft.com/office/powerpoint/2010/main" val="30196069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BB44D-E4CB-4243-92AC-CF91D144D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Réentrainement partiel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F0534-96E0-4462-8E0C-1E1C9198C0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Certaines couches peuvent ne pas être réentraînées</a:t>
            </a:r>
          </a:p>
          <a:p>
            <a:r>
              <a:rPr lang="fr-FR" dirty="0"/>
              <a:t>La modification d'une couche nécessite le réentrainement des couches suivantes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8944495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3614</TotalTime>
  <Words>276</Words>
  <Application>Microsoft Office PowerPoint</Application>
  <PresentationFormat>Affichage à l'écran (4:3)</PresentationFormat>
  <Paragraphs>56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Arial</vt:lpstr>
      <vt:lpstr>Monotype Sorts</vt:lpstr>
      <vt:lpstr>Times New Roman</vt:lpstr>
      <vt:lpstr>cvc</vt:lpstr>
      <vt:lpstr>Présentation PowerPoint</vt:lpstr>
      <vt:lpstr>Défauts du RAG</vt:lpstr>
      <vt:lpstr>Fine Tuning</vt:lpstr>
      <vt:lpstr>Neurone</vt:lpstr>
      <vt:lpstr>Synapse</vt:lpstr>
      <vt:lpstr>Perceptron</vt:lpstr>
      <vt:lpstr>MLP</vt:lpstr>
      <vt:lpstr>Exemple simple</vt:lpstr>
      <vt:lpstr>Descente du gradient</vt:lpstr>
      <vt:lpstr>Changement du poids</vt:lpstr>
      <vt:lpstr>Learning rate</vt:lpstr>
      <vt:lpstr>Backpropagation</vt:lpstr>
      <vt:lpstr>MLP Complexes</vt:lpstr>
      <vt:lpstr>Clonage du réseau</vt:lpstr>
      <vt:lpstr>Réentrainement partiel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280</cp:revision>
  <dcterms:created xsi:type="dcterms:W3CDTF">2000-04-10T19:33:12Z</dcterms:created>
  <dcterms:modified xsi:type="dcterms:W3CDTF">2025-10-19T20:41:50Z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