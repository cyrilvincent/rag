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6"/>
  </p:notesMasterIdLst>
  <p:handoutMasterIdLst>
    <p:handoutMasterId r:id="rId27"/>
  </p:handoutMasterIdLst>
  <p:sldIdLst>
    <p:sldId id="264" r:id="rId2"/>
    <p:sldId id="265" r:id="rId3"/>
    <p:sldId id="266" r:id="rId4"/>
    <p:sldId id="305" r:id="rId5"/>
    <p:sldId id="311" r:id="rId6"/>
    <p:sldId id="306" r:id="rId7"/>
    <p:sldId id="315" r:id="rId8"/>
    <p:sldId id="325" r:id="rId9"/>
    <p:sldId id="339" r:id="rId10"/>
    <p:sldId id="321" r:id="rId11"/>
    <p:sldId id="323" r:id="rId12"/>
    <p:sldId id="326" r:id="rId13"/>
    <p:sldId id="318" r:id="rId14"/>
    <p:sldId id="278" r:id="rId15"/>
    <p:sldId id="279" r:id="rId16"/>
    <p:sldId id="341" r:id="rId17"/>
    <p:sldId id="342" r:id="rId18"/>
    <p:sldId id="344" r:id="rId19"/>
    <p:sldId id="343" r:id="rId20"/>
    <p:sldId id="345" r:id="rId21"/>
    <p:sldId id="348" r:id="rId22"/>
    <p:sldId id="349" r:id="rId23"/>
    <p:sldId id="346" r:id="rId24"/>
    <p:sldId id="347" r:id="rId2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Fine Tuning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/>
              <a:t>RAG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01164-A837-0D8F-BDC2-8A6B4E78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Défauts du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29894E-B768-7A84-E886-F7501CDC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RAG, le LLM n'a pas appris avec vos données</a:t>
            </a:r>
          </a:p>
          <a:p>
            <a:pPr lvl="1"/>
            <a:r>
              <a:rPr lang="fr-FR" dirty="0"/>
              <a:t>Le contexte à été augmenté</a:t>
            </a:r>
          </a:p>
          <a:p>
            <a:pPr lvl="1"/>
            <a:r>
              <a:rPr lang="fr-FR" dirty="0"/>
              <a:t>Chaque requête nécessite des </a:t>
            </a:r>
            <a:r>
              <a:rPr lang="fr-FR" dirty="0" err="1"/>
              <a:t>tokens</a:t>
            </a:r>
            <a:r>
              <a:rPr lang="fr-FR" dirty="0"/>
              <a:t> supplémentaires pour les vecteurs</a:t>
            </a:r>
          </a:p>
        </p:txBody>
      </p:sp>
    </p:spTree>
    <p:extLst>
      <p:ext uri="{BB962C8B-B14F-4D97-AF65-F5344CB8AC3E}">
        <p14:creationId xmlns:p14="http://schemas.microsoft.com/office/powerpoint/2010/main" val="116710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229D0-07A9-FACC-A99D-D789A438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Fine Tuning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781E00-FE84-ECF1-4441-2D414431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modèle peut être réentraîné avec VOS données afin d'intégrer les données</a:t>
            </a:r>
          </a:p>
          <a:p>
            <a:pPr lvl="1"/>
            <a:r>
              <a:rPr lang="fr-FR" dirty="0"/>
              <a:t>Il n'aura plus besoin de RAG</a:t>
            </a:r>
          </a:p>
          <a:p>
            <a:pPr lvl="1"/>
            <a:r>
              <a:rPr lang="fr-FR" dirty="0"/>
              <a:t>Processus couteux</a:t>
            </a:r>
          </a:p>
        </p:txBody>
      </p:sp>
    </p:spTree>
    <p:extLst>
      <p:ext uri="{BB962C8B-B14F-4D97-AF65-F5344CB8AC3E}">
        <p14:creationId xmlns:p14="http://schemas.microsoft.com/office/powerpoint/2010/main" val="181648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C13282-F0EC-B6B9-620B-8E98B2FE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Descente du gradient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9B14DB-1F36-B22E-72A4-3F81FF8BF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BE3EEC-A083-E0D3-DFB3-5174B7FA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97594"/>
            <a:ext cx="8023041" cy="511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8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B26A2-249F-4AA1-8871-6813CCCD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Clonage du réseau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A2EB4-5179-44D7-B4C1-8D3EFDF0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cloner et/ou modifier un réseau</a:t>
            </a:r>
          </a:p>
          <a:p>
            <a:r>
              <a:rPr lang="fr-FR" dirty="0"/>
              <a:t>Il est alors possible de transférer les poids</a:t>
            </a:r>
          </a:p>
          <a:p>
            <a:r>
              <a:rPr lang="fr-FR" dirty="0"/>
              <a:t>Le réentrainement total peut être long</a:t>
            </a:r>
          </a:p>
        </p:txBody>
      </p:sp>
    </p:spTree>
    <p:extLst>
      <p:ext uri="{BB962C8B-B14F-4D97-AF65-F5344CB8AC3E}">
        <p14:creationId xmlns:p14="http://schemas.microsoft.com/office/powerpoint/2010/main" val="301960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BB44D-E4CB-4243-92AC-CF91D144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Réentrainement partiel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EF0534-96E0-4462-8E0C-1E1C9198C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Certaines couches peuvent ne pas être réentraînées</a:t>
            </a:r>
          </a:p>
          <a:p>
            <a:r>
              <a:rPr lang="fr-FR" dirty="0"/>
              <a:t>La modification d'une couche nécessite le réentrainement des couches suivantes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8944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1FF74-64E2-9BDB-B843-7029D6FB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644AF-FF79-7A21-BDCF-D230A42DA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Apprentissage supervisé</a:t>
            </a:r>
          </a:p>
          <a:p>
            <a:pPr lvl="1"/>
            <a:r>
              <a:rPr lang="fr-FR" dirty="0"/>
              <a:t>Avoir un </a:t>
            </a:r>
            <a:r>
              <a:rPr lang="fr-FR" dirty="0" err="1"/>
              <a:t>dataset</a:t>
            </a:r>
            <a:r>
              <a:rPr lang="fr-FR" dirty="0"/>
              <a:t> avec question &amp; réponses attendues</a:t>
            </a:r>
          </a:p>
          <a:p>
            <a:pPr lvl="1"/>
            <a:r>
              <a:rPr lang="fr-FR" dirty="0"/>
              <a:t>En CSV ou JSON</a:t>
            </a:r>
          </a:p>
          <a:p>
            <a:pPr lvl="1"/>
            <a:r>
              <a:rPr lang="fr-FR" dirty="0"/>
              <a:t>Plusieurs Mo (idéalement &gt; 100Mo)</a:t>
            </a:r>
          </a:p>
          <a:p>
            <a:pPr lvl="1"/>
            <a:r>
              <a:rPr lang="fr-FR" dirty="0"/>
              <a:t>Découpage du </a:t>
            </a:r>
            <a:r>
              <a:rPr lang="fr-FR" dirty="0" err="1"/>
              <a:t>dataset</a:t>
            </a:r>
            <a:r>
              <a:rPr lang="fr-FR" dirty="0"/>
              <a:t> en 2 parties</a:t>
            </a:r>
          </a:p>
          <a:p>
            <a:pPr lvl="1"/>
            <a:r>
              <a:rPr lang="fr-FR" dirty="0" err="1"/>
              <a:t>TrainingSet</a:t>
            </a:r>
            <a:r>
              <a:rPr lang="fr-FR" dirty="0"/>
              <a:t> et </a:t>
            </a:r>
            <a:r>
              <a:rPr lang="fr-FR" dirty="0" err="1"/>
              <a:t>TestingSet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519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F59BE-47C0-5CA5-7E98-F83C6519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Tarification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CEE73E-EEA1-499D-8683-ADA1E6F86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GPT 4.1 nano</a:t>
            </a:r>
          </a:p>
          <a:p>
            <a:pPr lvl="1"/>
            <a:r>
              <a:rPr lang="fr-FR" dirty="0"/>
              <a:t>1.5$ / 1MToken + cout fixe de 4$ par job + 2$ par mois</a:t>
            </a:r>
          </a:p>
          <a:p>
            <a:r>
              <a:rPr lang="fr-FR" dirty="0"/>
              <a:t>GPT 4.1</a:t>
            </a:r>
          </a:p>
          <a:p>
            <a:pPr lvl="1"/>
            <a:r>
              <a:rPr lang="fr-FR" dirty="0"/>
              <a:t>25$ / 1MToken</a:t>
            </a:r>
          </a:p>
          <a:p>
            <a:r>
              <a:rPr lang="fr-FR" dirty="0"/>
              <a:t>GPT 5</a:t>
            </a:r>
          </a:p>
          <a:p>
            <a:pPr lvl="1"/>
            <a:r>
              <a:rPr lang="fr-FR" dirty="0"/>
              <a:t>10K$ / 1MToken</a:t>
            </a:r>
          </a:p>
          <a:p>
            <a:r>
              <a:rPr lang="fr-FR" dirty="0"/>
              <a:t>Pour 1 </a:t>
            </a:r>
            <a:r>
              <a:rPr lang="fr-FR" dirty="0" err="1"/>
              <a:t>dataset</a:t>
            </a:r>
            <a:r>
              <a:rPr lang="fr-FR" dirty="0"/>
              <a:t> de 100Mo</a:t>
            </a:r>
          </a:p>
          <a:p>
            <a:pPr lvl="1"/>
            <a:r>
              <a:rPr lang="fr-FR" dirty="0"/>
              <a:t>50MToken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epochs</a:t>
            </a:r>
            <a:r>
              <a:rPr lang="fr-FR" dirty="0"/>
              <a:t> minimum</a:t>
            </a:r>
          </a:p>
          <a:p>
            <a:pPr lvl="1"/>
            <a:r>
              <a:rPr lang="fr-FR"/>
              <a:t>De 80$ </a:t>
            </a:r>
            <a:r>
              <a:rPr lang="fr-FR" dirty="0"/>
              <a:t>à 10K$</a:t>
            </a:r>
          </a:p>
        </p:txBody>
      </p:sp>
    </p:spTree>
    <p:extLst>
      <p:ext uri="{BB962C8B-B14F-4D97-AF65-F5344CB8AC3E}">
        <p14:creationId xmlns:p14="http://schemas.microsoft.com/office/powerpoint/2010/main" val="3279174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4BD0A-B3C8-247F-4898-1AECAD26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Optimisation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EAA434-2501-9ACF-347A-DBB34891A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  <a:p>
            <a:pPr lvl="1"/>
            <a:r>
              <a:rPr lang="fr-FR" dirty="0"/>
              <a:t>Nombre d'itération sur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2 minimum</a:t>
            </a:r>
          </a:p>
          <a:p>
            <a:r>
              <a:rPr lang="fr-FR" dirty="0" err="1"/>
              <a:t>Trainable</a:t>
            </a:r>
            <a:endParaRPr lang="fr-FR" dirty="0"/>
          </a:p>
          <a:p>
            <a:pPr lvl="1"/>
            <a:r>
              <a:rPr lang="fr-FR" dirty="0"/>
              <a:t>Possibilité de geler les </a:t>
            </a:r>
            <a:r>
              <a:rPr lang="fr-FR" dirty="0" err="1"/>
              <a:t>layers</a:t>
            </a:r>
            <a:r>
              <a:rPr lang="fr-FR" dirty="0"/>
              <a:t> proches des inputs</a:t>
            </a:r>
          </a:p>
          <a:p>
            <a:r>
              <a:rPr lang="fr-FR" dirty="0"/>
              <a:t>Petit modèle</a:t>
            </a:r>
          </a:p>
          <a:p>
            <a:pPr lvl="1"/>
            <a:r>
              <a:rPr lang="fr-FR" dirty="0"/>
              <a:t>Paradoxalement un petit modèle marchera mieux qu'un grand</a:t>
            </a:r>
          </a:p>
          <a:p>
            <a:pPr lvl="1"/>
            <a:r>
              <a:rPr lang="fr-FR" dirty="0"/>
              <a:t>Car convergera plus vite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2476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E81D1-E936-2C8D-D5CA-2B268278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LLM 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711A3-ACFC-5D18-64E6-849A6F60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un LLM SaaS de type </a:t>
            </a:r>
            <a:r>
              <a:rPr lang="fr-FR" dirty="0" err="1"/>
              <a:t>OpenAI</a:t>
            </a:r>
            <a:r>
              <a:rPr lang="fr-FR" dirty="0"/>
              <a:t> ou Mistral.ai</a:t>
            </a:r>
          </a:p>
          <a:p>
            <a:pPr lvl="1"/>
            <a:r>
              <a:rPr lang="fr-FR" dirty="0"/>
              <a:t>Utiliser les outils ou API du fournisseur</a:t>
            </a:r>
          </a:p>
          <a:p>
            <a:pPr lvl="1"/>
            <a:r>
              <a:rPr lang="fr-FR" dirty="0"/>
              <a:t>API </a:t>
            </a:r>
            <a:r>
              <a:rPr lang="fr-FR" dirty="0" err="1"/>
              <a:t>HuggingFace</a:t>
            </a:r>
            <a:r>
              <a:rPr lang="fr-FR" dirty="0"/>
              <a:t> également</a:t>
            </a:r>
          </a:p>
          <a:p>
            <a:pPr lvl="1"/>
            <a:r>
              <a:rPr lang="fr-FR" dirty="0"/>
              <a:t>Voir exemple Mistral</a:t>
            </a:r>
          </a:p>
          <a:p>
            <a:r>
              <a:rPr lang="fr-FR" dirty="0"/>
              <a:t>Pour un LLM on promise</a:t>
            </a:r>
          </a:p>
          <a:p>
            <a:pPr lvl="1"/>
            <a:r>
              <a:rPr lang="fr-FR" dirty="0"/>
              <a:t>Utilisation possible de </a:t>
            </a:r>
            <a:r>
              <a:rPr lang="fr-FR" dirty="0" err="1"/>
              <a:t>langchain</a:t>
            </a:r>
            <a:endParaRPr lang="fr-FR" dirty="0"/>
          </a:p>
          <a:p>
            <a:pPr lvl="1"/>
            <a:r>
              <a:rPr lang="fr-FR" dirty="0"/>
              <a:t>Nécessite un GPU</a:t>
            </a:r>
          </a:p>
          <a:p>
            <a:pPr lvl="1"/>
            <a:r>
              <a:rPr lang="fr-FR" dirty="0"/>
              <a:t>En fonction du modèle de 1h à 1 semaine de calcul</a:t>
            </a:r>
          </a:p>
        </p:txBody>
      </p:sp>
    </p:spTree>
    <p:extLst>
      <p:ext uri="{BB962C8B-B14F-4D97-AF65-F5344CB8AC3E}">
        <p14:creationId xmlns:p14="http://schemas.microsoft.com/office/powerpoint/2010/main" val="3752228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C85D3-863D-FD50-E988-C26AD253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LoRA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91305-7970-9067-1317-69F4549F5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479416" cy="5040560"/>
          </a:xfrm>
        </p:spPr>
        <p:txBody>
          <a:bodyPr/>
          <a:lstStyle/>
          <a:p>
            <a:r>
              <a:rPr lang="fr-FR" dirty="0"/>
              <a:t>Low Rank Adaptation</a:t>
            </a:r>
          </a:p>
          <a:p>
            <a:r>
              <a:rPr lang="fr-FR" sz="2000" dirty="0" err="1"/>
              <a:t>LoRA</a:t>
            </a:r>
            <a:r>
              <a:rPr lang="fr-FR" sz="2000" dirty="0"/>
              <a:t> est une méthode d'apprentissage conçue pour accélérer l'apprentissage de grands modèles de langage, tout en réduisant la consommation de mémoire</a:t>
            </a:r>
          </a:p>
          <a:p>
            <a:r>
              <a:rPr lang="fr-FR" sz="2000" dirty="0"/>
              <a:t>En introduisant des paires de matrices de pondération par décomposition en rangs, appelées matrices de mise à jour, aux pondérations existantes, </a:t>
            </a:r>
            <a:r>
              <a:rPr lang="fr-FR" sz="2000" dirty="0" err="1"/>
              <a:t>LoRA</a:t>
            </a:r>
            <a:r>
              <a:rPr lang="fr-FR" sz="2000" dirty="0"/>
              <a:t> se concentre uniquement sur l'apprentissage de ces nouvelles pondérations</a:t>
            </a:r>
          </a:p>
          <a:p>
            <a:r>
              <a:rPr lang="fr-FR" sz="2000" dirty="0"/>
              <a:t>GPU de 48Go obligatoire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12B7C8-C985-BCFA-4C5C-60844D58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928" y="1844824"/>
            <a:ext cx="3386364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6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AB4CD-50F7-E19D-2942-27F347D5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LoRA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649A8B-5BF8-435D-BB8D-15EC190D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1D2084-09CA-F63C-27D6-F0AC9407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83" y="1156209"/>
            <a:ext cx="6401693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36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D19AE-78B6-6A52-810D-37098401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EAAC46-AEF0-53BE-FBF3-C9C31FD31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Full-model Fine-tuning vs. LoRA vs. RAG | by Somanath diksangi | Oct, 2025  | Medium">
            <a:extLst>
              <a:ext uri="{FF2B5EF4-FFF2-40B4-BE49-F238E27FC236}">
                <a16:creationId xmlns:a16="http://schemas.microsoft.com/office/drawing/2014/main" id="{DB16A888-694E-77E8-3547-2A77A9798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0"/>
            <a:ext cx="5616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22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8909D-F04D-6E31-5C67-54F753EC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LoRA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E8B70C-3BAC-7C3B-F538-C6F5B6281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Paramètres </a:t>
            </a:r>
            <a:r>
              <a:rPr lang="fr-FR" dirty="0" err="1"/>
              <a:t>LoRA</a:t>
            </a:r>
            <a:endParaRPr lang="fr-FR" dirty="0"/>
          </a:p>
          <a:p>
            <a:r>
              <a:rPr lang="fr-FR" dirty="0"/>
              <a:t>Rank</a:t>
            </a:r>
          </a:p>
          <a:p>
            <a:pPr lvl="1"/>
            <a:r>
              <a:rPr lang="fr-FR" dirty="0"/>
              <a:t>Nombre de matrice de décomposition</a:t>
            </a:r>
          </a:p>
          <a:p>
            <a:pPr lvl="1"/>
            <a:r>
              <a:rPr lang="fr-FR" dirty="0" err="1"/>
              <a:t>rank</a:t>
            </a:r>
            <a:r>
              <a:rPr lang="fr-FR" dirty="0"/>
              <a:t>=8 conseillé</a:t>
            </a:r>
          </a:p>
          <a:p>
            <a:r>
              <a:rPr lang="fr-FR" dirty="0"/>
              <a:t>Alpha</a:t>
            </a:r>
          </a:p>
          <a:p>
            <a:pPr lvl="1"/>
            <a:r>
              <a:rPr lang="fr-FR" dirty="0"/>
              <a:t>Facteur d'échelle</a:t>
            </a:r>
          </a:p>
          <a:p>
            <a:pPr lvl="1"/>
            <a:r>
              <a:rPr lang="fr-FR" dirty="0"/>
              <a:t>Pondération de la matrice de décomposition par rapport au LLM</a:t>
            </a:r>
          </a:p>
          <a:p>
            <a:pPr lvl="1"/>
            <a:r>
              <a:rPr lang="fr-FR" dirty="0"/>
              <a:t>Alpha fort = adaptation importante par rapport au modèle d'origine</a:t>
            </a:r>
          </a:p>
        </p:txBody>
      </p:sp>
    </p:spTree>
    <p:extLst>
      <p:ext uri="{BB962C8B-B14F-4D97-AF65-F5344CB8AC3E}">
        <p14:creationId xmlns:p14="http://schemas.microsoft.com/office/powerpoint/2010/main" val="19240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2B7D5D-9B4A-83B0-407E-417EFCF6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QLora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3DDB84-EB90-C947-F8F2-527AC9F0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Quantization</a:t>
            </a:r>
            <a:endParaRPr lang="fr-FR" dirty="0"/>
          </a:p>
          <a:p>
            <a:pPr lvl="1"/>
            <a:r>
              <a:rPr lang="fr-FR" dirty="0"/>
              <a:t>Par défaut les poids sont des float32</a:t>
            </a:r>
          </a:p>
          <a:p>
            <a:pPr lvl="1"/>
            <a:r>
              <a:rPr lang="fr-FR" dirty="0"/>
              <a:t>Passage des poids en float16</a:t>
            </a:r>
          </a:p>
          <a:p>
            <a:pPr lvl="1"/>
            <a:r>
              <a:rPr lang="fr-FR" dirty="0"/>
              <a:t>Les poids </a:t>
            </a:r>
            <a:r>
              <a:rPr lang="fr-FR" dirty="0" err="1"/>
              <a:t>Qlora</a:t>
            </a:r>
            <a:r>
              <a:rPr lang="fr-FR" dirty="0"/>
              <a:t> peuvent </a:t>
            </a:r>
            <a:r>
              <a:rPr lang="fr-FR" dirty="0" err="1"/>
              <a:t>décendre</a:t>
            </a:r>
            <a:r>
              <a:rPr lang="fr-FR" dirty="0"/>
              <a:t> à NF4 (équivalent d'un float4)</a:t>
            </a:r>
          </a:p>
        </p:txBody>
      </p:sp>
    </p:spTree>
    <p:extLst>
      <p:ext uri="{BB962C8B-B14F-4D97-AF65-F5344CB8AC3E}">
        <p14:creationId xmlns:p14="http://schemas.microsoft.com/office/powerpoint/2010/main" val="114882027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</TotalTime>
  <Words>563</Words>
  <Application>Microsoft Office PowerPoint</Application>
  <PresentationFormat>Affichage à l'écran (4:3)</PresentationFormat>
  <Paragraphs>112</Paragraphs>
  <Slides>24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Monotype Sorts</vt:lpstr>
      <vt:lpstr>Times New Roman</vt:lpstr>
      <vt:lpstr>cvc</vt:lpstr>
      <vt:lpstr>Présentation PowerPoint</vt:lpstr>
      <vt:lpstr>Défauts du RAG</vt:lpstr>
      <vt:lpstr>Fine Tuning</vt:lpstr>
      <vt:lpstr>Neurone</vt:lpstr>
      <vt:lpstr>Synapse</vt:lpstr>
      <vt:lpstr>Perceptron</vt:lpstr>
      <vt:lpstr>MLP</vt:lpstr>
      <vt:lpstr>Exemple simple</vt:lpstr>
      <vt:lpstr>Descente du gradient</vt:lpstr>
      <vt:lpstr>Changement du poids</vt:lpstr>
      <vt:lpstr>Learning rate</vt:lpstr>
      <vt:lpstr>Backpropagation</vt:lpstr>
      <vt:lpstr>MLP Complexes</vt:lpstr>
      <vt:lpstr>Clonage du réseau</vt:lpstr>
      <vt:lpstr>Réentrainement partiel</vt:lpstr>
      <vt:lpstr>DataSet</vt:lpstr>
      <vt:lpstr>Tarification</vt:lpstr>
      <vt:lpstr>Optimisation</vt:lpstr>
      <vt:lpstr>LLM SaaS</vt:lpstr>
      <vt:lpstr>LoRA</vt:lpstr>
      <vt:lpstr>LoRA</vt:lpstr>
      <vt:lpstr>Présentation PowerPoint</vt:lpstr>
      <vt:lpstr>LoRA</vt:lpstr>
      <vt:lpstr>QLora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291</cp:revision>
  <dcterms:created xsi:type="dcterms:W3CDTF">2000-04-10T19:33:12Z</dcterms:created>
  <dcterms:modified xsi:type="dcterms:W3CDTF">2025-10-20T08:40:50Z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