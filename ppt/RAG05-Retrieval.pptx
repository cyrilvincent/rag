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21"/>
  </p:notesMasterIdLst>
  <p:handoutMasterIdLst>
    <p:handoutMasterId r:id="rId22"/>
  </p:handoutMasterIdLst>
  <p:sldIdLst>
    <p:sldId id="264" r:id="rId2"/>
    <p:sldId id="266" r:id="rId3"/>
    <p:sldId id="290" r:id="rId4"/>
    <p:sldId id="282" r:id="rId5"/>
    <p:sldId id="265" r:id="rId6"/>
    <p:sldId id="291" r:id="rId7"/>
    <p:sldId id="267" r:id="rId8"/>
    <p:sldId id="292" r:id="rId9"/>
    <p:sldId id="293" r:id="rId10"/>
    <p:sldId id="294" r:id="rId11"/>
    <p:sldId id="295" r:id="rId12"/>
    <p:sldId id="296" r:id="rId13"/>
    <p:sldId id="283" r:id="rId14"/>
    <p:sldId id="289" r:id="rId15"/>
    <p:sldId id="285" r:id="rId16"/>
    <p:sldId id="286" r:id="rId17"/>
    <p:sldId id="287" r:id="rId18"/>
    <p:sldId id="288" r:id="rId19"/>
    <p:sldId id="297" r:id="rId20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599" y="5572223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Retrieval</a:t>
            </a:r>
            <a:endParaRPr lang="fr-FR" altLang="fr-FR" dirty="0"/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08D9C6-E00B-73F5-8813-9BC5D7F7C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Calcul des distances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7902110-FF0B-E608-29E4-A9C169CE0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Après chainage des </a:t>
            </a:r>
            <a:r>
              <a:rPr lang="fr-FR" dirty="0" err="1"/>
              <a:t>transformers</a:t>
            </a:r>
            <a:r>
              <a:rPr lang="fr-FR" dirty="0"/>
              <a:t> </a:t>
            </a:r>
            <a:r>
              <a:rPr lang="fr-FR" dirty="0" err="1"/>
              <a:t>précedents</a:t>
            </a:r>
            <a:endParaRPr lang="fr-FR" dirty="0"/>
          </a:p>
          <a:p>
            <a:pPr lvl="1"/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 err="1"/>
              <a:t>Embedding</a:t>
            </a:r>
            <a:endParaRPr lang="fr-FR" dirty="0"/>
          </a:p>
          <a:p>
            <a:r>
              <a:rPr lang="fr-FR" dirty="0"/>
              <a:t>Il faut poser une question au RAG</a:t>
            </a:r>
          </a:p>
          <a:p>
            <a:pPr lvl="1"/>
            <a:r>
              <a:rPr lang="fr-FR" dirty="0"/>
              <a:t>On applique également un </a:t>
            </a:r>
            <a:r>
              <a:rPr lang="fr-FR" dirty="0" err="1"/>
              <a:t>embedding</a:t>
            </a:r>
            <a:r>
              <a:rPr lang="fr-FR" dirty="0"/>
              <a:t> sur la question</a:t>
            </a:r>
          </a:p>
          <a:p>
            <a:r>
              <a:rPr lang="fr-FR" dirty="0"/>
              <a:t>Puis il faut mesurer des distances</a:t>
            </a:r>
          </a:p>
          <a:p>
            <a:pPr lvl="1"/>
            <a:r>
              <a:rPr lang="fr-FR" dirty="0"/>
              <a:t>Avec une les modèle et algorithmes de distance vu précédemment</a:t>
            </a:r>
          </a:p>
          <a:p>
            <a:r>
              <a:rPr lang="fr-FR" dirty="0"/>
              <a:t>Puis il faut choisir les vecteurs les plus proches</a:t>
            </a:r>
          </a:p>
          <a:p>
            <a:pPr lvl="1"/>
            <a:r>
              <a:rPr lang="fr-FR" dirty="0"/>
              <a:t>Modèle de type </a:t>
            </a:r>
            <a:r>
              <a:rPr lang="fr-FR" dirty="0" err="1"/>
              <a:t>kNN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2833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668087-C8DE-6A25-0AA4-F90B26CC5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Vectorisation du prompt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057943-4732-2ED9-0DC9-5BEC8E4C1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prompt est également vectorisé</a:t>
            </a:r>
          </a:p>
          <a:p>
            <a:pPr lvl="1"/>
            <a:r>
              <a:rPr lang="fr-FR" dirty="0"/>
              <a:t>En direct</a:t>
            </a:r>
          </a:p>
          <a:p>
            <a:pPr lvl="1"/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C7B48EC3-7F9D-3911-A42B-AF4DBB490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600209"/>
            <a:ext cx="7478169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721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altLang="fr-FR" dirty="0" err="1"/>
              <a:t>Nearest</a:t>
            </a:r>
            <a:r>
              <a:rPr lang="fr-FR" altLang="fr-FR" dirty="0"/>
              <a:t> Neighbors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k-NN est le diminutif de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r>
              <a:rPr lang="fr-FR" dirty="0"/>
              <a:t>C’est un algorithme qui peut servir autant pour la classification que la régression</a:t>
            </a:r>
          </a:p>
          <a:p>
            <a:r>
              <a:rPr lang="fr-FR" dirty="0"/>
              <a:t>Son principe est de choisir les k données les plus proches du point étudié afin d’en prédire sa valeur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986054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Explication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Quelle est la classe de la nouvelle données (en blanc) ?</a:t>
            </a:r>
          </a:p>
          <a:p>
            <a:pPr marL="0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1028" name="Picture 4" descr="le point blanc est une nouvelle entré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276872"/>
            <a:ext cx="5112568" cy="350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06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knn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Nous allons regarder la distance avec les k voisins les plus proches</a:t>
            </a:r>
          </a:p>
          <a:p>
            <a:pPr lvl="1"/>
            <a:r>
              <a:rPr lang="fr-FR" dirty="0"/>
              <a:t>Ici 5</a:t>
            </a:r>
          </a:p>
          <a:p>
            <a:pPr lvl="1"/>
            <a:r>
              <a:rPr lang="fr-FR" dirty="0"/>
              <a:t>Rouge</a:t>
            </a:r>
          </a:p>
        </p:txBody>
      </p:sp>
      <p:pic>
        <p:nvPicPr>
          <p:cNvPr id="2050" name="Picture 2" descr="les 5 points les plus proches du point que l'on cherche à class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3768" y="2564904"/>
            <a:ext cx="5256584" cy="36060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8754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Algorithmes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Il existe plusieurs algorithmes </a:t>
            </a:r>
            <a:r>
              <a:rPr lang="fr-FR" sz="2400" dirty="0" err="1"/>
              <a:t>knn</a:t>
            </a:r>
            <a:endParaRPr lang="fr-FR" sz="2400" dirty="0"/>
          </a:p>
          <a:p>
            <a:r>
              <a:rPr lang="fr-FR" sz="2400" dirty="0"/>
              <a:t>Brute Force</a:t>
            </a:r>
          </a:p>
          <a:p>
            <a:pPr lvl="1"/>
            <a:r>
              <a:rPr lang="fr-FR" sz="2000" dirty="0"/>
              <a:t>Etablit la distance entre tous les points</a:t>
            </a:r>
          </a:p>
          <a:p>
            <a:pPr lvl="1"/>
            <a:r>
              <a:rPr lang="fr-FR" sz="2000" dirty="0"/>
              <a:t>Très bon, mais très couteux pour les gros </a:t>
            </a:r>
            <a:r>
              <a:rPr lang="fr-FR" sz="2000" dirty="0" err="1"/>
              <a:t>datasets</a:t>
            </a:r>
            <a:endParaRPr lang="fr-FR" sz="2000" dirty="0"/>
          </a:p>
          <a:p>
            <a:pPr lvl="1"/>
            <a:r>
              <a:rPr lang="fr-FR" sz="2000" dirty="0"/>
              <a:t>O(n²)</a:t>
            </a:r>
          </a:p>
          <a:p>
            <a:r>
              <a:rPr lang="fr-FR" sz="2400" dirty="0" err="1"/>
              <a:t>KDTree</a:t>
            </a:r>
            <a:endParaRPr lang="fr-FR" sz="2400" dirty="0"/>
          </a:p>
          <a:p>
            <a:pPr lvl="1"/>
            <a:r>
              <a:rPr lang="fr-FR" sz="2000" dirty="0"/>
              <a:t>Elimine des distances</a:t>
            </a:r>
          </a:p>
          <a:p>
            <a:pPr lvl="1"/>
            <a:r>
              <a:rPr lang="fr-FR" sz="2000" dirty="0"/>
              <a:t>Si A est loin de B et B proche de C alors A est loin de C</a:t>
            </a:r>
          </a:p>
          <a:p>
            <a:pPr lvl="1"/>
            <a:r>
              <a:rPr lang="fr-FR" sz="2000" dirty="0"/>
              <a:t>O(n.log(n))</a:t>
            </a:r>
          </a:p>
          <a:p>
            <a:r>
              <a:rPr lang="fr-FR" sz="2400" dirty="0" err="1"/>
              <a:t>BallTree</a:t>
            </a:r>
            <a:endParaRPr lang="fr-FR" sz="2400" dirty="0"/>
          </a:p>
          <a:p>
            <a:pPr lvl="1"/>
            <a:r>
              <a:rPr lang="fr-FR" sz="2000" dirty="0"/>
              <a:t>Sépare les données en partitions</a:t>
            </a:r>
          </a:p>
          <a:p>
            <a:pPr lvl="1"/>
            <a:r>
              <a:rPr lang="fr-FR" sz="2000" dirty="0"/>
              <a:t>Peut être très efficace ou très </a:t>
            </a:r>
            <a:r>
              <a:rPr lang="fr-FR" sz="2000" dirty="0" err="1"/>
              <a:t>inneficace</a:t>
            </a:r>
            <a:endParaRPr lang="fr-FR" sz="2000" dirty="0"/>
          </a:p>
          <a:p>
            <a:r>
              <a:rPr lang="fr-FR" sz="2400" dirty="0"/>
              <a:t>Par défaut </a:t>
            </a:r>
            <a:r>
              <a:rPr lang="fr-FR" sz="2400" dirty="0" err="1"/>
              <a:t>sklearn</a:t>
            </a:r>
            <a:r>
              <a:rPr lang="fr-FR" sz="2400" dirty="0"/>
              <a:t> essaie de choisir le meilleur</a:t>
            </a:r>
          </a:p>
        </p:txBody>
      </p:sp>
    </p:spTree>
    <p:extLst>
      <p:ext uri="{BB962C8B-B14F-4D97-AF65-F5344CB8AC3E}">
        <p14:creationId xmlns:p14="http://schemas.microsoft.com/office/powerpoint/2010/main" val="34628042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sklearn.neighbors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</a:t>
            </a:r>
            <a:endParaRPr lang="fr-FR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model =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nn.KNeighborsClassifier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n_neighbors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=3)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model.fit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ytrain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model.score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xtest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fr-FR" dirty="0" err="1">
                <a:latin typeface="Courier New" panose="02070309020205020404" pitchFamily="49" charset="0"/>
                <a:cs typeface="Courier New" panose="02070309020205020404" pitchFamily="49" charset="0"/>
              </a:rPr>
              <a:t>ytest</a:t>
            </a:r>
            <a:r>
              <a:rPr lang="fr-FR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16915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Problème détecté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5256584" cy="5040560"/>
          </a:xfrm>
        </p:spPr>
        <p:txBody>
          <a:bodyPr/>
          <a:lstStyle/>
          <a:p>
            <a:r>
              <a:rPr lang="fr-FR" dirty="0"/>
              <a:t>Si k est trop faible nous obtenons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Nous aurions préféré</a:t>
            </a:r>
          </a:p>
          <a:p>
            <a:pPr lvl="1"/>
            <a:r>
              <a:rPr lang="fr-FR" dirty="0"/>
              <a:t>Pour cela nous sommes passé à k=5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1026" name="Picture 2" descr="Les zones désignées par les flèches ne vont pas être bien classée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1149225"/>
            <a:ext cx="3233978" cy="2207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assifieur 5-nn sur le même jeu de données, beaucoup plus efficac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593" y="3415634"/>
            <a:ext cx="3156313" cy="215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1369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Biais vs Variance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3" y="1412776"/>
            <a:ext cx="8838058" cy="5040560"/>
          </a:xfrm>
        </p:spPr>
        <p:txBody>
          <a:bodyPr/>
          <a:lstStyle/>
          <a:p>
            <a:r>
              <a:rPr lang="fr-FR" dirty="0"/>
              <a:t>Avec k=5 notre modèle est plus indépendant du training set</a:t>
            </a:r>
          </a:p>
          <a:p>
            <a:pPr lvl="1"/>
            <a:r>
              <a:rPr lang="fr-FR" dirty="0"/>
              <a:t>Nous avons augmenté la variance</a:t>
            </a:r>
          </a:p>
          <a:p>
            <a:pPr lvl="1"/>
            <a:r>
              <a:rPr lang="fr-FR" dirty="0"/>
              <a:t>Cependant plus k est grand plus l’erreur sera grande</a:t>
            </a:r>
          </a:p>
          <a:p>
            <a:pPr lvl="1"/>
            <a:r>
              <a:rPr lang="fr-FR" dirty="0"/>
              <a:t>Nous avons introduit un biais</a:t>
            </a:r>
          </a:p>
          <a:p>
            <a:r>
              <a:rPr lang="fr-FR" dirty="0"/>
              <a:t>Avec k=1 la variance sera plus faible, l’erreur également</a:t>
            </a:r>
          </a:p>
          <a:p>
            <a:r>
              <a:rPr lang="fr-FR" dirty="0"/>
              <a:t>Par exemple pour k=12 </a:t>
            </a:r>
          </a:p>
          <a:p>
            <a:pPr lvl="1"/>
            <a:r>
              <a:rPr lang="fr-FR" dirty="0"/>
              <a:t>Le biais est énorme</a:t>
            </a:r>
          </a:p>
          <a:p>
            <a:endParaRPr lang="fr-FR" dirty="0"/>
          </a:p>
        </p:txBody>
      </p:sp>
      <p:pic>
        <p:nvPicPr>
          <p:cNvPr id="2050" name="Picture 2" descr="Parce qu'on a choisi un k trop grand, la zone de classification est trop lisse par rapport à la complexité du modè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4" y="4149448"/>
            <a:ext cx="3995936" cy="2743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22675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Décomposition </a:t>
            </a:r>
            <a:r>
              <a:rPr lang="fr-FR"/>
              <a:t>de l’erreur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L’erreur peut s’écrire</a:t>
            </a:r>
          </a:p>
          <a:p>
            <a:r>
              <a:rPr lang="fr-FR" dirty="0" err="1"/>
              <a:t>Err</a:t>
            </a:r>
            <a:r>
              <a:rPr lang="fr-FR" dirty="0"/>
              <a:t>(x</a:t>
            </a:r>
            <a:r>
              <a:rPr lang="fr-FR"/>
              <a:t>)=Biais²+Variance+Erreur </a:t>
            </a:r>
            <a:r>
              <a:rPr lang="fr-FR" dirty="0"/>
              <a:t>Irréductible</a:t>
            </a:r>
          </a:p>
          <a:p>
            <a:endParaRPr lang="fr-FR" dirty="0"/>
          </a:p>
        </p:txBody>
      </p:sp>
      <p:pic>
        <p:nvPicPr>
          <p:cNvPr id="3074" name="Picture 2" descr="On cherche à se placer au minimum de l'erreur total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2780928"/>
            <a:ext cx="5256584" cy="330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044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88D71-EB7F-3E7C-C95B-3917194CFD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027C64-0046-5A20-A35B-071B14E621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retrieval</a:t>
            </a:r>
            <a:r>
              <a:rPr lang="fr-FR" dirty="0"/>
              <a:t> consiste à parcourir la BD de vecteurs pour trouver les vecteurs les plus proche du prompt</a:t>
            </a:r>
          </a:p>
          <a:p>
            <a:pPr lvl="1"/>
            <a:r>
              <a:rPr lang="fr-FR" dirty="0"/>
              <a:t>Modèle </a:t>
            </a:r>
            <a:r>
              <a:rPr lang="fr-FR" dirty="0" err="1"/>
              <a:t>kNN</a:t>
            </a:r>
            <a:r>
              <a:rPr lang="fr-FR" dirty="0"/>
              <a:t> : k </a:t>
            </a:r>
            <a:r>
              <a:rPr lang="fr-FR" dirty="0" err="1"/>
              <a:t>Nearest</a:t>
            </a:r>
            <a:r>
              <a:rPr lang="fr-FR" dirty="0"/>
              <a:t> Neighbors</a:t>
            </a:r>
          </a:p>
          <a:p>
            <a:pPr lvl="1"/>
            <a:r>
              <a:rPr lang="fr-FR" dirty="0"/>
              <a:t>Framework </a:t>
            </a:r>
            <a:r>
              <a:rPr lang="fr-FR" dirty="0" err="1"/>
              <a:t>Scikit-learn</a:t>
            </a:r>
            <a:r>
              <a:rPr lang="fr-FR" dirty="0"/>
              <a:t> ou </a:t>
            </a:r>
            <a:r>
              <a:rPr lang="fr-FR" dirty="0" err="1"/>
              <a:t>np.vstack</a:t>
            </a:r>
            <a:endParaRPr lang="fr-FR" dirty="0"/>
          </a:p>
          <a:p>
            <a:pPr lvl="1"/>
            <a:r>
              <a:rPr lang="fr-FR" dirty="0"/>
              <a:t>Nécessite d'être rapide</a:t>
            </a:r>
          </a:p>
          <a:p>
            <a:pPr lvl="1"/>
            <a:r>
              <a:rPr lang="fr-FR" dirty="0"/>
              <a:t>GPU recommandé</a:t>
            </a:r>
          </a:p>
          <a:p>
            <a:pPr lvl="1"/>
            <a:r>
              <a:rPr lang="fr-FR" dirty="0"/>
              <a:t>k varie de 1 à quelques dizaines</a:t>
            </a:r>
          </a:p>
          <a:p>
            <a:r>
              <a:rPr lang="fr-FR" dirty="0"/>
              <a:t>Le </a:t>
            </a:r>
            <a:r>
              <a:rPr lang="fr-FR"/>
              <a:t>Retrieval</a:t>
            </a:r>
            <a:r>
              <a:rPr lang="fr-FR" dirty="0"/>
              <a:t> retourne donc une liste de vecteurs triés avec les scores</a:t>
            </a:r>
          </a:p>
        </p:txBody>
      </p:sp>
    </p:spTree>
    <p:extLst>
      <p:ext uri="{BB962C8B-B14F-4D97-AF65-F5344CB8AC3E}">
        <p14:creationId xmlns:p14="http://schemas.microsoft.com/office/powerpoint/2010/main" val="42468856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9F7A1D-2A5D-7D9E-E291-8F22C715F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5A74C8-3A91-4851-F6C5-F9869F199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retrieval_diagram">
            <a:extLst>
              <a:ext uri="{FF2B5EF4-FFF2-40B4-BE49-F238E27FC236}">
                <a16:creationId xmlns:a16="http://schemas.microsoft.com/office/drawing/2014/main" id="{6F697095-20DB-B2E2-FF98-8E4CA9C4BC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82675"/>
            <a:ext cx="9144000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64723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0A45055-9DC2-9613-FA9F-8234BE282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Scores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F520CE-9D9F-1351-0554-264AB6E8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meilleurs vecteurs sont retournés</a:t>
            </a:r>
          </a:p>
          <a:p>
            <a:pPr lvl="1"/>
            <a:r>
              <a:rPr lang="fr-FR" dirty="0"/>
              <a:t>Triés par score</a:t>
            </a:r>
          </a:p>
          <a:p>
            <a:pPr lvl="1"/>
            <a:r>
              <a:rPr lang="en-US" dirty="0" err="1"/>
              <a:t>cosine_similarity</a:t>
            </a:r>
            <a:r>
              <a:rPr lang="en-US" dirty="0"/>
              <a:t>(</a:t>
            </a:r>
            <a:r>
              <a:rPr lang="en-US" dirty="0" err="1"/>
              <a:t>query_embedding</a:t>
            </a:r>
            <a:r>
              <a:rPr lang="en-US" dirty="0"/>
              <a:t>, </a:t>
            </a:r>
            <a:r>
              <a:rPr lang="en-US" dirty="0" err="1"/>
              <a:t>np.vstack</a:t>
            </a:r>
            <a:r>
              <a:rPr lang="en-US" dirty="0"/>
              <a:t>(embeddings))</a:t>
            </a:r>
            <a:endParaRPr lang="fr-FR" dirty="0"/>
          </a:p>
          <a:p>
            <a:pPr lvl="1"/>
            <a:r>
              <a:rPr lang="fr-FR" dirty="0"/>
              <a:t>Très rapide</a:t>
            </a:r>
          </a:p>
          <a:p>
            <a:r>
              <a:rPr lang="fr-FR" dirty="0"/>
              <a:t>Gestion de la précision de la réponse</a:t>
            </a:r>
          </a:p>
          <a:p>
            <a:r>
              <a:rPr lang="fr-FR" dirty="0"/>
              <a:t>Meilleure gestion des hallucinations</a:t>
            </a:r>
          </a:p>
          <a:p>
            <a:pPr lvl="1"/>
            <a:r>
              <a:rPr lang="fr-FR" dirty="0"/>
              <a:t>Si le meilleurs score est trop faible</a:t>
            </a:r>
          </a:p>
          <a:p>
            <a:pPr lvl="1"/>
            <a:r>
              <a:rPr lang="fr-FR" dirty="0"/>
              <a:t>Je ne sais pas !</a:t>
            </a:r>
          </a:p>
        </p:txBody>
      </p:sp>
    </p:spTree>
    <p:extLst>
      <p:ext uri="{BB962C8B-B14F-4D97-AF65-F5344CB8AC3E}">
        <p14:creationId xmlns:p14="http://schemas.microsoft.com/office/powerpoint/2010/main" val="34790728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6C4528-6434-5246-DFDF-4078515CC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r>
              <a:rPr lang="fr-FR" dirty="0"/>
              <a:t> léger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A9C0E3-7DD2-4637-5C63-6E31DD6E5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Récupération des </a:t>
            </a:r>
            <a:r>
              <a:rPr lang="fr-FR" dirty="0" err="1"/>
              <a:t>métadata</a:t>
            </a:r>
            <a:endParaRPr lang="fr-FR" dirty="0"/>
          </a:p>
          <a:p>
            <a:pPr lvl="1"/>
            <a:r>
              <a:rPr lang="fr-FR" dirty="0"/>
              <a:t>Récupération du </a:t>
            </a:r>
            <a:r>
              <a:rPr lang="fr-FR" dirty="0" err="1"/>
              <a:t>chunk</a:t>
            </a:r>
            <a:endParaRPr lang="fr-FR" dirty="0"/>
          </a:p>
          <a:p>
            <a:pPr lvl="1"/>
            <a:r>
              <a:rPr lang="fr-FR" dirty="0"/>
              <a:t>Pas de LLM</a:t>
            </a:r>
          </a:p>
          <a:p>
            <a:r>
              <a:rPr lang="fr-FR" dirty="0"/>
              <a:t>Cas d'utilisation</a:t>
            </a:r>
          </a:p>
          <a:p>
            <a:pPr lvl="1"/>
            <a:r>
              <a:rPr lang="fr-FR" dirty="0" err="1"/>
              <a:t>Chatbot</a:t>
            </a:r>
            <a:endParaRPr lang="fr-FR" dirty="0"/>
          </a:p>
          <a:p>
            <a:pPr lvl="1"/>
            <a:r>
              <a:rPr lang="fr-FR" dirty="0"/>
              <a:t>Moteur de recherche</a:t>
            </a:r>
          </a:p>
        </p:txBody>
      </p:sp>
    </p:spTree>
    <p:extLst>
      <p:ext uri="{BB962C8B-B14F-4D97-AF65-F5344CB8AC3E}">
        <p14:creationId xmlns:p14="http://schemas.microsoft.com/office/powerpoint/2010/main" val="1345439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9C2F40-ACAB-B971-D53F-3C1202E61A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Retrieval</a:t>
            </a:r>
            <a:r>
              <a:rPr lang="fr-FR" dirty="0"/>
              <a:t> augmenté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F82241C-6832-F692-4788-C7F567F39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retrouver les </a:t>
            </a:r>
            <a:r>
              <a:rPr lang="fr-FR" dirty="0" err="1"/>
              <a:t>chunks</a:t>
            </a:r>
            <a:r>
              <a:rPr lang="fr-FR" dirty="0"/>
              <a:t> et de les réinjecter dans le prompt du LLM</a:t>
            </a:r>
          </a:p>
          <a:p>
            <a:pPr lvl="1"/>
            <a:r>
              <a:rPr lang="fr-FR" dirty="0"/>
              <a:t>Retour d'une réponse augmentée</a:t>
            </a:r>
          </a:p>
          <a:p>
            <a:pPr lvl="1"/>
            <a:r>
              <a:rPr lang="fr-FR" dirty="0"/>
              <a:t>Dépendant du k de </a:t>
            </a:r>
            <a:r>
              <a:rPr lang="fr-FR" dirty="0" err="1"/>
              <a:t>kNN</a:t>
            </a:r>
            <a:endParaRPr lang="fr-FR" dirty="0"/>
          </a:p>
          <a:p>
            <a:r>
              <a:rPr lang="fr-FR" dirty="0"/>
              <a:t>Combien prendre de k?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790E74C-C14F-98D0-9501-2579DAEA16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56" y="2842857"/>
            <a:ext cx="1933845" cy="361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285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2EFD8E-4F0C-FFFF-6162-D6838C8A6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Injection des </a:t>
            </a:r>
            <a:r>
              <a:rPr lang="fr-FR" dirty="0" err="1"/>
              <a:t>embeddings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CD3A8AA-C390-0049-CA52-388642CBBD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vecteurs sont plus légers que les documents originels</a:t>
            </a:r>
          </a:p>
          <a:p>
            <a:pPr lvl="1"/>
            <a:r>
              <a:rPr lang="fr-FR" dirty="0"/>
              <a:t>Plutôt que de réinjecter les </a:t>
            </a:r>
            <a:r>
              <a:rPr lang="fr-FR" dirty="0" err="1"/>
              <a:t>chunks</a:t>
            </a:r>
            <a:r>
              <a:rPr lang="fr-FR" dirty="0"/>
              <a:t> dans le prompt il est possible de réinjecter directement les vecteurs</a:t>
            </a:r>
          </a:p>
          <a:p>
            <a:pPr lvl="1"/>
            <a:r>
              <a:rPr lang="fr-FR" dirty="0"/>
              <a:t>Nécessite d'être </a:t>
            </a:r>
            <a:r>
              <a:rPr lang="fr-FR" dirty="0" err="1"/>
              <a:t>embedder</a:t>
            </a:r>
            <a:r>
              <a:rPr lang="fr-FR" dirty="0"/>
              <a:t> avec un modèle compatible</a:t>
            </a:r>
          </a:p>
          <a:p>
            <a:pPr lvl="1"/>
            <a:r>
              <a:rPr lang="fr-FR" dirty="0"/>
              <a:t>Mistral AI compatible uniquement avec mistral-</a:t>
            </a:r>
            <a:r>
              <a:rPr lang="fr-FR" dirty="0" err="1"/>
              <a:t>embed</a:t>
            </a:r>
            <a:endParaRPr lang="fr-FR" dirty="0"/>
          </a:p>
          <a:p>
            <a:pPr lvl="1"/>
            <a:r>
              <a:rPr lang="fr-FR" dirty="0"/>
              <a:t>Propriétaire à chaque modèle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528268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476E44-BE25-3057-5615-3FE82B3B7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Augmentation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08C0F0-740E-82BB-4F19-7C6C73487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vecteurs injectés représentent le contexte du LLM</a:t>
            </a:r>
          </a:p>
          <a:p>
            <a:r>
              <a:rPr lang="fr-FR" dirty="0"/>
              <a:t>La réponse du LLM est </a:t>
            </a:r>
            <a:r>
              <a:rPr lang="fr-FR"/>
              <a:t>une augmentation</a:t>
            </a:r>
          </a:p>
        </p:txBody>
      </p:sp>
    </p:spTree>
    <p:extLst>
      <p:ext uri="{BB962C8B-B14F-4D97-AF65-F5344CB8AC3E}">
        <p14:creationId xmlns:p14="http://schemas.microsoft.com/office/powerpoint/2010/main" val="3990228214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3426</TotalTime>
  <Words>564</Words>
  <Application>Microsoft Office PowerPoint</Application>
  <PresentationFormat>Affichage à l'écran (4:3)</PresentationFormat>
  <Paragraphs>104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4" baseType="lpstr">
      <vt:lpstr>Arial</vt:lpstr>
      <vt:lpstr>Courier New</vt:lpstr>
      <vt:lpstr>Monotype Sorts</vt:lpstr>
      <vt:lpstr>Times New Roman</vt:lpstr>
      <vt:lpstr>cvc</vt:lpstr>
      <vt:lpstr>Présentation PowerPoint</vt:lpstr>
      <vt:lpstr>Architecture</vt:lpstr>
      <vt:lpstr>Calcul des distances</vt:lpstr>
      <vt:lpstr>Vectorisation du prompt</vt:lpstr>
      <vt:lpstr>Nearest Neighbors</vt:lpstr>
      <vt:lpstr>Explication</vt:lpstr>
      <vt:lpstr>knn</vt:lpstr>
      <vt:lpstr>Algorithmes</vt:lpstr>
      <vt:lpstr>Modèle</vt:lpstr>
      <vt:lpstr>Problème détecté</vt:lpstr>
      <vt:lpstr>Biais vs Variance</vt:lpstr>
      <vt:lpstr>Décomposition de l’erreur</vt:lpstr>
      <vt:lpstr>Retrieval</vt:lpstr>
      <vt:lpstr>Présentation PowerPoint</vt:lpstr>
      <vt:lpstr>Scores</vt:lpstr>
      <vt:lpstr>Retrieval léger</vt:lpstr>
      <vt:lpstr>Retrieval augmenté</vt:lpstr>
      <vt:lpstr>Injection des embeddings</vt:lpstr>
      <vt:lpstr>Augmentation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268</cp:revision>
  <dcterms:created xsi:type="dcterms:W3CDTF">2000-04-10T19:33:12Z</dcterms:created>
  <dcterms:modified xsi:type="dcterms:W3CDTF">2025-10-17T15:30:58Z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