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3" r:id="rId1"/>
  </p:sldMasterIdLst>
  <p:notesMasterIdLst>
    <p:notesMasterId r:id="rId8"/>
  </p:notesMasterIdLst>
  <p:handoutMasterIdLst>
    <p:handoutMasterId r:id="rId9"/>
  </p:handoutMasterIdLst>
  <p:sldIdLst>
    <p:sldId id="264" r:id="rId2"/>
    <p:sldId id="272" r:id="rId3"/>
    <p:sldId id="280" r:id="rId4"/>
    <p:sldId id="283" r:id="rId5"/>
    <p:sldId id="284" r:id="rId6"/>
    <p:sldId id="279" r:id="rId7"/>
  </p:sldIdLst>
  <p:sldSz cx="9144000" cy="6858000" type="screen4x3"/>
  <p:notesSz cx="6648450" cy="9782175"/>
  <p:defaultTextStyle>
    <a:defPPr>
      <a:defRPr lang="fr-FR"/>
    </a:defPPr>
    <a:lvl1pPr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081">
          <p15:clr>
            <a:srgbClr val="A4A3A4"/>
          </p15:clr>
        </p15:guide>
        <p15:guide id="2" pos="2094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34" autoAdjust="0"/>
    <p:restoredTop sz="94590" autoAdjust="0"/>
  </p:normalViewPr>
  <p:slideViewPr>
    <p:cSldViewPr>
      <p:cViewPr varScale="1">
        <p:scale>
          <a:sx n="63" d="100"/>
          <a:sy n="63" d="100"/>
        </p:scale>
        <p:origin x="1590" y="28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6918"/>
    </p:cViewPr>
  </p:sorterViewPr>
  <p:notesViewPr>
    <p:cSldViewPr>
      <p:cViewPr>
        <p:scale>
          <a:sx n="100" d="100"/>
          <a:sy n="100" d="100"/>
        </p:scale>
        <p:origin x="-924" y="2430"/>
      </p:cViewPr>
      <p:guideLst>
        <p:guide orient="horz" pos="3081"/>
        <p:guide pos="2094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7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5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767138" y="0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algn="r"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6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293225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7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767138" y="9293225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algn="r" defTabSz="912813">
              <a:defRPr sz="1000">
                <a:latin typeface="Arial" charset="0"/>
              </a:defRPr>
            </a:lvl1pPr>
          </a:lstStyle>
          <a:p>
            <a:pPr>
              <a:defRPr/>
            </a:pPr>
            <a:fld id="{05A6847E-ECD8-4888-9A6C-CBE85B378C12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9439950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5603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767138" y="0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algn="r"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1508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876300" y="733425"/>
            <a:ext cx="4895850" cy="36703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25605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379413" y="4646613"/>
            <a:ext cx="5851525" cy="44021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noProof="0"/>
              <a:t>Cliquez pour modifier les styles du texte du masque</a:t>
            </a:r>
          </a:p>
          <a:p>
            <a:pPr lvl="1"/>
            <a:r>
              <a:rPr lang="fr-FR" noProof="0"/>
              <a:t>Deuxième niveau</a:t>
            </a:r>
          </a:p>
          <a:p>
            <a:pPr lvl="2"/>
            <a:r>
              <a:rPr lang="fr-FR" noProof="0"/>
              <a:t>Troisième niveau</a:t>
            </a:r>
          </a:p>
          <a:p>
            <a:pPr lvl="3"/>
            <a:r>
              <a:rPr lang="fr-FR" noProof="0"/>
              <a:t>Quatrième niveau</a:t>
            </a:r>
          </a:p>
          <a:p>
            <a:pPr lvl="4"/>
            <a:r>
              <a:rPr lang="fr-FR" noProof="0"/>
              <a:t>Cinquième niveau</a:t>
            </a:r>
          </a:p>
        </p:txBody>
      </p:sp>
      <p:sp>
        <p:nvSpPr>
          <p:cNvPr id="25606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293225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defTabSz="912813">
              <a:defRPr sz="800">
                <a:latin typeface="Arial" charset="0"/>
              </a:defRPr>
            </a:lvl1pPr>
          </a:lstStyle>
          <a:p>
            <a:pPr>
              <a:defRPr/>
            </a:pPr>
            <a:r>
              <a:rPr lang="fr-FR"/>
              <a:t>© HANDSHAKE - Philippe MASINA</a:t>
            </a:r>
          </a:p>
        </p:txBody>
      </p:sp>
      <p:sp>
        <p:nvSpPr>
          <p:cNvPr id="25607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767138" y="9293225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algn="r" defTabSz="912813">
              <a:defRPr sz="800">
                <a:latin typeface="Arial" charset="0"/>
              </a:defRPr>
            </a:lvl1pPr>
          </a:lstStyle>
          <a:p>
            <a:pPr>
              <a:defRPr/>
            </a:pPr>
            <a:r>
              <a:rPr lang="fr-FR"/>
              <a:t>I-</a:t>
            </a:r>
            <a:fld id="{88B410AF-14E7-4D87-8C8E-6E377E0C2388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00224585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fr-FR"/>
              <a:t>Cliquez pour modifier le style des sous-titres du masque</a:t>
            </a:r>
          </a:p>
        </p:txBody>
      </p:sp>
    </p:spTree>
    <p:extLst>
      <p:ext uri="{BB962C8B-B14F-4D97-AF65-F5344CB8AC3E}">
        <p14:creationId xmlns:p14="http://schemas.microsoft.com/office/powerpoint/2010/main" val="21189135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187624" y="13209"/>
            <a:ext cx="7829947" cy="1143000"/>
          </a:xfrm>
        </p:spPr>
        <p:txBody>
          <a:bodyPr/>
          <a:lstStyle>
            <a:lvl1pPr>
              <a:defRPr sz="3200"/>
            </a:lvl1pPr>
          </a:lstStyle>
          <a:p>
            <a:r>
              <a:rPr lang="fr-FR" dirty="0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79512" y="1412776"/>
            <a:ext cx="8766051" cy="5040560"/>
          </a:xfrm>
        </p:spPr>
        <p:txBody>
          <a:bodyPr/>
          <a:lstStyle/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0103424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1173163" y="1981200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135563" y="1981200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38927567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5688189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</p:spTree>
    <p:extLst>
      <p:ext uri="{BB962C8B-B14F-4D97-AF65-F5344CB8AC3E}">
        <p14:creationId xmlns:p14="http://schemas.microsoft.com/office/powerpoint/2010/main" val="36642865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806200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28558998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23719346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42549468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7002463" y="457200"/>
            <a:ext cx="1943100" cy="5638800"/>
          </a:xfrm>
        </p:spPr>
        <p:txBody>
          <a:bodyPr vert="eaVert"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1173163" y="457200"/>
            <a:ext cx="5676900" cy="5638800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27167171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ChangeArrowheads="1"/>
          </p:cNvSpPr>
          <p:nvPr/>
        </p:nvSpPr>
        <p:spPr bwMode="auto">
          <a:xfrm>
            <a:off x="0" y="6477000"/>
            <a:ext cx="9144000" cy="76200"/>
          </a:xfrm>
          <a:prstGeom prst="rect">
            <a:avLst/>
          </a:prstGeom>
          <a:solidFill>
            <a:srgbClr val="FF66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defRPr/>
            </a:pPr>
            <a:endParaRPr lang="fr-FR" altLang="fr-FR"/>
          </a:p>
        </p:txBody>
      </p:sp>
      <p:sp>
        <p:nvSpPr>
          <p:cNvPr id="1027" name="Text Box 3"/>
          <p:cNvSpPr txBox="1">
            <a:spLocks noChangeArrowheads="1"/>
          </p:cNvSpPr>
          <p:nvPr/>
        </p:nvSpPr>
        <p:spPr bwMode="auto">
          <a:xfrm>
            <a:off x="6934200" y="6553200"/>
            <a:ext cx="121920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lang="fr-FR" sz="1200" dirty="0"/>
              <a:t>Page </a:t>
            </a:r>
            <a:fld id="{E218E9B1-FD08-4C80-902E-210BA2967D0D}" type="slidenum">
              <a:rPr lang="fr-FR" sz="1200" smtClean="0"/>
              <a:pPr>
                <a:spcBef>
                  <a:spcPct val="50000"/>
                </a:spcBef>
                <a:defRPr/>
              </a:pPr>
              <a:t>‹N°›</a:t>
            </a:fld>
            <a:endParaRPr lang="fr-FR" dirty="0">
              <a:latin typeface="Times New Roman" pitchFamily="18" charset="0"/>
            </a:endParaRPr>
          </a:p>
        </p:txBody>
      </p:sp>
      <p:sp>
        <p:nvSpPr>
          <p:cNvPr id="1028" name="Text Box 4"/>
          <p:cNvSpPr txBox="1">
            <a:spLocks noChangeArrowheads="1"/>
          </p:cNvSpPr>
          <p:nvPr/>
        </p:nvSpPr>
        <p:spPr bwMode="auto">
          <a:xfrm>
            <a:off x="2209800" y="6553200"/>
            <a:ext cx="47244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algn="ctr">
              <a:spcBef>
                <a:spcPct val="50000"/>
              </a:spcBef>
              <a:defRPr/>
            </a:pPr>
            <a:r>
              <a:rPr lang="fr-FR" sz="1600"/>
              <a:t>LLM</a:t>
            </a:r>
            <a:endParaRPr lang="fr-FR" dirty="0">
              <a:latin typeface="Times New Roman" pitchFamily="18" charset="0"/>
            </a:endParaRPr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title"/>
          </p:nvPr>
        </p:nvSpPr>
        <p:spPr bwMode="auto">
          <a:xfrm>
            <a:off x="1177925" y="0"/>
            <a:ext cx="77724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Cliquez pour modifier le style du titre du masque</a:t>
            </a:r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body" idx="1"/>
          </p:nvPr>
        </p:nvSpPr>
        <p:spPr bwMode="auto">
          <a:xfrm>
            <a:off x="179388" y="1196975"/>
            <a:ext cx="8766175" cy="5280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Cliquez pour modifier les styles du texte du masque</a:t>
            </a:r>
          </a:p>
          <a:p>
            <a:pPr lvl="1"/>
            <a:r>
              <a:rPr lang="fr-FR" altLang="fr-FR"/>
              <a:t>Deuxième niveau</a:t>
            </a:r>
          </a:p>
          <a:p>
            <a:pPr lvl="2"/>
            <a:r>
              <a:rPr lang="fr-FR" altLang="fr-FR"/>
              <a:t>Troisième niveau</a:t>
            </a:r>
          </a:p>
          <a:p>
            <a:pPr lvl="3"/>
            <a:r>
              <a:rPr lang="fr-FR" altLang="fr-FR"/>
              <a:t>Quatrième niveau</a:t>
            </a:r>
          </a:p>
          <a:p>
            <a:pPr lvl="4"/>
            <a:r>
              <a:rPr lang="fr-FR" altLang="fr-FR"/>
              <a:t>Cinquième niveau</a:t>
            </a:r>
          </a:p>
        </p:txBody>
      </p:sp>
      <p:sp>
        <p:nvSpPr>
          <p:cNvPr id="1031" name="Text Box 7"/>
          <p:cNvSpPr txBox="1">
            <a:spLocks noChangeArrowheads="1"/>
          </p:cNvSpPr>
          <p:nvPr/>
        </p:nvSpPr>
        <p:spPr bwMode="auto">
          <a:xfrm>
            <a:off x="0" y="6521450"/>
            <a:ext cx="342900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lang="fr-FR" sz="1200"/>
              <a:t>© Cyril Vincent Conseil</a:t>
            </a:r>
            <a:endParaRPr lang="fr-FR">
              <a:latin typeface="Times New Roman" pitchFamily="18" charset="0"/>
            </a:endParaRPr>
          </a:p>
        </p:txBody>
      </p:sp>
      <p:pic>
        <p:nvPicPr>
          <p:cNvPr id="1032" name="Picture 8" descr="cartevisite"/>
          <p:cNvPicPr>
            <a:picLocks noChangeAspect="1" noChangeArrowheads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187450" cy="768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4" r:id="rId1"/>
    <p:sldLayoutId id="2147483655" r:id="rId2"/>
    <p:sldLayoutId id="2147483656" r:id="rId3"/>
    <p:sldLayoutId id="2147483657" r:id="rId4"/>
    <p:sldLayoutId id="2147483658" r:id="rId5"/>
    <p:sldLayoutId id="2147483659" r:id="rId6"/>
    <p:sldLayoutId id="2147483660" r:id="rId7"/>
    <p:sldLayoutId id="2147483661" r:id="rId8"/>
    <p:sldLayoutId id="2147483662" r:id="rId9"/>
    <p:sldLayoutId id="2147483663" r:id="rId10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Font typeface="Monotype Sorts" pitchFamily="2" charset="2"/>
        <a:buChar char="o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400">
          <a:solidFill>
            <a:schemeClr val="tx1"/>
          </a:solidFill>
          <a:latin typeface="+mn-lt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+mn-lt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>
          <a:solidFill>
            <a:schemeClr val="tx1"/>
          </a:solidFill>
          <a:latin typeface="+mn-lt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5"/>
          <p:cNvSpPr>
            <a:spLocks noGrp="1" noChangeArrowheads="1"/>
          </p:cNvSpPr>
          <p:nvPr>
            <p:ph type="subTitle" idx="1"/>
          </p:nvPr>
        </p:nvSpPr>
        <p:spPr>
          <a:xfrm>
            <a:off x="1115616" y="5661248"/>
            <a:ext cx="6400800" cy="551554"/>
          </a:xfrm>
        </p:spPr>
        <p:txBody>
          <a:bodyPr/>
          <a:lstStyle/>
          <a:p>
            <a:pPr eaLnBrk="1" hangingPunct="1"/>
            <a:r>
              <a:rPr lang="fr-FR" altLang="fr-FR" dirty="0" err="1"/>
              <a:t>Vector</a:t>
            </a:r>
            <a:r>
              <a:rPr lang="fr-FR" altLang="fr-FR" dirty="0"/>
              <a:t> Stores</a:t>
            </a:r>
          </a:p>
        </p:txBody>
      </p:sp>
      <p:sp>
        <p:nvSpPr>
          <p:cNvPr id="3" name="ZoneTexte 2"/>
          <p:cNvSpPr txBox="1"/>
          <p:nvPr/>
        </p:nvSpPr>
        <p:spPr>
          <a:xfrm>
            <a:off x="2107222" y="1120676"/>
            <a:ext cx="492955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3600" dirty="0"/>
              <a:t>Large </a:t>
            </a:r>
            <a:r>
              <a:rPr lang="fr-FR" sz="3600" dirty="0" err="1"/>
              <a:t>Language</a:t>
            </a:r>
            <a:r>
              <a:rPr lang="fr-FR" sz="3600" dirty="0"/>
              <a:t> Model</a:t>
            </a:r>
          </a:p>
          <a:p>
            <a:pPr algn="ctr"/>
            <a:r>
              <a:rPr lang="fr-FR" sz="3600" dirty="0"/>
              <a:t>RAG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352C0B44-A72F-4C23-DF0D-20BA9F6FF0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0056" y="2852936"/>
            <a:ext cx="3851920" cy="246313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C9C825A-C5F2-B5CC-2204-495E8FE96C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Solidification du </a:t>
            </a:r>
            <a:r>
              <a:rPr lang="fr-FR" dirty="0" err="1"/>
              <a:t>VectorStore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F9F4C30-B2D6-AA07-B2A4-61CC39111D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9513" y="1412776"/>
            <a:ext cx="4392488" cy="5040560"/>
          </a:xfrm>
        </p:spPr>
        <p:txBody>
          <a:bodyPr/>
          <a:lstStyle/>
          <a:p>
            <a:r>
              <a:rPr lang="fr-FR" dirty="0"/>
              <a:t>Par défaut le </a:t>
            </a:r>
            <a:r>
              <a:rPr lang="fr-FR" dirty="0" err="1"/>
              <a:t>VectorStore</a:t>
            </a:r>
            <a:r>
              <a:rPr lang="fr-FR" dirty="0"/>
              <a:t> est en RAM</a:t>
            </a:r>
          </a:p>
          <a:p>
            <a:pPr lvl="1"/>
            <a:r>
              <a:rPr lang="fr-FR" dirty="0"/>
              <a:t>Perte à chaque redémarrage</a:t>
            </a:r>
          </a:p>
          <a:p>
            <a:r>
              <a:rPr lang="fr-FR" dirty="0"/>
              <a:t>Il existe une grande quantité de fournisseur de base de données vectorielles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BF7F762C-ED8D-BF8F-971B-964504E366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1319889"/>
            <a:ext cx="4586199" cy="5551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30331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46EE49E-05ED-4DF6-A7FA-B90623C4D2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PineCone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9638827-88AA-BF92-4E26-8756D909F6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Base de données vectorielle</a:t>
            </a:r>
          </a:p>
          <a:p>
            <a:r>
              <a:rPr lang="fr-FR" dirty="0"/>
              <a:t>SaaS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BB95FABB-4EBA-9A4A-B938-A82865735E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91880" y="1916832"/>
            <a:ext cx="4277322" cy="4153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76277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550AB7B-B7C7-1506-5AA8-49BACC4BFA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FAISS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C7F050F-6391-1DA6-AC41-89A97A7780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Facebook</a:t>
            </a:r>
          </a:p>
          <a:p>
            <a:r>
              <a:rPr lang="fr-FR" dirty="0"/>
              <a:t>Existe un mode CPU</a:t>
            </a:r>
          </a:p>
          <a:p>
            <a:pPr lvl="1"/>
            <a:r>
              <a:rPr lang="fr-FR" dirty="0"/>
              <a:t>FAISS-</a:t>
            </a:r>
            <a:r>
              <a:rPr lang="fr-FR" dirty="0" err="1"/>
              <a:t>cpu</a:t>
            </a:r>
            <a:endParaRPr lang="fr-FR" dirty="0"/>
          </a:p>
          <a:p>
            <a:r>
              <a:rPr lang="fr-FR" dirty="0"/>
              <a:t>Existe en mode GPU</a:t>
            </a:r>
          </a:p>
          <a:p>
            <a:pPr lvl="1"/>
            <a:r>
              <a:rPr lang="fr-FR" dirty="0"/>
              <a:t>Très rapide</a:t>
            </a:r>
          </a:p>
          <a:p>
            <a:pPr lvl="1"/>
            <a:r>
              <a:rPr lang="fr-FR" dirty="0"/>
              <a:t>Nécessite CUDA</a:t>
            </a:r>
          </a:p>
          <a:p>
            <a:pPr lvl="1"/>
            <a:r>
              <a:rPr lang="fr-FR" dirty="0"/>
              <a:t>FAISS-</a:t>
            </a:r>
            <a:r>
              <a:rPr lang="fr-FR" dirty="0" err="1"/>
              <a:t>gpu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1530632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C141F0B-B001-5224-2C93-4B47EC3C6F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FAISS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E4B2C39-7A72-77B9-D2D4-E58A7BC739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496935D6-08C4-4EC3-C336-FE75A877A6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3568" y="2348880"/>
            <a:ext cx="7380333" cy="26040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95216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CFC8610-6FA3-BFCE-68CB-4FC669C884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PgVector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3B9021A-9850-3DEB-85D1-7E65097F23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Base de données de vectorielle</a:t>
            </a:r>
          </a:p>
          <a:p>
            <a:r>
              <a:rPr lang="fr-FR" dirty="0"/>
              <a:t>Nécessaire au-delà de 10M </a:t>
            </a:r>
            <a:r>
              <a:rPr lang="fr-FR" dirty="0" err="1"/>
              <a:t>Chunks</a:t>
            </a:r>
            <a:endParaRPr lang="fr-FR" dirty="0"/>
          </a:p>
          <a:p>
            <a:r>
              <a:rPr lang="fr-FR" dirty="0"/>
              <a:t>Stockage fiable++</a:t>
            </a:r>
          </a:p>
          <a:p>
            <a:r>
              <a:rPr lang="fr-FR" dirty="0"/>
              <a:t>Rapide</a:t>
            </a:r>
          </a:p>
          <a:p>
            <a:r>
              <a:rPr lang="fr-FR" dirty="0"/>
              <a:t>Compatible SQL</a:t>
            </a:r>
          </a:p>
          <a:p>
            <a:pPr lvl="1"/>
            <a:r>
              <a:rPr lang="en-US" sz="2000" dirty="0"/>
              <a:t>SELECT * FROM items ORDER BY embedding &lt;=&gt; '[3,1,2]'</a:t>
            </a:r>
          </a:p>
          <a:p>
            <a:pPr lvl="1"/>
            <a:endParaRPr lang="fr-FR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1BA1D96C-5E17-E21C-FFE5-EC07B1F15D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258" y="4910946"/>
            <a:ext cx="3886742" cy="19338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0733042"/>
      </p:ext>
    </p:extLst>
  </p:cSld>
  <p:clrMapOvr>
    <a:masterClrMapping/>
  </p:clrMapOvr>
</p:sld>
</file>

<file path=ppt/theme/theme1.xml><?xml version="1.0" encoding="utf-8"?>
<a:theme xmlns:a="http://schemas.openxmlformats.org/drawingml/2006/main" name="cvc">
  <a:themeElements>
    <a:clrScheme name="cvc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cvc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bg1"/>
            </a:gs>
          </a:gsLst>
          <a:lin ang="5400000" scaled="1"/>
        </a:gra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bg1"/>
            </a:gs>
          </a:gsLst>
          <a:lin ang="5400000" scaled="1"/>
        </a:gra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</a:objectDefaults>
  <a:extraClrSchemeLst>
    <a:extraClrScheme>
      <a:clrScheme name="cvc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vc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3776</TotalTime>
  <Words>83</Words>
  <Application>Microsoft Office PowerPoint</Application>
  <PresentationFormat>Affichage à l'écran (4:3)</PresentationFormat>
  <Paragraphs>26</Paragraphs>
  <Slides>6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6</vt:i4>
      </vt:variant>
    </vt:vector>
  </HeadingPairs>
  <TitlesOfParts>
    <vt:vector size="10" baseType="lpstr">
      <vt:lpstr>Arial</vt:lpstr>
      <vt:lpstr>Monotype Sorts</vt:lpstr>
      <vt:lpstr>Times New Roman</vt:lpstr>
      <vt:lpstr>cvc</vt:lpstr>
      <vt:lpstr>Présentation PowerPoint</vt:lpstr>
      <vt:lpstr>Solidification du VectorStore</vt:lpstr>
      <vt:lpstr>PineCone</vt:lpstr>
      <vt:lpstr>FAISS</vt:lpstr>
      <vt:lpstr>FAISS</vt:lpstr>
      <vt:lpstr>PgVector</vt:lpstr>
    </vt:vector>
  </TitlesOfParts>
  <Company>jkhjkjkh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Internet</dc:title>
  <dc:creator>jhkhkhkj</dc:creator>
  <cp:lastModifiedBy>Cyril Vincent</cp:lastModifiedBy>
  <cp:revision>283</cp:revision>
  <dcterms:created xsi:type="dcterms:W3CDTF">2000-04-10T19:33:12Z</dcterms:created>
  <dcterms:modified xsi:type="dcterms:W3CDTF">2025-11-14T11:38:29Z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Version">
    <vt:lpwstr>0.1</vt:lpwstr>
  </property>
</Properties>
</file>