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4"/>
  </p:notesMasterIdLst>
  <p:handoutMasterIdLst>
    <p:handoutMasterId r:id="rId15"/>
  </p:handoutMasterIdLst>
  <p:sldIdLst>
    <p:sldId id="264" r:id="rId2"/>
    <p:sldId id="266" r:id="rId3"/>
    <p:sldId id="267" r:id="rId4"/>
    <p:sldId id="268" r:id="rId5"/>
    <p:sldId id="269" r:id="rId6"/>
    <p:sldId id="270" r:id="rId7"/>
    <p:sldId id="272" r:id="rId8"/>
    <p:sldId id="273" r:id="rId9"/>
    <p:sldId id="271" r:id="rId10"/>
    <p:sldId id="274" r:id="rId11"/>
    <p:sldId id="276" r:id="rId12"/>
    <p:sldId id="277" r:id="rId1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ython.langchain.com/docs/integrations/cha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mith.langchain.com/hub/rlm" TargetMode="External"/><Relationship Id="rId2" Type="http://schemas.openxmlformats.org/officeDocument/2006/relationships/hyperlink" Target="https://smith.langchain.com/hu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3FE9463-2A63-4B24-F73F-99D42F07D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892" y="5630483"/>
            <a:ext cx="4050357" cy="691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E7858-6156-07E3-FEA0-C4399620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EF0D1-1A58-DDF2-8773-91AAC044E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Historique 2022</a:t>
            </a:r>
          </a:p>
          <a:p>
            <a:r>
              <a:rPr lang="fr-FR" dirty="0"/>
              <a:t>Très complet</a:t>
            </a:r>
          </a:p>
          <a:p>
            <a:r>
              <a:rPr lang="fr-FR" dirty="0"/>
              <a:t>Facile d'utilisation</a:t>
            </a:r>
          </a:p>
          <a:p>
            <a:r>
              <a:rPr lang="fr-FR" dirty="0"/>
              <a:t>Permet d'automatiser un workflow RAG</a:t>
            </a:r>
          </a:p>
          <a:p>
            <a:pPr lvl="1"/>
            <a:r>
              <a:rPr lang="fr-FR" dirty="0"/>
              <a:t>Chainage</a:t>
            </a:r>
          </a:p>
          <a:p>
            <a:r>
              <a:rPr lang="fr-FR" dirty="0"/>
              <a:t>Compatible Cloud</a:t>
            </a:r>
          </a:p>
          <a:p>
            <a:r>
              <a:rPr lang="fr-FR" dirty="0"/>
              <a:t>Nécessite une clé en mode SaaS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0DA405E-CD0C-8C36-7A7E-086440C7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8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E6F117-33A5-241E-8854-814C80BC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56EF03-696C-DC05-25A8-A1A7D6DD5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LangChain</a:t>
            </a:r>
            <a:r>
              <a:rPr lang="fr-FR" dirty="0"/>
              <a:t> est d'abord une API portable d'accès aux LLM</a:t>
            </a:r>
          </a:p>
          <a:p>
            <a:pPr lvl="1"/>
            <a:r>
              <a:rPr lang="fr-FR" dirty="0" err="1"/>
              <a:t>Refactoring</a:t>
            </a:r>
            <a:r>
              <a:rPr lang="fr-FR" dirty="0"/>
              <a:t> complet en 0.3</a:t>
            </a:r>
          </a:p>
          <a:p>
            <a:r>
              <a:rPr lang="fr-FR" dirty="0" err="1"/>
              <a:t>Langchain_core</a:t>
            </a:r>
            <a:endParaRPr lang="fr-FR" dirty="0"/>
          </a:p>
          <a:p>
            <a:pPr lvl="1"/>
            <a:r>
              <a:rPr lang="fr-FR" dirty="0"/>
              <a:t>Ce qui est commun à tous les LLM</a:t>
            </a:r>
          </a:p>
          <a:p>
            <a:r>
              <a:rPr lang="fr-FR" dirty="0" err="1"/>
              <a:t>Langchain_openai</a:t>
            </a:r>
            <a:endParaRPr lang="fr-FR" dirty="0"/>
          </a:p>
          <a:p>
            <a:pPr lvl="1"/>
            <a:r>
              <a:rPr lang="fr-FR" dirty="0" err="1"/>
              <a:t>OpenAI</a:t>
            </a:r>
            <a:r>
              <a:rPr lang="fr-FR" dirty="0"/>
              <a:t> LLM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langchain</a:t>
            </a:r>
            <a:r>
              <a:rPr lang="fr-FR" dirty="0"/>
              <a:t> </a:t>
            </a:r>
            <a:r>
              <a:rPr lang="fr-FR" dirty="0" err="1"/>
              <a:t>langchain-community</a:t>
            </a:r>
            <a:r>
              <a:rPr lang="fr-FR" dirty="0"/>
              <a:t> </a:t>
            </a:r>
            <a:r>
              <a:rPr lang="fr-FR" dirty="0" err="1"/>
              <a:t>langchain-openai</a:t>
            </a:r>
            <a:endParaRPr lang="fr-FR" dirty="0"/>
          </a:p>
          <a:p>
            <a:r>
              <a:rPr lang="fr-FR" dirty="0" err="1"/>
              <a:t>Langchain_mistral</a:t>
            </a:r>
            <a:endParaRPr lang="fr-FR" dirty="0"/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lanchain-mistralai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900B58A-9A87-2F6B-D103-D5EF264C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8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04BC0-ECF6-DA7A-1B7C-2D6614C55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22689B-360D-1E9E-EE3E-F36245D1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ED6121-E4A4-8FCE-808B-C02BCB6EF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Langchain_google_genai</a:t>
            </a:r>
            <a:endParaRPr lang="fr-FR" dirty="0"/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langchain</a:t>
            </a:r>
            <a:r>
              <a:rPr lang="fr-FR" dirty="0"/>
              <a:t>[google-</a:t>
            </a:r>
            <a:r>
              <a:rPr lang="fr-FR" dirty="0" err="1"/>
              <a:t>genai</a:t>
            </a:r>
            <a:r>
              <a:rPr lang="fr-FR" dirty="0"/>
              <a:t>]</a:t>
            </a:r>
          </a:p>
          <a:p>
            <a:r>
              <a:rPr lang="fr-FR" dirty="0" err="1"/>
              <a:t>Langchain_deepseek</a:t>
            </a:r>
            <a:endParaRPr lang="fr-FR" dirty="0"/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langchain-deepseek</a:t>
            </a:r>
            <a:endParaRPr lang="fr-FR" dirty="0"/>
          </a:p>
          <a:p>
            <a:r>
              <a:rPr lang="fr-FR" dirty="0"/>
              <a:t>Liste des tous les modèles</a:t>
            </a:r>
          </a:p>
          <a:p>
            <a:pPr lvl="1"/>
            <a:r>
              <a:rPr lang="fr-FR" dirty="0">
                <a:hlinkClick r:id="rId2"/>
              </a:rPr>
              <a:t>https://python.langchain.com/docs/integrations/chat/</a:t>
            </a:r>
            <a:endParaRPr lang="fr-FR" dirty="0"/>
          </a:p>
          <a:p>
            <a:pPr lvl="1"/>
            <a:r>
              <a:rPr lang="fr-FR" dirty="0"/>
              <a:t>+</a:t>
            </a:r>
            <a:r>
              <a:rPr lang="fr-FR"/>
              <a:t>80 modèles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1DEC9A-785F-1721-5643-1E2CC9BA2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42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335FD-96A7-E23B-76F2-F030A766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A90892-9923-01CE-FE53-43A91CE6C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Instantiation</a:t>
            </a:r>
            <a:r>
              <a:rPr lang="fr-FR" dirty="0"/>
              <a:t> du LLM</a:t>
            </a:r>
          </a:p>
          <a:p>
            <a:pPr lvl="1"/>
            <a:r>
              <a:rPr lang="fr-FR" dirty="0" err="1"/>
              <a:t>ChatMistralAI</a:t>
            </a:r>
            <a:r>
              <a:rPr lang="fr-FR" dirty="0"/>
              <a:t> ou </a:t>
            </a:r>
            <a:r>
              <a:rPr lang="fr-FR" dirty="0" err="1"/>
              <a:t>ChatOpenAI</a:t>
            </a:r>
            <a:r>
              <a:rPr lang="fr-FR" dirty="0"/>
              <a:t> en passante le nom du modèle en paramètre</a:t>
            </a:r>
          </a:p>
          <a:p>
            <a:pPr lvl="1"/>
            <a:r>
              <a:rPr lang="fr-FR" dirty="0"/>
              <a:t>La température indique le degré d'hallucination</a:t>
            </a:r>
          </a:p>
          <a:p>
            <a:pPr lvl="1"/>
            <a:r>
              <a:rPr lang="en-US" dirty="0"/>
              <a:t>chat = </a:t>
            </a:r>
            <a:r>
              <a:rPr lang="en-US" dirty="0" err="1"/>
              <a:t>ChatOpenAI</a:t>
            </a:r>
            <a:r>
              <a:rPr lang="en-US" dirty="0"/>
              <a:t>(</a:t>
            </a:r>
            <a:r>
              <a:rPr lang="en-US" dirty="0" err="1"/>
              <a:t>model_name</a:t>
            </a:r>
            <a:r>
              <a:rPr lang="en-US" dirty="0"/>
              <a:t>="gpt-4", temperature=0.7)</a:t>
            </a:r>
            <a:endParaRPr lang="fr-FR" dirty="0"/>
          </a:p>
          <a:p>
            <a:r>
              <a:rPr lang="fr-FR" dirty="0"/>
              <a:t>Message</a:t>
            </a:r>
          </a:p>
          <a:p>
            <a:pPr lvl="1"/>
            <a:r>
              <a:rPr lang="fr-FR" dirty="0"/>
              <a:t>message = </a:t>
            </a:r>
            <a:r>
              <a:rPr lang="fr-FR" dirty="0" err="1"/>
              <a:t>HumanMessage</a:t>
            </a:r>
            <a:r>
              <a:rPr lang="fr-FR" dirty="0"/>
              <a:t>(content="Mon message") </a:t>
            </a:r>
          </a:p>
          <a:p>
            <a:r>
              <a:rPr lang="fr-FR" dirty="0" err="1"/>
              <a:t>Invoke</a:t>
            </a:r>
            <a:r>
              <a:rPr lang="fr-FR" dirty="0"/>
              <a:t>   </a:t>
            </a:r>
          </a:p>
          <a:p>
            <a:pPr lvl="1"/>
            <a:r>
              <a:rPr lang="fr-FR" dirty="0" err="1"/>
              <a:t>response</a:t>
            </a:r>
            <a:r>
              <a:rPr lang="fr-FR" dirty="0"/>
              <a:t> = </a:t>
            </a:r>
            <a:r>
              <a:rPr lang="fr-FR" dirty="0" err="1"/>
              <a:t>chat.invoke</a:t>
            </a:r>
            <a:r>
              <a:rPr lang="fr-FR" dirty="0"/>
              <a:t>([message])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231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0848B3-9F46-457D-CE59-D7E7B0E4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9A156-D712-A932-AA2A-311D46D64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créer un </a:t>
            </a:r>
            <a:r>
              <a:rPr lang="fr-FR" dirty="0" err="1"/>
              <a:t>chatbot</a:t>
            </a:r>
            <a:r>
              <a:rPr lang="fr-FR" dirty="0"/>
              <a:t>, il faut enchainer les questions réponses et séparer les rôles liés au chat et à l'utilisateur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3394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AD53A-D9A2-DDD6-86D6-B64CC11C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ChatModel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5DB316-78FC-2E29-4F73-729EF2155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chainer des questions pour avoir un </a:t>
            </a:r>
            <a:r>
              <a:rPr lang="fr-FR" dirty="0" err="1"/>
              <a:t>ChatBot</a:t>
            </a:r>
            <a:endParaRPr lang="fr-FR" dirty="0"/>
          </a:p>
          <a:p>
            <a:pPr lvl="1"/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langchain.chat_models</a:t>
            </a:r>
            <a:r>
              <a:rPr lang="fr-FR" dirty="0"/>
              <a:t> import </a:t>
            </a:r>
            <a:r>
              <a:rPr lang="fr-FR" dirty="0" err="1"/>
              <a:t>init_chat_model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init_chat_model</a:t>
            </a:r>
            <a:r>
              <a:rPr lang="fr-FR" dirty="0"/>
              <a:t>("gpt-4", </a:t>
            </a:r>
            <a:r>
              <a:rPr lang="fr-FR" dirty="0" err="1"/>
              <a:t>model_provider</a:t>
            </a:r>
            <a:r>
              <a:rPr lang="fr-FR" dirty="0"/>
              <a:t>="</a:t>
            </a:r>
            <a:r>
              <a:rPr lang="fr-FR" dirty="0" err="1"/>
              <a:t>openai</a:t>
            </a:r>
            <a:r>
              <a:rPr lang="fr-FR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65908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A5939-47B8-7503-8737-BDCCD089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ECBCD-0847-0543-23AE-690031E6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SystemMessage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21BB74-C025-45E8-1BAE-BEADA3B60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SystemMessage</a:t>
            </a:r>
            <a:endParaRPr lang="fr-FR" dirty="0"/>
          </a:p>
          <a:p>
            <a:pPr lvl="1"/>
            <a:r>
              <a:rPr lang="fr-FR" dirty="0"/>
              <a:t>Identique à </a:t>
            </a:r>
            <a:r>
              <a:rPr lang="fr-FR" dirty="0" err="1"/>
              <a:t>UserMessage</a:t>
            </a:r>
            <a:r>
              <a:rPr lang="fr-FR" dirty="0"/>
              <a:t> mais il s'agit d'un message adressé au </a:t>
            </a:r>
            <a:r>
              <a:rPr lang="fr-FR" dirty="0" err="1"/>
              <a:t>chatbot</a:t>
            </a:r>
            <a:r>
              <a:rPr lang="fr-FR" dirty="0"/>
              <a:t> que ne vois pas l'utilisateur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744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A2104-75DE-9D75-E1AE-E7B60997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SystemMessage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77B083-27D8-60AA-2022-D5EE2A9D2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Invoke</a:t>
            </a:r>
            <a:r>
              <a:rPr lang="fr-FR" dirty="0"/>
              <a:t> permet de chainer les messages</a:t>
            </a:r>
          </a:p>
          <a:p>
            <a:pPr lvl="1"/>
            <a:r>
              <a:rPr lang="fr-FR" dirty="0"/>
              <a:t>Sinon les messages sont décorrélés</a:t>
            </a:r>
          </a:p>
          <a:p>
            <a:r>
              <a:rPr lang="fr-FR" dirty="0"/>
              <a:t>2 écritures possibles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82EAD9-158A-ACDB-0AB5-9F2DA4A3E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6" y="4977172"/>
            <a:ext cx="8613616" cy="9721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C899318-B712-5232-E841-B3D814FE1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341" y="2924944"/>
            <a:ext cx="7173424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70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EC763E-5660-77A4-4792-A077294A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Templating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5F40F8-6B08-4FE8-AFCC-02990C853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ChatPromptTemplate</a:t>
            </a:r>
            <a:r>
              <a:rPr lang="fr-FR" dirty="0"/>
              <a:t> permet d'inclure des variables dans le </a:t>
            </a:r>
            <a:r>
              <a:rPr lang="fr-FR" dirty="0" err="1"/>
              <a:t>Chatbot</a:t>
            </a:r>
            <a:endParaRPr lang="fr-FR" dirty="0"/>
          </a:p>
          <a:p>
            <a:pPr lvl="1"/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langchain_core.prompts</a:t>
            </a:r>
            <a:r>
              <a:rPr lang="fr-FR" dirty="0"/>
              <a:t> import </a:t>
            </a:r>
            <a:r>
              <a:rPr lang="fr-FR" dirty="0" err="1"/>
              <a:t>ChatPromptTemplate</a:t>
            </a:r>
            <a:endParaRPr lang="fr-FR" dirty="0"/>
          </a:p>
          <a:p>
            <a:pPr lvl="1"/>
            <a:r>
              <a:rPr lang="fr-FR" dirty="0"/>
              <a:t>Les variables sont entre {}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Puis </a:t>
            </a:r>
            <a:r>
              <a:rPr lang="fr-FR" dirty="0" err="1"/>
              <a:t>invoke</a:t>
            </a:r>
            <a:r>
              <a:rPr lang="fr-FR"/>
              <a:t>(prompt) </a:t>
            </a:r>
            <a:r>
              <a:rPr lang="fr-FR" dirty="0"/>
              <a:t>permet d'appeler le LLM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BBB83D2-1706-69E7-1283-AB443233F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04" y="3870176"/>
            <a:ext cx="8857606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E08FA9-7326-9346-C440-94E27D70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Smith 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BF4BDC-421F-4748-8207-85E0F5885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Smith Hub est un cloud </a:t>
            </a:r>
            <a:r>
              <a:rPr lang="fr-FR" dirty="0" err="1"/>
              <a:t>Langchain</a:t>
            </a:r>
            <a:r>
              <a:rPr lang="fr-FR" dirty="0"/>
              <a:t> contenant  une énorme base de prompt LLM</a:t>
            </a:r>
          </a:p>
          <a:p>
            <a:pPr lvl="1"/>
            <a:r>
              <a:rPr lang="fr-FR" dirty="0">
                <a:hlinkClick r:id="rId2"/>
              </a:rPr>
              <a:t>https://smith.langchain.com/hub</a:t>
            </a:r>
            <a:endParaRPr lang="fr-FR" dirty="0"/>
          </a:p>
          <a:p>
            <a:r>
              <a:rPr lang="fr-FR" dirty="0"/>
              <a:t>Hub RLM est un cloud </a:t>
            </a:r>
            <a:r>
              <a:rPr lang="fr-FR" dirty="0" err="1"/>
              <a:t>Langchain</a:t>
            </a:r>
            <a:r>
              <a:rPr lang="fr-FR" dirty="0"/>
              <a:t> qui contient de nombreux </a:t>
            </a:r>
            <a:r>
              <a:rPr lang="fr-FR" dirty="0" err="1"/>
              <a:t>templates</a:t>
            </a:r>
            <a:r>
              <a:rPr lang="fr-FR" dirty="0"/>
              <a:t> de </a:t>
            </a:r>
            <a:r>
              <a:rPr lang="fr-FR" dirty="0" err="1"/>
              <a:t>chatbot</a:t>
            </a:r>
            <a:r>
              <a:rPr lang="fr-FR" dirty="0"/>
              <a:t> déjà programmés</a:t>
            </a:r>
          </a:p>
          <a:p>
            <a:pPr lvl="1"/>
            <a:r>
              <a:rPr lang="fr-FR" dirty="0">
                <a:hlinkClick r:id="rId3"/>
              </a:rPr>
              <a:t>https://smith.langchain.com/hub/rlm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143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F4247B-0791-023F-3DCC-3F4A2BEF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Sorties structurées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5109C4-B545-B881-D636-7F5873F95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structurer les réponses en JSON</a:t>
            </a:r>
          </a:p>
          <a:p>
            <a:pPr lvl="1"/>
            <a:r>
              <a:rPr lang="fr-FR" dirty="0"/>
              <a:t>Utilisation de code OO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B37670-1653-9976-0876-AA185143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043031"/>
            <a:ext cx="7353601" cy="243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8563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3762</TotalTime>
  <Words>346</Words>
  <Application>Microsoft Office PowerPoint</Application>
  <PresentationFormat>Affichage à l'écran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  <vt:lpstr>Présentation PowerPoint</vt:lpstr>
      <vt:lpstr>Programmation</vt:lpstr>
      <vt:lpstr>Chat</vt:lpstr>
      <vt:lpstr>ChatModel</vt:lpstr>
      <vt:lpstr>SystemMessage</vt:lpstr>
      <vt:lpstr>SystemMessage</vt:lpstr>
      <vt:lpstr>Templating</vt:lpstr>
      <vt:lpstr>Smith Hub</vt:lpstr>
      <vt:lpstr>Sorties structurées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291</cp:revision>
  <dcterms:created xsi:type="dcterms:W3CDTF">2000-04-10T19:33:12Z</dcterms:created>
  <dcterms:modified xsi:type="dcterms:W3CDTF">2025-10-19T08:58:28Z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