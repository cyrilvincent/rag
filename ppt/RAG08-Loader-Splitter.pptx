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9"/>
  </p:notesMasterIdLst>
  <p:handoutMasterIdLst>
    <p:handoutMasterId r:id="rId20"/>
  </p:handoutMasterIdLst>
  <p:sldIdLst>
    <p:sldId id="264" r:id="rId2"/>
    <p:sldId id="284" r:id="rId3"/>
    <p:sldId id="285" r:id="rId4"/>
    <p:sldId id="287" r:id="rId5"/>
    <p:sldId id="288" r:id="rId6"/>
    <p:sldId id="289" r:id="rId7"/>
    <p:sldId id="290" r:id="rId8"/>
    <p:sldId id="291" r:id="rId9"/>
    <p:sldId id="293" r:id="rId10"/>
    <p:sldId id="294" r:id="rId11"/>
    <p:sldId id="295" r:id="rId12"/>
    <p:sldId id="292" r:id="rId13"/>
    <p:sldId id="296" r:id="rId14"/>
    <p:sldId id="286" r:id="rId15"/>
    <p:sldId id="297" r:id="rId16"/>
    <p:sldId id="298" r:id="rId17"/>
    <p:sldId id="299" r:id="rId18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63" d="100"/>
          <a:sy n="63" d="100"/>
        </p:scale>
        <p:origin x="1590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python.langchain.com/docs/integrations/document_loader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35290A7-8850-50AD-250A-B6242C2C7AED}"/>
              </a:ext>
            </a:extLst>
          </p:cNvPr>
          <p:cNvSpPr txBox="1"/>
          <p:nvPr/>
        </p:nvSpPr>
        <p:spPr>
          <a:xfrm>
            <a:off x="2466791" y="5524834"/>
            <a:ext cx="36984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Loader et Splitter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ACF176-F65E-E2DF-962B-ED72A23C6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Document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C71563-3CEC-E647-C9E3-60F8F25EE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RAG est un chaînage de Transformers</a:t>
            </a:r>
          </a:p>
          <a:p>
            <a:r>
              <a:rPr lang="fr-FR" dirty="0"/>
              <a:t>Il se base sur des documents</a:t>
            </a:r>
          </a:p>
          <a:p>
            <a:pPr lvl="1"/>
            <a:r>
              <a:rPr lang="fr-FR" dirty="0"/>
              <a:t>Textes</a:t>
            </a:r>
          </a:p>
          <a:p>
            <a:pPr lvl="1"/>
            <a:r>
              <a:rPr lang="fr-FR" dirty="0"/>
              <a:t>Images</a:t>
            </a:r>
          </a:p>
          <a:p>
            <a:pPr lvl="1"/>
            <a:r>
              <a:rPr lang="fr-FR" dirty="0"/>
              <a:t>Son</a:t>
            </a:r>
          </a:p>
          <a:p>
            <a:pPr lvl="1"/>
            <a:r>
              <a:rPr lang="fr-FR" dirty="0"/>
              <a:t>Vidéo</a:t>
            </a:r>
          </a:p>
          <a:p>
            <a:r>
              <a:rPr lang="fr-FR" dirty="0"/>
              <a:t>Dans ce cours nous nous focalisons sur les documents textes pour LLM</a:t>
            </a:r>
          </a:p>
        </p:txBody>
      </p:sp>
    </p:spTree>
    <p:extLst>
      <p:ext uri="{BB962C8B-B14F-4D97-AF65-F5344CB8AC3E}">
        <p14:creationId xmlns:p14="http://schemas.microsoft.com/office/powerpoint/2010/main" val="434537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50C5D7-8972-CC9B-B1D4-595D2EFDE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Langchain</a:t>
            </a:r>
            <a:r>
              <a:rPr lang="fr-FR" dirty="0"/>
              <a:t> Document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AB2889-4F5A-948F-1D32-36834EE7F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Langchain</a:t>
            </a:r>
            <a:r>
              <a:rPr lang="fr-FR" dirty="0"/>
              <a:t> possède la classe Document</a:t>
            </a:r>
          </a:p>
          <a:p>
            <a:r>
              <a:rPr lang="fr-FR" dirty="0"/>
              <a:t>Dans </a:t>
            </a:r>
            <a:r>
              <a:rPr lang="fr-FR" dirty="0" err="1"/>
              <a:t>Langchain</a:t>
            </a:r>
            <a:r>
              <a:rPr lang="fr-FR" dirty="0"/>
              <a:t> tout est document</a:t>
            </a:r>
          </a:p>
          <a:p>
            <a:pPr lvl="1"/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langchain_core.documents</a:t>
            </a:r>
            <a:r>
              <a:rPr lang="fr-FR" dirty="0"/>
              <a:t> import Document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/>
              <a:t>Un document possède un contenu et des </a:t>
            </a:r>
            <a:r>
              <a:rPr lang="fr-FR" dirty="0" err="1"/>
              <a:t>metadata</a:t>
            </a:r>
            <a:endParaRPr lang="fr-FR" dirty="0"/>
          </a:p>
          <a:p>
            <a:pPr lvl="1"/>
            <a:r>
              <a:rPr lang="fr-FR" dirty="0"/>
              <a:t>Le document peut être créé à la main avec le constructeur affiché ci-dessus</a:t>
            </a:r>
          </a:p>
          <a:p>
            <a:pPr lvl="1"/>
            <a:r>
              <a:rPr lang="fr-FR" dirty="0"/>
              <a:t>Il est alors possible de créer une liste de documents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414568A-3DED-6CFA-03C0-5B79E54D8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232" y="3019368"/>
            <a:ext cx="6887536" cy="81926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F0E938E-1647-4B72-0AD2-A98E9E661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69341"/>
            <a:ext cx="9144000" cy="41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65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5EC532-850D-4F25-BDEF-BBAFFC2E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Loader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8965F1-38F4-EDD2-E409-F591555DF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6624736" cy="5040560"/>
          </a:xfrm>
        </p:spPr>
        <p:txBody>
          <a:bodyPr/>
          <a:lstStyle/>
          <a:p>
            <a:r>
              <a:rPr lang="fr-FR" dirty="0"/>
              <a:t>Il est possible de créer automatiquement des documents en fonction de leur source et de leur type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langchain_community.document_loaders</a:t>
            </a:r>
            <a:endParaRPr lang="fr-FR" dirty="0"/>
          </a:p>
          <a:p>
            <a:r>
              <a:rPr lang="fr-FR" dirty="0"/>
              <a:t>Les document loaders retourne des listes de documents</a:t>
            </a:r>
          </a:p>
          <a:p>
            <a:pPr lvl="1"/>
            <a:r>
              <a:rPr lang="fr-FR" dirty="0">
                <a:hlinkClick r:id="rId2"/>
              </a:rPr>
              <a:t>https://python.langchain.com/docs/integrations/document_loaders/</a:t>
            </a:r>
            <a:endParaRPr lang="fr-FR" dirty="0"/>
          </a:p>
          <a:p>
            <a:pPr lvl="1"/>
            <a:r>
              <a:rPr lang="fr-FR" dirty="0"/>
              <a:t>Une centaine de loader à disposition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5B591E2-A0A7-BF98-DDD6-7F9AB57A6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272" y="1556792"/>
            <a:ext cx="2276793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60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AA7CD4-0EB5-7932-5F6F-854F32576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TextLoader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9D75D8-FDE3-F82A-F5E7-777401E08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Loader le plus simple</a:t>
            </a:r>
          </a:p>
          <a:p>
            <a:pPr lvl="1"/>
            <a:r>
              <a:rPr lang="fr-FR" dirty="0"/>
              <a:t>Charge un document texte</a:t>
            </a:r>
          </a:p>
          <a:p>
            <a:pPr lvl="1"/>
            <a:r>
              <a:rPr lang="fr-FR" dirty="0"/>
              <a:t>loader = </a:t>
            </a:r>
            <a:r>
              <a:rPr lang="fr-FR" dirty="0" err="1"/>
              <a:t>TextLoader</a:t>
            </a:r>
            <a:r>
              <a:rPr lang="fr-FR" dirty="0"/>
              <a:t>("data/books/le_petit_prince.txt")</a:t>
            </a:r>
          </a:p>
          <a:p>
            <a:pPr lvl="1"/>
            <a:r>
              <a:rPr lang="fr-FR" dirty="0"/>
              <a:t>docs = </a:t>
            </a:r>
            <a:r>
              <a:rPr lang="fr-FR" dirty="0" err="1"/>
              <a:t>loader.load</a:t>
            </a:r>
            <a:r>
              <a:rPr lang="fr-FR" dirty="0"/>
              <a:t>()</a:t>
            </a:r>
          </a:p>
          <a:p>
            <a:r>
              <a:rPr lang="fr-FR" dirty="0"/>
              <a:t>D'autres loaders textes sont disponibles</a:t>
            </a:r>
          </a:p>
          <a:p>
            <a:pPr lvl="1"/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16C076D-B341-A8F3-A19D-DE0B5160A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401" y="3789040"/>
            <a:ext cx="7020272" cy="244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228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883844-3CA9-E333-180E-6D75DA322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PDFLoader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0DBF42-D852-C1F8-98CA-5936F8B7B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lire un PDF</a:t>
            </a:r>
          </a:p>
          <a:p>
            <a:pPr lvl="1"/>
            <a:r>
              <a:rPr lang="en-US" dirty="0"/>
              <a:t>loader = </a:t>
            </a:r>
            <a:r>
              <a:rPr lang="en-US" dirty="0" err="1"/>
              <a:t>PyPDFLoader</a:t>
            </a:r>
            <a:r>
              <a:rPr lang="en-US" dirty="0"/>
              <a:t>(</a:t>
            </a:r>
            <a:r>
              <a:rPr lang="en-US" dirty="0" err="1"/>
              <a:t>file_path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docs = </a:t>
            </a:r>
            <a:r>
              <a:rPr lang="en-US" dirty="0" err="1"/>
              <a:t>loader.load</a:t>
            </a:r>
            <a:r>
              <a:rPr lang="en-US" dirty="0"/>
              <a:t>()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5686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05A488-DC10-DC22-1F0F-2CD79B083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DirectoryLoader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F3B6A3-B0ED-B6F9-1F72-4267B5E34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charger tous les fichiers d'un répertoire</a:t>
            </a:r>
          </a:p>
          <a:p>
            <a:pPr lvl="1"/>
            <a:r>
              <a:rPr lang="fr-FR" dirty="0"/>
              <a:t>Détection du type de fichier automatique</a:t>
            </a:r>
          </a:p>
          <a:p>
            <a:pPr lvl="1"/>
            <a:r>
              <a:rPr lang="fr-FR" dirty="0"/>
              <a:t>Nécessite </a:t>
            </a:r>
            <a:r>
              <a:rPr lang="fr-FR" dirty="0" err="1"/>
              <a:t>unstructured</a:t>
            </a:r>
            <a:endParaRPr lang="fr-FR" dirty="0"/>
          </a:p>
          <a:p>
            <a:pPr lvl="1"/>
            <a:r>
              <a:rPr lang="fr-FR" dirty="0"/>
              <a:t>loader = </a:t>
            </a:r>
            <a:r>
              <a:rPr lang="fr-FR" dirty="0" err="1"/>
              <a:t>DirectoryLoader</a:t>
            </a:r>
            <a:r>
              <a:rPr lang="fr-FR" dirty="0"/>
              <a:t>("data/wiki/")</a:t>
            </a:r>
          </a:p>
          <a:p>
            <a:pPr lvl="1"/>
            <a:r>
              <a:rPr lang="fr-FR" dirty="0"/>
              <a:t>docs = </a:t>
            </a:r>
            <a:r>
              <a:rPr lang="fr-FR" dirty="0" err="1"/>
              <a:t>loader.load</a:t>
            </a:r>
            <a:r>
              <a:rPr lang="fr-FR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781095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EC20B2-5B99-C072-33BD-068E1CF7B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WebLoader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606565-9D50-5EF2-3AFA-0AFD7D32E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WebLoader</a:t>
            </a:r>
            <a:endParaRPr lang="fr-FR" dirty="0"/>
          </a:p>
          <a:p>
            <a:pPr lvl="1"/>
            <a:r>
              <a:rPr lang="fr-FR" dirty="0"/>
              <a:t>Basé sur </a:t>
            </a:r>
            <a:r>
              <a:rPr lang="fr-FR" dirty="0" err="1"/>
              <a:t>BeautifulSoup</a:t>
            </a:r>
            <a:endParaRPr lang="fr-FR" dirty="0"/>
          </a:p>
          <a:p>
            <a:pPr lvl="1"/>
            <a:r>
              <a:rPr lang="fr-FR" dirty="0"/>
              <a:t>Filtrage CSS et DOM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lvl="1"/>
            <a:r>
              <a:rPr lang="fr-FR" dirty="0"/>
              <a:t>Web : Custom web loader avec </a:t>
            </a:r>
            <a:r>
              <a:rPr lang="fr-FR" dirty="0" err="1"/>
              <a:t>BeautifulSoup</a:t>
            </a:r>
            <a:endParaRPr lang="fr-FR" dirty="0"/>
          </a:p>
          <a:p>
            <a:pPr lvl="1"/>
            <a:r>
              <a:rPr lang="fr-FR" dirty="0" err="1"/>
              <a:t>RecursiveURL</a:t>
            </a:r>
            <a:r>
              <a:rPr lang="fr-FR" dirty="0"/>
              <a:t> : permet de scraper tout un site</a:t>
            </a:r>
          </a:p>
          <a:p>
            <a:pPr lvl="1"/>
            <a:r>
              <a:rPr lang="fr-FR" dirty="0" err="1"/>
              <a:t>HyperBrowser</a:t>
            </a:r>
            <a:r>
              <a:rPr lang="fr-FR" dirty="0"/>
              <a:t> : simule un navigateur Chrome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EA239B9-9EB5-D5F3-9F3E-A83EB5F28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924944"/>
            <a:ext cx="6776751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351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F1808A-D1DE-F4E2-655C-B4ACD98F6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CloudLoader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9DA0CE-1BB3-4333-2E69-FDEAA73F6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2B8FA73-A513-7E74-7E77-004E2B2BC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444487"/>
            <a:ext cx="5153126" cy="319264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C626AA3-CE8D-437F-C002-64F9D4F0E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3453746"/>
            <a:ext cx="5236598" cy="340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953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D2D566-4B85-3708-4FD5-972852825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SocialLoader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F65081-8B09-088B-79A9-92787FF59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B531C24-02CC-2077-73CB-F17942D65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18" y="1420281"/>
            <a:ext cx="3953427" cy="205768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711436D-80CA-39E3-5918-967B69A5E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2428735"/>
            <a:ext cx="4315427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75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FA4463-CA55-31C1-53AA-4A7D52BB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ProductivityToolLoader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AE83B1-C28B-437D-BBBF-3CB4F69B6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FB9F49C-66DC-C5C6-777C-55FE88B87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628" y="1047189"/>
            <a:ext cx="4248743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20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E0F8F-6257-4834-1177-9AFFE424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Splitters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D31B7A-8331-2A29-7F9C-C325D4601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4032448" cy="5040560"/>
          </a:xfrm>
        </p:spPr>
        <p:txBody>
          <a:bodyPr/>
          <a:lstStyle/>
          <a:p>
            <a:r>
              <a:rPr lang="fr-FR" dirty="0"/>
              <a:t>Découpe un grand document en morceaux (</a:t>
            </a:r>
            <a:r>
              <a:rPr lang="fr-FR" dirty="0" err="1"/>
              <a:t>Chunks</a:t>
            </a:r>
            <a:r>
              <a:rPr lang="fr-FR" dirty="0"/>
              <a:t>)</a:t>
            </a:r>
          </a:p>
          <a:p>
            <a:r>
              <a:rPr lang="fr-FR" dirty="0"/>
              <a:t>Permet de controuver les limitations des LLM en taille</a:t>
            </a:r>
          </a:p>
          <a:p>
            <a:r>
              <a:rPr lang="fr-FR" dirty="0"/>
              <a:t>Permet d'avoir une meilleure finesse de recherche par vectorisation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5A57B83-C7D9-AAD8-6B00-7F1A13086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1628800"/>
            <a:ext cx="5001323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3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0A7A4F-C721-DBCB-47F2-CAC6EF1FC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Pourquoi les </a:t>
            </a:r>
            <a:r>
              <a:rPr lang="fr-FR" dirty="0" err="1"/>
              <a:t>chunks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6FE8AE-862F-D1C8-89B1-964CB1445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Gestion des longueurs de documents non uniformes</a:t>
            </a:r>
          </a:p>
          <a:p>
            <a:pPr lvl="1"/>
            <a:r>
              <a:rPr lang="fr-FR" sz="1600" dirty="0"/>
              <a:t>Les collections de documents réelles contiennent souvent des textes de tailles variées</a:t>
            </a:r>
          </a:p>
          <a:p>
            <a:pPr lvl="1"/>
            <a:r>
              <a:rPr lang="fr-FR" sz="1600" dirty="0"/>
              <a:t>Le découpage permet un traitement cohérent de tous les documents</a:t>
            </a:r>
          </a:p>
          <a:p>
            <a:r>
              <a:rPr lang="fr-FR" sz="2000" dirty="0"/>
              <a:t>Surmonter les limites des modèles</a:t>
            </a:r>
          </a:p>
          <a:p>
            <a:pPr lvl="1"/>
            <a:r>
              <a:rPr lang="fr-FR" sz="1600" dirty="0"/>
              <a:t>De nombreux modèles d'</a:t>
            </a:r>
            <a:r>
              <a:rPr lang="fr-FR" sz="1600" dirty="0" err="1"/>
              <a:t>embedding</a:t>
            </a:r>
            <a:r>
              <a:rPr lang="fr-FR" sz="1600" dirty="0"/>
              <a:t> et modèles de langage ont des contraintes de taille maximale d'entrée</a:t>
            </a:r>
          </a:p>
          <a:p>
            <a:pPr lvl="1"/>
            <a:r>
              <a:rPr lang="fr-FR" sz="1600" dirty="0"/>
              <a:t>Le découpage permet de traiter des documents qui dépasseraient autrement ces limites.</a:t>
            </a:r>
          </a:p>
          <a:p>
            <a:r>
              <a:rPr lang="fr-FR" sz="2000" dirty="0"/>
              <a:t>Amélioration de la qualité des représentations</a:t>
            </a:r>
          </a:p>
          <a:p>
            <a:pPr lvl="1"/>
            <a:r>
              <a:rPr lang="fr-FR" sz="1600" dirty="0"/>
              <a:t>Pour les documents longs, la qualité des </a:t>
            </a:r>
            <a:r>
              <a:rPr lang="fr-FR" sz="1600" dirty="0" err="1"/>
              <a:t>embeddings</a:t>
            </a:r>
            <a:r>
              <a:rPr lang="fr-FR" sz="1600" dirty="0"/>
              <a:t> ou autres représentations peut se dégrader en essayant de capturer trop d'informations</a:t>
            </a:r>
          </a:p>
          <a:p>
            <a:r>
              <a:rPr lang="fr-FR" sz="2000" dirty="0"/>
              <a:t>Amélioration de la précision de la recherche</a:t>
            </a:r>
          </a:p>
          <a:p>
            <a:pPr lvl="1"/>
            <a:r>
              <a:rPr lang="fr-FR" sz="1600" dirty="0"/>
              <a:t>Dans les systèmes de recherche d'information, le découpage améliore la granularité des résultats</a:t>
            </a:r>
          </a:p>
          <a:p>
            <a:r>
              <a:rPr lang="fr-FR" sz="2000" dirty="0"/>
              <a:t>Optimisation des ressources informatiques</a:t>
            </a:r>
          </a:p>
          <a:p>
            <a:pPr lvl="1"/>
            <a:r>
              <a:rPr lang="fr-FR" sz="1600" dirty="0"/>
              <a:t>Travailler avec des morceaux de texte plus petits est plus efficace en mémoire et permet une meilleure parallélisation des tâches de traitement</a:t>
            </a:r>
          </a:p>
        </p:txBody>
      </p:sp>
    </p:spTree>
    <p:extLst>
      <p:ext uri="{BB962C8B-B14F-4D97-AF65-F5344CB8AC3E}">
        <p14:creationId xmlns:p14="http://schemas.microsoft.com/office/powerpoint/2010/main" val="2444984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61C03-787D-37E2-870E-DBDCBC308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396979-BE61-A76B-7401-8CFBF7DFA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TextSplitter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EC9D03-0A00-CFD1-E7BD-676808CAE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TextSplitter</a:t>
            </a:r>
            <a:r>
              <a:rPr lang="fr-FR" dirty="0"/>
              <a:t> est un module de Splitter</a:t>
            </a:r>
          </a:p>
          <a:p>
            <a:r>
              <a:rPr lang="fr-FR" dirty="0"/>
              <a:t>3 grandes familles</a:t>
            </a:r>
          </a:p>
          <a:p>
            <a:pPr lvl="1"/>
            <a:r>
              <a:rPr lang="fr-FR" dirty="0"/>
              <a:t>Basé sur la taille du </a:t>
            </a:r>
            <a:r>
              <a:rPr lang="fr-FR" dirty="0" err="1"/>
              <a:t>chunk</a:t>
            </a:r>
            <a:endParaRPr lang="fr-FR" dirty="0"/>
          </a:p>
          <a:p>
            <a:pPr lvl="1"/>
            <a:r>
              <a:rPr lang="fr-FR" dirty="0"/>
              <a:t>Basé sur la structure du document</a:t>
            </a:r>
          </a:p>
          <a:p>
            <a:pPr lvl="1"/>
            <a:r>
              <a:rPr lang="fr-FR" dirty="0"/>
              <a:t>Basé sur la sémantique</a:t>
            </a:r>
          </a:p>
          <a:p>
            <a:endParaRPr lang="fr-FR" dirty="0"/>
          </a:p>
        </p:txBody>
      </p:sp>
      <p:pic>
        <p:nvPicPr>
          <p:cNvPr id="1026" name="Picture 2" descr="Conceptual Overview">
            <a:extLst>
              <a:ext uri="{FF2B5EF4-FFF2-40B4-BE49-F238E27FC236}">
                <a16:creationId xmlns:a16="http://schemas.microsoft.com/office/drawing/2014/main" id="{78F5DAE7-BA5B-E7E4-AF6C-FAEEE8058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077072"/>
            <a:ext cx="3750962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456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88AD0C-96C9-C7B5-2F99-2345CEEA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CharacterTextSplitter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42E151-D491-B512-38E3-77623CC75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Basé sur la taille des </a:t>
            </a:r>
            <a:r>
              <a:rPr lang="fr-FR" dirty="0" err="1"/>
              <a:t>chunks</a:t>
            </a:r>
            <a:endParaRPr lang="fr-FR" dirty="0"/>
          </a:p>
          <a:p>
            <a:pPr lvl="1"/>
            <a:r>
              <a:rPr lang="fr-FR" dirty="0" err="1"/>
              <a:t>Overlap</a:t>
            </a:r>
            <a:r>
              <a:rPr lang="fr-FR" dirty="0"/>
              <a:t> possible et recommandé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78E428-D4BB-ED1B-EB84-AD1EEA599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679" y="2757394"/>
            <a:ext cx="6744641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78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39DF83-27AE-154C-1F6E-49F27355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RecursiveCharacterTextSplitter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8634DA-268A-3A38-D995-919B60DE9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Basé sur la structure du document</a:t>
            </a:r>
          </a:p>
          <a:p>
            <a:pPr lvl="1"/>
            <a:r>
              <a:rPr lang="fr-FR" dirty="0"/>
              <a:t>Essaye de garder les paragraphes intacts</a:t>
            </a:r>
          </a:p>
          <a:p>
            <a:pPr lvl="1"/>
            <a:r>
              <a:rPr lang="fr-FR" dirty="0"/>
              <a:t>Si le </a:t>
            </a:r>
            <a:r>
              <a:rPr lang="fr-FR" dirty="0" err="1"/>
              <a:t>pragraphe</a:t>
            </a:r>
            <a:r>
              <a:rPr lang="fr-FR" dirty="0"/>
              <a:t> est trop grand alors utilise le </a:t>
            </a:r>
            <a:r>
              <a:rPr lang="fr-FR" dirty="0" err="1"/>
              <a:t>chunk</a:t>
            </a:r>
            <a:r>
              <a:rPr lang="fr-FR" dirty="0"/>
              <a:t> et l'</a:t>
            </a:r>
            <a:r>
              <a:rPr lang="fr-FR" dirty="0" err="1"/>
              <a:t>overlap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3CE9D9-E372-B50F-A5AD-1B211D0BE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26" y="3717032"/>
            <a:ext cx="8049748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762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4EC266-87FA-E8B9-D703-4813C7EF2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Documents structurés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913557-57CD-5E0A-5820-745094E3D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Réservés aux documents structurés comme</a:t>
            </a:r>
          </a:p>
          <a:p>
            <a:pPr lvl="1"/>
            <a:r>
              <a:rPr lang="fr-FR" dirty="0"/>
              <a:t>CSV &amp; JSON : </a:t>
            </a:r>
            <a:r>
              <a:rPr lang="fr-FR"/>
              <a:t>RecursiveJsonSplitter</a:t>
            </a:r>
            <a:endParaRPr lang="fr-FR" dirty="0"/>
          </a:p>
          <a:p>
            <a:pPr lvl="1"/>
            <a:r>
              <a:rPr lang="fr-FR" dirty="0"/>
              <a:t>Code : </a:t>
            </a:r>
            <a:r>
              <a:rPr lang="fr-FR" sz="1600" dirty="0" err="1"/>
              <a:t>RecursiveCharacterTextSplitter.get_separators_for_language</a:t>
            </a:r>
            <a:r>
              <a:rPr lang="fr-FR" sz="1600" dirty="0"/>
              <a:t>(</a:t>
            </a:r>
            <a:r>
              <a:rPr lang="fr-FR" sz="1600" dirty="0" err="1"/>
              <a:t>Language.PYTHON</a:t>
            </a:r>
            <a:r>
              <a:rPr lang="fr-FR" sz="1600" dirty="0"/>
              <a:t>)</a:t>
            </a:r>
          </a:p>
          <a:p>
            <a:pPr lvl="1"/>
            <a:r>
              <a:rPr lang="fr-FR" dirty="0" err="1"/>
              <a:t>Markdown</a:t>
            </a:r>
            <a:r>
              <a:rPr lang="fr-FR" dirty="0"/>
              <a:t> : </a:t>
            </a:r>
            <a:r>
              <a:rPr lang="fr-FR" dirty="0" err="1"/>
              <a:t>MarkdownHeaderTextSplitter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3818713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3861</TotalTime>
  <Words>526</Words>
  <Application>Microsoft Office PowerPoint</Application>
  <PresentationFormat>Affichage à l'écran (4:3)</PresentationFormat>
  <Paragraphs>92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Monotype Sorts</vt:lpstr>
      <vt:lpstr>Times New Roman</vt:lpstr>
      <vt:lpstr>cvc</vt:lpstr>
      <vt:lpstr>Présentation PowerPoint</vt:lpstr>
      <vt:lpstr>Document</vt:lpstr>
      <vt:lpstr>Langchain Document</vt:lpstr>
      <vt:lpstr>Loader</vt:lpstr>
      <vt:lpstr>TextLoader</vt:lpstr>
      <vt:lpstr>PDFLoader</vt:lpstr>
      <vt:lpstr>DirectoryLoader</vt:lpstr>
      <vt:lpstr>WebLoader</vt:lpstr>
      <vt:lpstr>CloudLoader</vt:lpstr>
      <vt:lpstr>SocialLoader</vt:lpstr>
      <vt:lpstr>ProductivityToolLoader</vt:lpstr>
      <vt:lpstr>Les Splitters</vt:lpstr>
      <vt:lpstr>Pourquoi les chunks</vt:lpstr>
      <vt:lpstr>TextSplitter</vt:lpstr>
      <vt:lpstr>CharacterTextSplitter</vt:lpstr>
      <vt:lpstr>RecursiveCharacterTextSplitter</vt:lpstr>
      <vt:lpstr>Documents structurés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293</cp:revision>
  <dcterms:created xsi:type="dcterms:W3CDTF">2000-04-10T19:33:12Z</dcterms:created>
  <dcterms:modified xsi:type="dcterms:W3CDTF">2025-11-14T08:50:12Z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