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0"/>
  </p:notesMasterIdLst>
  <p:handoutMasterIdLst>
    <p:handoutMasterId r:id="rId21"/>
  </p:handoutMasterIdLst>
  <p:sldIdLst>
    <p:sldId id="264" r:id="rId2"/>
    <p:sldId id="266" r:id="rId3"/>
    <p:sldId id="287" r:id="rId4"/>
    <p:sldId id="282" r:id="rId5"/>
    <p:sldId id="270" r:id="rId6"/>
    <p:sldId id="275" r:id="rId7"/>
    <p:sldId id="271" r:id="rId8"/>
    <p:sldId id="272" r:id="rId9"/>
    <p:sldId id="273" r:id="rId10"/>
    <p:sldId id="274" r:id="rId11"/>
    <p:sldId id="277" r:id="rId12"/>
    <p:sldId id="278" r:id="rId13"/>
    <p:sldId id="279" r:id="rId14"/>
    <p:sldId id="280" r:id="rId15"/>
    <p:sldId id="281" r:id="rId16"/>
    <p:sldId id="283" r:id="rId17"/>
    <p:sldId id="284" r:id="rId18"/>
    <p:sldId id="285" r:id="rId1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Embedding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A2389-EF72-758A-EBA1-F981B399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44524-E9D5-52B9-6472-5CD4FE1E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74A8C6-F5C1-1765-1254-5A154F7B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276049"/>
            <a:ext cx="2829181" cy="51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38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92794-BC93-695F-1C63-9666BF75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7A361-9574-ECCC-C00F-906CDD7F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ne traitent pas le texte ou les images directement</a:t>
            </a:r>
          </a:p>
          <a:p>
            <a:pPr lvl="1"/>
            <a:r>
              <a:rPr lang="fr-FR" dirty="0"/>
              <a:t>Utilisation d'un Transformer</a:t>
            </a:r>
          </a:p>
          <a:p>
            <a:r>
              <a:rPr lang="fr-FR" dirty="0"/>
              <a:t>Ils les transforment en vecteurs par un modèle d'</a:t>
            </a:r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Puis le LLM traite le vecteur dans un réseau de neurones</a:t>
            </a:r>
          </a:p>
          <a:p>
            <a:endParaRPr lang="fr-FR" dirty="0"/>
          </a:p>
        </p:txBody>
      </p:sp>
      <p:pic>
        <p:nvPicPr>
          <p:cNvPr id="1028" name="Picture 4" descr="Vector Embeddings are a list of numbers">
            <a:extLst>
              <a:ext uri="{FF2B5EF4-FFF2-40B4-BE49-F238E27FC236}">
                <a16:creationId xmlns:a16="http://schemas.microsoft.com/office/drawing/2014/main" id="{FFA81DE1-A09D-6203-B5D1-2231E64C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17912"/>
            <a:ext cx="6156176" cy="21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29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EB41D-4288-7CD7-1C1A-98248A1E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EA51A-970C-F8ED-2D4A-60061A80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 représente ce vecteur ?</a:t>
            </a:r>
          </a:p>
          <a:p>
            <a:pPr lvl="1"/>
            <a:r>
              <a:rPr lang="fr-FR" dirty="0"/>
              <a:t>Il s'agit de la représentation d'une phrase ou d'une image dans un très grand nombre de dimension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82F0E9-287D-56CC-9E37-994E2778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2936"/>
            <a:ext cx="905001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6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FE3AB-AE74-D31D-9E3F-2ED46B9F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9BDBD-E58A-9999-77C7-76BFF7EB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Universal Sentence Encoder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Historique</a:t>
            </a:r>
          </a:p>
          <a:p>
            <a:pPr lvl="1"/>
            <a:r>
              <a:rPr lang="fr-FR" dirty="0"/>
              <a:t>512 float32 = 2Ko</a:t>
            </a:r>
          </a:p>
          <a:p>
            <a:pPr lvl="1"/>
            <a:r>
              <a:rPr lang="fr-FR" dirty="0"/>
              <a:t>2^11 possibilités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Average</a:t>
            </a:r>
            <a:r>
              <a:rPr lang="fr-FR" dirty="0"/>
              <a:t> Network (DAN)</a:t>
            </a:r>
          </a:p>
          <a:p>
            <a:pPr lvl="1"/>
            <a:r>
              <a:rPr lang="fr-FR" dirty="0"/>
              <a:t>Entrainé en 2018</a:t>
            </a:r>
          </a:p>
          <a:p>
            <a:pPr lvl="1"/>
            <a:r>
              <a:rPr lang="fr-FR" dirty="0"/>
              <a:t>Ne nécessite pas de GPU</a:t>
            </a:r>
          </a:p>
          <a:p>
            <a:pPr lvl="1"/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Dans toutes les langues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62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97C07-CEB1-F506-2170-7E042837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5E2D36-AC55-C254-1304-DDCFD256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Mathématiquement il est possible de comparer des vecteurs</a:t>
            </a:r>
          </a:p>
          <a:p>
            <a:r>
              <a:rPr lang="fr-FR" dirty="0"/>
              <a:t>Supposons des vecteurs de </a:t>
            </a:r>
            <a:r>
              <a:rPr lang="fr-FR" dirty="0" err="1"/>
              <a:t>shape</a:t>
            </a:r>
            <a:r>
              <a:rPr lang="fr-FR" dirty="0"/>
              <a:t> (2,)</a:t>
            </a:r>
          </a:p>
          <a:p>
            <a:pPr lvl="1"/>
            <a:r>
              <a:rPr lang="fr-FR" dirty="0"/>
              <a:t>Représentation d'un point </a:t>
            </a:r>
            <a:r>
              <a:rPr lang="fr-FR" dirty="0" err="1"/>
              <a:t>x,y</a:t>
            </a:r>
            <a:r>
              <a:rPr lang="fr-FR" dirty="0"/>
              <a:t> en 2D</a:t>
            </a:r>
          </a:p>
          <a:p>
            <a:pPr lvl="1"/>
            <a:r>
              <a:rPr lang="fr-FR" dirty="0"/>
              <a:t>Par exemple [3,2] représente le vecteur partant du point (0,0) et passant par le point (3,2)</a:t>
            </a:r>
          </a:p>
          <a:p>
            <a:pPr lvl="1"/>
            <a:r>
              <a:rPr lang="fr-FR" dirty="0"/>
              <a:t>Les vecteurs parallèles ont un cosinus à 1</a:t>
            </a:r>
          </a:p>
          <a:p>
            <a:pPr lvl="1"/>
            <a:r>
              <a:rPr lang="fr-FR" dirty="0"/>
              <a:t>Les vecteurs orthogonaux ont un cosinus à 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40F77D-0D43-4221-E54E-66338F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013176"/>
            <a:ext cx="3883727" cy="15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BEB3C-D93A-5E89-8D11-4E1DB2E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Cosinus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C1269-7D7B-9F6E-1DF8-AF099581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l'apprentissage il est fait la supposition suivante</a:t>
            </a:r>
          </a:p>
          <a:p>
            <a:pPr lvl="1"/>
            <a:r>
              <a:rPr lang="fr-FR" dirty="0"/>
              <a:t>2 vecteurs avec un cosinus = 1 sont parfaitement identiques</a:t>
            </a:r>
          </a:p>
          <a:p>
            <a:pPr lvl="1"/>
            <a:r>
              <a:rPr lang="fr-FR" dirty="0"/>
              <a:t>2 vecteurs avec un cosinus = 0 sont complètements différents</a:t>
            </a:r>
          </a:p>
          <a:p>
            <a:pPr lvl="1"/>
            <a:r>
              <a:rPr lang="fr-FR" dirty="0"/>
              <a:t>Le cosinus entre 2 vecteurs représente la ressemblance entre 2 phrases</a:t>
            </a:r>
          </a:p>
        </p:txBody>
      </p:sp>
    </p:spTree>
    <p:extLst>
      <p:ext uri="{BB962C8B-B14F-4D97-AF65-F5344CB8AC3E}">
        <p14:creationId xmlns:p14="http://schemas.microsoft.com/office/powerpoint/2010/main" val="245952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65271-6F94-6F83-B1F9-17C550E2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des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06B851-A2C9-CB77-D812-988391F2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3 dimensions le vecteur est de </a:t>
            </a:r>
            <a:r>
              <a:rPr lang="fr-FR" dirty="0" err="1"/>
              <a:t>shape</a:t>
            </a:r>
            <a:r>
              <a:rPr lang="fr-FR" dirty="0"/>
              <a:t> (3,)</a:t>
            </a:r>
          </a:p>
          <a:p>
            <a:r>
              <a:rPr lang="fr-FR" dirty="0"/>
              <a:t>Les modèles d'</a:t>
            </a:r>
            <a:r>
              <a:rPr lang="fr-FR" dirty="0" err="1"/>
              <a:t>embedding</a:t>
            </a:r>
            <a:r>
              <a:rPr lang="fr-FR" dirty="0"/>
              <a:t> ont les dimensions suivantes</a:t>
            </a:r>
          </a:p>
          <a:p>
            <a:pPr lvl="1"/>
            <a:r>
              <a:rPr lang="fr-FR" dirty="0"/>
              <a:t>Google USE : 512</a:t>
            </a:r>
          </a:p>
          <a:p>
            <a:pPr lvl="1"/>
            <a:r>
              <a:rPr lang="fr-FR" dirty="0"/>
              <a:t>Google BERT : 768</a:t>
            </a:r>
          </a:p>
          <a:p>
            <a:pPr lvl="1"/>
            <a:r>
              <a:rPr lang="fr-FR" dirty="0"/>
              <a:t>LLM : 1024</a:t>
            </a:r>
          </a:p>
          <a:p>
            <a:pPr lvl="1"/>
            <a:r>
              <a:rPr lang="fr-FR" dirty="0"/>
              <a:t>LLM récents : 1536</a:t>
            </a:r>
          </a:p>
        </p:txBody>
      </p:sp>
    </p:spTree>
    <p:extLst>
      <p:ext uri="{BB962C8B-B14F-4D97-AF65-F5344CB8AC3E}">
        <p14:creationId xmlns:p14="http://schemas.microsoft.com/office/powerpoint/2010/main" val="252979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72005-90E5-E75D-04D4-7D391ECA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Transformation </a:t>
            </a:r>
            <a:r>
              <a:rPr lang="fr-FR" dirty="0" err="1"/>
              <a:t>cosine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7EEF7-B975-0B16-D81D-3634D950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transformation </a:t>
            </a:r>
            <a:r>
              <a:rPr lang="fr-FR" dirty="0" err="1"/>
              <a:t>cosine</a:t>
            </a:r>
            <a:r>
              <a:rPr lang="fr-FR" dirty="0"/>
              <a:t> permet de calculer un cosinus entre 2 vecteurs dans des dimensions très élevées</a:t>
            </a:r>
          </a:p>
          <a:p>
            <a:pPr lvl="1"/>
            <a:r>
              <a:rPr lang="fr-FR" dirty="0"/>
              <a:t>Renvoie un cosinus entre 0 et 1</a:t>
            </a:r>
          </a:p>
          <a:p>
            <a:pPr lvl="1"/>
            <a:r>
              <a:rPr lang="fr-FR" dirty="0"/>
              <a:t>Taux de ressemblance</a:t>
            </a:r>
          </a:p>
          <a:p>
            <a:pPr lvl="1"/>
            <a:r>
              <a:rPr lang="fr-FR" dirty="0"/>
              <a:t>Rapide</a:t>
            </a:r>
          </a:p>
          <a:p>
            <a:pPr lvl="1"/>
            <a:r>
              <a:rPr lang="fr-FR" dirty="0" err="1"/>
              <a:t>np.inner</a:t>
            </a:r>
            <a:r>
              <a:rPr lang="fr-FR" dirty="0"/>
              <a:t>(v1, v2)</a:t>
            </a:r>
          </a:p>
          <a:p>
            <a:r>
              <a:rPr lang="fr-FR" dirty="0"/>
              <a:t>Il existe d'autres mesures de distance de vecteurs</a:t>
            </a:r>
          </a:p>
          <a:p>
            <a:pPr lvl="1"/>
            <a:r>
              <a:rPr lang="fr-FR" dirty="0"/>
              <a:t>Euclidienne : MSE = </a:t>
            </a:r>
            <a:r>
              <a:rPr lang="fr-FR" dirty="0" err="1"/>
              <a:t>Mean</a:t>
            </a:r>
            <a:r>
              <a:rPr lang="fr-FR" dirty="0"/>
              <a:t> Square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Hamming</a:t>
            </a:r>
            <a:r>
              <a:rPr lang="fr-FR" dirty="0"/>
              <a:t> : Nombre de 0 et 1 différents / taille du vecteur</a:t>
            </a:r>
          </a:p>
          <a:p>
            <a:pPr lvl="1"/>
            <a:r>
              <a:rPr lang="fr-FR" dirty="0"/>
              <a:t>Dot : produit scalaire</a:t>
            </a:r>
          </a:p>
        </p:txBody>
      </p:sp>
    </p:spTree>
    <p:extLst>
      <p:ext uri="{BB962C8B-B14F-4D97-AF65-F5344CB8AC3E}">
        <p14:creationId xmlns:p14="http://schemas.microsoft.com/office/powerpoint/2010/main" val="1434978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6AE1A-1427-7165-27DA-DEBB4D9E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1F3EF-DC4D-6929-0D39-C8DB7C41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USE utilise le produit scalaire pour mesurer la distance entre 2 vecteurs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048C6-2841-B9E8-B43B-D4FB2C5B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46474"/>
            <a:ext cx="4757846" cy="42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5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5B367-1E1B-19CB-081B-9D03ECBA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DFBDD4-72BC-A9EC-BC7D-53B2623D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Dû aux limitations des LLM</a:t>
            </a:r>
          </a:p>
          <a:p>
            <a:r>
              <a:rPr lang="fr-FR" dirty="0"/>
              <a:t>Dû aux limitations de la taille des </a:t>
            </a:r>
            <a:r>
              <a:rPr lang="fr-FR" dirty="0" err="1"/>
              <a:t>des</a:t>
            </a:r>
            <a:r>
              <a:rPr lang="fr-FR" dirty="0"/>
              <a:t> vecteurs</a:t>
            </a:r>
          </a:p>
          <a:p>
            <a:r>
              <a:rPr lang="fr-FR" dirty="0"/>
              <a:t>Il est impossible d'</a:t>
            </a:r>
            <a:r>
              <a:rPr lang="fr-FR" dirty="0" err="1"/>
              <a:t>embedder</a:t>
            </a:r>
            <a:r>
              <a:rPr lang="fr-FR" dirty="0"/>
              <a:t> un long document dans un vecteur</a:t>
            </a:r>
          </a:p>
          <a:p>
            <a:r>
              <a:rPr lang="fr-FR" dirty="0"/>
              <a:t>Le </a:t>
            </a:r>
            <a:r>
              <a:rPr lang="fr-FR" dirty="0" err="1"/>
              <a:t>chunk</a:t>
            </a:r>
            <a:r>
              <a:rPr lang="fr-FR" dirty="0"/>
              <a:t> représente l'unité à </a:t>
            </a:r>
            <a:r>
              <a:rPr lang="fr-FR" dirty="0" err="1"/>
              <a:t>embedder</a:t>
            </a:r>
            <a:endParaRPr lang="fr-FR" dirty="0"/>
          </a:p>
          <a:p>
            <a:pPr lvl="1"/>
            <a:r>
              <a:rPr lang="fr-FR" dirty="0"/>
              <a:t>Par exemple un paragraphe d'un texte</a:t>
            </a:r>
          </a:p>
          <a:p>
            <a:pPr lvl="1"/>
            <a:r>
              <a:rPr lang="fr-FR" dirty="0"/>
              <a:t>Si trop petit : perte du contexte</a:t>
            </a:r>
          </a:p>
          <a:p>
            <a:pPr lvl="1"/>
            <a:r>
              <a:rPr lang="fr-FR" dirty="0"/>
              <a:t>Si trop grand : dilution dans le vecteur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53BE92-0674-21C8-B341-1FD1C3FD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3834163"/>
            <a:ext cx="2483768" cy="30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3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D1C95-2591-8CAB-9A94-7EA46ABD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de </a:t>
            </a:r>
            <a:r>
              <a:rPr lang="fr-FR" dirty="0" err="1"/>
              <a:t>chunk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65E17-320D-2A27-6D84-C0BDEE48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120680" cy="5040560"/>
          </a:xfrm>
        </p:spPr>
        <p:txBody>
          <a:bodyPr/>
          <a:lstStyle/>
          <a:p>
            <a:r>
              <a:rPr lang="fr-FR" dirty="0"/>
              <a:t>Pour le texte, il s'agit de le splitter par paragraphe</a:t>
            </a:r>
          </a:p>
          <a:p>
            <a:pPr lvl="1"/>
            <a:r>
              <a:rPr lang="fr-FR" dirty="0"/>
              <a:t>Ou de longue phrase</a:t>
            </a:r>
          </a:p>
          <a:p>
            <a:pPr lvl="1"/>
            <a:r>
              <a:rPr lang="fr-FR" dirty="0"/>
              <a:t>Pas évident car en fonction des textes les </a:t>
            </a:r>
            <a:r>
              <a:rPr lang="fr-FR" dirty="0" err="1"/>
              <a:t>paragrphes</a:t>
            </a:r>
            <a:r>
              <a:rPr lang="fr-FR" dirty="0"/>
              <a:t> peuvent être petits ou grands</a:t>
            </a:r>
          </a:p>
          <a:p>
            <a:pPr lvl="1"/>
            <a:r>
              <a:rPr lang="fr-FR" dirty="0"/>
              <a:t>Au minimum le </a:t>
            </a:r>
            <a:r>
              <a:rPr lang="fr-FR" dirty="0" err="1"/>
              <a:t>chunk</a:t>
            </a:r>
            <a:r>
              <a:rPr lang="fr-FR" dirty="0"/>
              <a:t> est la phrase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702105-D125-8112-DA6A-63581F12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772816"/>
            <a:ext cx="235300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98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17576-8C4A-5A5E-8340-33C0FBC3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r>
              <a:rPr lang="fr-FR" dirty="0"/>
              <a:t>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556DA-7A3F-B70F-CA63-7589C1BB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Redondance d'informations</a:t>
            </a:r>
          </a:p>
          <a:p>
            <a:r>
              <a:rPr lang="fr-FR" dirty="0"/>
              <a:t>Réinjection systématique</a:t>
            </a:r>
          </a:p>
          <a:p>
            <a:pPr lvl="1"/>
            <a:r>
              <a:rPr lang="fr-FR" dirty="0"/>
              <a:t>du titre du document</a:t>
            </a:r>
          </a:p>
          <a:p>
            <a:pPr lvl="1"/>
            <a:r>
              <a:rPr lang="fr-FR" dirty="0"/>
              <a:t>des mots clés</a:t>
            </a:r>
          </a:p>
          <a:p>
            <a:pPr lvl="1"/>
            <a:r>
              <a:rPr lang="fr-FR" dirty="0"/>
              <a:t>des mots les plus utilisés</a:t>
            </a:r>
          </a:p>
          <a:p>
            <a:r>
              <a:rPr lang="fr-FR" dirty="0"/>
              <a:t>Chevauchement</a:t>
            </a:r>
          </a:p>
          <a:p>
            <a:pPr lvl="1"/>
            <a:r>
              <a:rPr lang="fr-FR" dirty="0"/>
              <a:t>Injection de la fin du </a:t>
            </a:r>
            <a:r>
              <a:rPr lang="fr-FR" dirty="0" err="1"/>
              <a:t>chunk</a:t>
            </a:r>
            <a:r>
              <a:rPr lang="fr-FR" dirty="0"/>
              <a:t> précédent</a:t>
            </a:r>
          </a:p>
          <a:p>
            <a:pPr lvl="1"/>
            <a:r>
              <a:rPr lang="fr-FR" dirty="0"/>
              <a:t>Injection du début du </a:t>
            </a:r>
            <a:r>
              <a:rPr lang="fr-FR" dirty="0" err="1"/>
              <a:t>chunk</a:t>
            </a:r>
            <a:r>
              <a:rPr lang="fr-FR" dirty="0"/>
              <a:t> suivant</a:t>
            </a:r>
          </a:p>
          <a:p>
            <a:r>
              <a:rPr lang="fr-FR" dirty="0"/>
              <a:t>Existence de </a:t>
            </a:r>
            <a:r>
              <a:rPr lang="fr-FR" dirty="0" err="1"/>
              <a:t>framework</a:t>
            </a:r>
            <a:endParaRPr lang="fr-FR" dirty="0"/>
          </a:p>
          <a:p>
            <a:pPr lvl="1"/>
            <a:r>
              <a:rPr lang="fr-FR" dirty="0"/>
              <a:t>Codé à la main dans </a:t>
            </a:r>
            <a:r>
              <a:rPr lang="fr-FR" dirty="0" err="1"/>
              <a:t>demo_chunk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439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721E5-25BC-9EDF-E8EC-B9822BFB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6A091-35B9-4350-6660-81F75F924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048672" cy="5040560"/>
          </a:xfrm>
        </p:spPr>
        <p:txBody>
          <a:bodyPr/>
          <a:lstStyle/>
          <a:p>
            <a:r>
              <a:rPr lang="fr-FR" dirty="0"/>
              <a:t>Le résultat de l'</a:t>
            </a:r>
            <a:r>
              <a:rPr lang="fr-FR" dirty="0" err="1"/>
              <a:t>embedding</a:t>
            </a:r>
            <a:r>
              <a:rPr lang="fr-FR" dirty="0"/>
              <a:t> est une liste de vecteur</a:t>
            </a:r>
          </a:p>
          <a:p>
            <a:pPr lvl="1"/>
            <a:r>
              <a:rPr lang="fr-FR" dirty="0"/>
              <a:t>De </a:t>
            </a:r>
            <a:r>
              <a:rPr lang="fr-FR" dirty="0" err="1"/>
              <a:t>shape</a:t>
            </a:r>
            <a:r>
              <a:rPr lang="fr-FR" dirty="0"/>
              <a:t> (-1, 512) pour Use</a:t>
            </a:r>
          </a:p>
          <a:p>
            <a:pPr lvl="1"/>
            <a:r>
              <a:rPr lang="fr-FR" dirty="0"/>
              <a:t>En grande quantité</a:t>
            </a:r>
          </a:p>
          <a:p>
            <a:pPr lvl="1"/>
            <a:r>
              <a:rPr lang="fr-FR" dirty="0"/>
              <a:t>Nécessité d'un stockage</a:t>
            </a:r>
          </a:p>
          <a:p>
            <a:pPr lvl="1"/>
            <a:r>
              <a:rPr lang="fr-FR" dirty="0"/>
              <a:t>En RAM : max 1 à 10 millions</a:t>
            </a:r>
          </a:p>
          <a:p>
            <a:pPr lvl="1"/>
            <a:r>
              <a:rPr lang="fr-FR" dirty="0"/>
              <a:t>En BD</a:t>
            </a:r>
          </a:p>
          <a:p>
            <a:pPr lvl="1"/>
            <a:r>
              <a:rPr lang="fr-FR" dirty="0"/>
              <a:t>Nécessité de stocker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Titre, keywords, texte du </a:t>
            </a:r>
            <a:r>
              <a:rPr lang="fr-FR" dirty="0" err="1"/>
              <a:t>chunk</a:t>
            </a:r>
            <a:r>
              <a:rPr lang="fr-FR" dirty="0"/>
              <a:t>,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2C9F1A-D147-9C60-C2D4-AEBF78E7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255874"/>
            <a:ext cx="3024333" cy="53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46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F17E7-295C-B0CD-CAB9-D3D6B353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33CBD0-2032-B249-E3DE-18575461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traitement automatique du langage naturel, BERT, acronyme anglais de </a:t>
            </a:r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Puis de nombreux autres sites</a:t>
            </a:r>
          </a:p>
          <a:p>
            <a:pPr lvl="1"/>
            <a:r>
              <a:rPr lang="fr-FR" dirty="0"/>
              <a:t>Dans toutes les langues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768 float32 = 3Ko</a:t>
            </a:r>
          </a:p>
          <a:p>
            <a:pPr lvl="1"/>
            <a:r>
              <a:rPr lang="fr-FR" dirty="0"/>
              <a:t>2^12 possibilités</a:t>
            </a:r>
          </a:p>
          <a:p>
            <a:pPr lvl="1"/>
            <a:r>
              <a:rPr lang="fr-FR" dirty="0"/>
              <a:t>GPU souhaitable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551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5FEC6-4004-1DFE-5444-AA222CE0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CamenBERT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4BCA7-1079-550F-E99D-081958971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Modèle BERT spécialisé dans le Français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EA9AEC-88DE-99A6-AEDD-B64203E4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41" y="2805025"/>
            <a:ext cx="156231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200EB-2BC3-C8CC-5302-58924F5D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 d'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CF2C3-A7CC-2CFC-B617-E0F32894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Mistral-</a:t>
            </a:r>
            <a:r>
              <a:rPr lang="fr-FR" dirty="0" err="1"/>
              <a:t>embed</a:t>
            </a:r>
            <a:endParaRPr lang="fr-FR" dirty="0"/>
          </a:p>
          <a:p>
            <a:r>
              <a:rPr lang="fr-FR" dirty="0"/>
              <a:t>Claude-</a:t>
            </a:r>
            <a:r>
              <a:rPr lang="fr-FR" dirty="0" err="1"/>
              <a:t>embed</a:t>
            </a:r>
            <a:endParaRPr lang="fr-FR" dirty="0"/>
          </a:p>
          <a:p>
            <a:r>
              <a:rPr lang="fr-FR" dirty="0" err="1"/>
              <a:t>ChatGPT-embed</a:t>
            </a:r>
            <a:endParaRPr lang="fr-FR" dirty="0"/>
          </a:p>
          <a:p>
            <a:r>
              <a:rPr lang="fr-FR" dirty="0"/>
              <a:t>Chacun avec 1024 à 1536 float32</a:t>
            </a:r>
          </a:p>
        </p:txBody>
      </p:sp>
    </p:spTree>
    <p:extLst>
      <p:ext uri="{BB962C8B-B14F-4D97-AF65-F5344CB8AC3E}">
        <p14:creationId xmlns:p14="http://schemas.microsoft.com/office/powerpoint/2010/main" val="254086330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3415</TotalTime>
  <Words>580</Words>
  <Application>Microsoft Office PowerPoint</Application>
  <PresentationFormat>Affichage à l'écran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Monotype Sorts</vt:lpstr>
      <vt:lpstr>Times New Roman</vt:lpstr>
      <vt:lpstr>cvc</vt:lpstr>
      <vt:lpstr>Présentation PowerPoint</vt:lpstr>
      <vt:lpstr>Architecture</vt:lpstr>
      <vt:lpstr>Embedding</vt:lpstr>
      <vt:lpstr>Embedding</vt:lpstr>
      <vt:lpstr>Vector</vt:lpstr>
      <vt:lpstr>Google USE</vt:lpstr>
      <vt:lpstr>Comparaison de vecteurs</vt:lpstr>
      <vt:lpstr>Cosinus</vt:lpstr>
      <vt:lpstr>Augmentation des dimensions</vt:lpstr>
      <vt:lpstr>Transformation cosine</vt:lpstr>
      <vt:lpstr>Google USE</vt:lpstr>
      <vt:lpstr>Chunking</vt:lpstr>
      <vt:lpstr>Mécanisme de chunk</vt:lpstr>
      <vt:lpstr>Chunking avancé</vt:lpstr>
      <vt:lpstr>Gestion de l'embedding</vt:lpstr>
      <vt:lpstr>BERT</vt:lpstr>
      <vt:lpstr>CamenBERT</vt:lpstr>
      <vt:lpstr>Autres modèles d'embedding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266</cp:revision>
  <dcterms:created xsi:type="dcterms:W3CDTF">2000-04-10T19:33:12Z</dcterms:created>
  <dcterms:modified xsi:type="dcterms:W3CDTF">2025-10-16T19:49:41Z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