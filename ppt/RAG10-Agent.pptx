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0"/>
  </p:notesMasterIdLst>
  <p:handoutMasterIdLst>
    <p:handoutMasterId r:id="rId11"/>
  </p:handoutMasterIdLst>
  <p:sldIdLst>
    <p:sldId id="264" r:id="rId2"/>
    <p:sldId id="276" r:id="rId3"/>
    <p:sldId id="281" r:id="rId4"/>
    <p:sldId id="282" r:id="rId5"/>
    <p:sldId id="284" r:id="rId6"/>
    <p:sldId id="283" r:id="rId7"/>
    <p:sldId id="285" r:id="rId8"/>
    <p:sldId id="286" r:id="rId9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1810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/>
              <a:t>LLM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1259632" y="5661248"/>
            <a:ext cx="6400800" cy="551554"/>
          </a:xfrm>
        </p:spPr>
        <p:txBody>
          <a:bodyPr/>
          <a:lstStyle/>
          <a:p>
            <a:pPr eaLnBrk="1" hangingPunct="1"/>
            <a:r>
              <a:rPr lang="fr-FR" altLang="fr-FR" dirty="0"/>
              <a:t>Agent</a:t>
            </a:r>
          </a:p>
        </p:txBody>
      </p:sp>
      <p:sp>
        <p:nvSpPr>
          <p:cNvPr id="3" name="ZoneTexte 2"/>
          <p:cNvSpPr txBox="1"/>
          <p:nvPr/>
        </p:nvSpPr>
        <p:spPr>
          <a:xfrm>
            <a:off x="2107222" y="1120676"/>
            <a:ext cx="49295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3600" dirty="0"/>
              <a:t>Large </a:t>
            </a:r>
            <a:r>
              <a:rPr lang="fr-FR" sz="3600" dirty="0" err="1"/>
              <a:t>Language</a:t>
            </a:r>
            <a:r>
              <a:rPr lang="fr-FR" sz="3600" dirty="0"/>
              <a:t> Model</a:t>
            </a:r>
          </a:p>
          <a:p>
            <a:pPr algn="ctr"/>
            <a:r>
              <a:rPr lang="fr-FR" sz="3600" dirty="0"/>
              <a:t>RAG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52C0B44-A72F-4C23-DF0D-20BA9F6FF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056" y="2852936"/>
            <a:ext cx="3851920" cy="24631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93EA56-7AFF-2D78-ED74-A79E2C108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Agent IA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11D3116-3EDB-E50F-2228-F97618BF24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intelligence artificielle, un agent intelligent est une entité autonome, éventuellement dotée d'une persona, éventuellement capable de percevoir son environnement grâce à des capteurs, ainsi que d'agir sur celui-ci, au moyen d'effecteurs, afin de réaliser une tâche</a:t>
            </a:r>
          </a:p>
        </p:txBody>
      </p:sp>
    </p:spTree>
    <p:extLst>
      <p:ext uri="{BB962C8B-B14F-4D97-AF65-F5344CB8AC3E}">
        <p14:creationId xmlns:p14="http://schemas.microsoft.com/office/powerpoint/2010/main" val="3531968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A130BB-9F17-3B45-8948-B193BC001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Agent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D1724F3-AE22-BFB5-97C6-34205098C5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agent doit donc être capable</a:t>
            </a:r>
          </a:p>
          <a:p>
            <a:pPr lvl="1"/>
            <a:r>
              <a:rPr lang="fr-FR" dirty="0"/>
              <a:t>D'interagir avec une API externe</a:t>
            </a:r>
          </a:p>
          <a:p>
            <a:pPr lvl="1"/>
            <a:r>
              <a:rPr lang="fr-FR" dirty="0"/>
              <a:t>API, SQL, Capteurs, …</a:t>
            </a:r>
          </a:p>
          <a:p>
            <a:pPr lvl="1"/>
            <a:r>
              <a:rPr lang="fr-FR" dirty="0"/>
              <a:t>D'interagir avec le LLM</a:t>
            </a:r>
          </a:p>
          <a:p>
            <a:r>
              <a:rPr lang="fr-FR" dirty="0"/>
              <a:t>L'agent va enrichir la réponse du LLM</a:t>
            </a:r>
          </a:p>
          <a:p>
            <a:pPr lvl="1"/>
            <a:r>
              <a:rPr lang="fr-FR" dirty="0"/>
              <a:t>Arrive en fin de RAG</a:t>
            </a:r>
          </a:p>
          <a:p>
            <a:r>
              <a:rPr lang="fr-FR" dirty="0"/>
              <a:t>Peut être autonome</a:t>
            </a:r>
          </a:p>
          <a:p>
            <a:pPr lvl="1"/>
            <a:r>
              <a:rPr lang="fr-FR" dirty="0"/>
              <a:t>Programme indépendant</a:t>
            </a:r>
          </a:p>
        </p:txBody>
      </p:sp>
    </p:spTree>
    <p:extLst>
      <p:ext uri="{BB962C8B-B14F-4D97-AF65-F5344CB8AC3E}">
        <p14:creationId xmlns:p14="http://schemas.microsoft.com/office/powerpoint/2010/main" val="34297073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81E18B-F2F8-FC0E-821B-0E065BBC5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5834EA-A5F6-CE1B-773B-0E640B1F8F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Supposons une fonction métier</a:t>
            </a:r>
          </a:p>
          <a:p>
            <a:pPr lvl="1"/>
            <a:r>
              <a:rPr lang="fr-FR" dirty="0"/>
              <a:t>Capteur de température</a:t>
            </a:r>
          </a:p>
          <a:p>
            <a:pPr lvl="1"/>
            <a:r>
              <a:rPr lang="fr-FR" dirty="0"/>
              <a:t>Calcul complexe</a:t>
            </a:r>
          </a:p>
          <a:p>
            <a:pPr lvl="1"/>
            <a:r>
              <a:rPr lang="fr-FR" dirty="0"/>
              <a:t>Interrogation SQL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76FB7DA-E576-0E2B-82BD-78634B044A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68" y="3542476"/>
            <a:ext cx="3934374" cy="781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565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7FB44-3720-AF55-BCCA-3E745129F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C78474-4BBE-F12B-D19E-EA2B4F947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Agent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336DA66-047F-4265-AE6A-7C51A1C8B4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agent permet d'enrichir la requête LLM par la méthode de l'agent</a:t>
            </a:r>
          </a:p>
          <a:p>
            <a:pPr marL="457200" lvl="1" indent="0">
              <a:buNone/>
            </a:pPr>
            <a:r>
              <a:rPr lang="fr-FR" sz="2000" dirty="0"/>
              <a:t>agent = </a:t>
            </a:r>
            <a:r>
              <a:rPr lang="fr-FR" sz="2000" dirty="0" err="1"/>
              <a:t>FunctionAgent</a:t>
            </a:r>
            <a:r>
              <a:rPr lang="fr-FR" sz="2000" dirty="0"/>
              <a:t>(</a:t>
            </a:r>
          </a:p>
          <a:p>
            <a:pPr marL="457200" lvl="1" indent="0">
              <a:buNone/>
            </a:pPr>
            <a:r>
              <a:rPr lang="fr-FR" sz="2000" dirty="0"/>
              <a:t>    </a:t>
            </a:r>
            <a:r>
              <a:rPr lang="fr-FR" sz="2000" dirty="0" err="1"/>
              <a:t>tools</a:t>
            </a:r>
            <a:r>
              <a:rPr lang="fr-FR" sz="2000" dirty="0"/>
              <a:t>=[</a:t>
            </a:r>
            <a:r>
              <a:rPr lang="fr-FR" sz="2000" dirty="0" err="1"/>
              <a:t>multiply</a:t>
            </a:r>
            <a:r>
              <a:rPr lang="fr-FR" sz="2000" dirty="0"/>
              <a:t>],</a:t>
            </a:r>
          </a:p>
          <a:p>
            <a:pPr marL="457200" lvl="1" indent="0">
              <a:buNone/>
            </a:pPr>
            <a:r>
              <a:rPr lang="fr-FR" sz="2000" dirty="0"/>
              <a:t>    </a:t>
            </a:r>
            <a:r>
              <a:rPr lang="fr-FR" sz="2000" dirty="0" err="1"/>
              <a:t>llm</a:t>
            </a:r>
            <a:r>
              <a:rPr lang="fr-FR" sz="2000" dirty="0"/>
              <a:t>=</a:t>
            </a:r>
            <a:r>
              <a:rPr lang="fr-FR" sz="2000" dirty="0" err="1"/>
              <a:t>OpenAI</a:t>
            </a:r>
            <a:r>
              <a:rPr lang="fr-FR" sz="2000" dirty="0"/>
              <a:t>(model="gpt-4o-mini"),</a:t>
            </a:r>
          </a:p>
          <a:p>
            <a:pPr marL="457200" lvl="1" indent="0">
              <a:buNone/>
            </a:pPr>
            <a:r>
              <a:rPr lang="fr-FR" sz="2000" dirty="0"/>
              <a:t>    </a:t>
            </a:r>
            <a:r>
              <a:rPr lang="fr-FR" sz="2000" dirty="0" err="1"/>
              <a:t>system_prompt</a:t>
            </a:r>
            <a:r>
              <a:rPr lang="fr-FR" sz="2000" dirty="0"/>
              <a:t>="""You are a </a:t>
            </a:r>
            <a:r>
              <a:rPr lang="fr-FR" sz="2000" dirty="0" err="1"/>
              <a:t>helpful</a:t>
            </a:r>
            <a:r>
              <a:rPr lang="fr-FR" sz="2000" dirty="0"/>
              <a:t> assistant </a:t>
            </a:r>
            <a:r>
              <a:rPr lang="fr-FR" sz="2000" dirty="0" err="1"/>
              <a:t>that</a:t>
            </a:r>
            <a:r>
              <a:rPr lang="fr-FR" sz="2000" dirty="0"/>
              <a:t> can </a:t>
            </a:r>
            <a:r>
              <a:rPr lang="fr-FR" sz="2000" dirty="0" err="1"/>
              <a:t>perform</a:t>
            </a:r>
            <a:r>
              <a:rPr lang="fr-FR" sz="2000" dirty="0"/>
              <a:t> </a:t>
            </a:r>
            <a:r>
              <a:rPr lang="fr-FR" sz="2000" dirty="0" err="1"/>
              <a:t>calculations</a:t>
            </a:r>
            <a:endParaRPr lang="fr-FR" sz="2000" dirty="0"/>
          </a:p>
          <a:p>
            <a:pPr marL="457200" lvl="1" indent="0">
              <a:buNone/>
            </a:pPr>
            <a:r>
              <a:rPr lang="fr-FR" sz="2000" dirty="0"/>
              <a:t>    and </a:t>
            </a:r>
            <a:r>
              <a:rPr lang="fr-FR" sz="2000" dirty="0" err="1"/>
              <a:t>search</a:t>
            </a:r>
            <a:r>
              <a:rPr lang="fr-FR" sz="2000" dirty="0"/>
              <a:t> </a:t>
            </a:r>
            <a:r>
              <a:rPr lang="fr-FR" sz="2000" dirty="0" err="1"/>
              <a:t>through</a:t>
            </a:r>
            <a:r>
              <a:rPr lang="fr-FR" sz="2000" dirty="0"/>
              <a:t> documents to </a:t>
            </a:r>
            <a:r>
              <a:rPr lang="fr-FR" sz="2000" dirty="0" err="1"/>
              <a:t>answer</a:t>
            </a:r>
            <a:r>
              <a:rPr lang="fr-FR" sz="2000" dirty="0"/>
              <a:t> questions.""",</a:t>
            </a:r>
          </a:p>
          <a:p>
            <a:pPr marL="457200" lvl="1" indent="0">
              <a:buNone/>
            </a:pPr>
            <a:r>
              <a:rPr lang="fr-FR" sz="2000" dirty="0"/>
              <a:t>)</a:t>
            </a:r>
          </a:p>
          <a:p>
            <a:pPr marL="457200" lvl="1" indent="0">
              <a:buNone/>
            </a:pPr>
            <a:endParaRPr lang="fr-FR" sz="2000" dirty="0"/>
          </a:p>
          <a:p>
            <a:pPr marL="457200" lvl="1" indent="0">
              <a:buNone/>
            </a:pPr>
            <a:r>
              <a:rPr lang="fr-FR" sz="2000" dirty="0" err="1"/>
              <a:t>async</a:t>
            </a:r>
            <a:r>
              <a:rPr lang="fr-FR" sz="2000" dirty="0"/>
              <a:t> </a:t>
            </a:r>
            <a:r>
              <a:rPr lang="fr-FR" sz="2000" dirty="0" err="1"/>
              <a:t>def</a:t>
            </a:r>
            <a:r>
              <a:rPr lang="fr-FR" sz="2000" dirty="0"/>
              <a:t> main():</a:t>
            </a:r>
          </a:p>
          <a:p>
            <a:pPr marL="457200" lvl="1" indent="0">
              <a:buNone/>
            </a:pPr>
            <a:r>
              <a:rPr lang="fr-FR" sz="2000" dirty="0"/>
              <a:t>    </a:t>
            </a:r>
            <a:r>
              <a:rPr lang="fr-FR" sz="2000" dirty="0" err="1"/>
              <a:t>response</a:t>
            </a:r>
            <a:r>
              <a:rPr lang="fr-FR" sz="2000" dirty="0"/>
              <a:t> = </a:t>
            </a:r>
            <a:r>
              <a:rPr lang="fr-FR" sz="2000" dirty="0" err="1"/>
              <a:t>await</a:t>
            </a:r>
            <a:r>
              <a:rPr lang="fr-FR" sz="2000" dirty="0"/>
              <a:t> </a:t>
            </a:r>
            <a:r>
              <a:rPr lang="fr-FR" sz="2000" dirty="0" err="1"/>
              <a:t>agent.run</a:t>
            </a:r>
            <a:r>
              <a:rPr lang="fr-FR" sz="2000" dirty="0"/>
              <a:t>("Combien font 123 * 456")</a:t>
            </a:r>
          </a:p>
          <a:p>
            <a:pPr marL="457200" lvl="1" indent="0">
              <a:buNone/>
            </a:pPr>
            <a:r>
              <a:rPr lang="fr-FR" sz="2000" dirty="0"/>
              <a:t>    </a:t>
            </a:r>
            <a:r>
              <a:rPr lang="fr-FR" sz="2000" dirty="0" err="1"/>
              <a:t>print</a:t>
            </a:r>
            <a:r>
              <a:rPr lang="fr-FR" sz="2000" dirty="0"/>
              <a:t>(</a:t>
            </a:r>
            <a:r>
              <a:rPr lang="fr-FR" sz="2000" dirty="0" err="1"/>
              <a:t>response</a:t>
            </a:r>
            <a:r>
              <a:rPr lang="fr-FR" sz="2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35967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53AE19E-D7A7-0E83-F8DA-E918DFF2B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Agent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2E8FFFA-B049-8E1A-76C8-AFB0D2E444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Supposons une requête LLM classique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Un agent permet d'enrichir la requête LLM par la méthode de l'agent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500F459-FD1D-7884-E515-56D3F4BCA0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1760" y="2060848"/>
            <a:ext cx="4124901" cy="115268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9856640-9286-AACA-76D7-A66B900628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7624" y="4721223"/>
            <a:ext cx="6725589" cy="1448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8309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6F7EE6-7E1B-5825-8754-6C7740942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Agent + RAG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3D2D3AE-96B6-89FA-63AA-1CCED998DB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Agent est indépendant du RAG</a:t>
            </a:r>
          </a:p>
          <a:p>
            <a:pPr lvl="1"/>
            <a:r>
              <a:rPr lang="fr-FR" dirty="0"/>
              <a:t>Peut compléter du RAG</a:t>
            </a:r>
          </a:p>
          <a:p>
            <a:pPr lvl="1"/>
            <a:r>
              <a:rPr lang="fr-FR" dirty="0"/>
              <a:t>Il suffit de mettre le RAG dans une fonction</a:t>
            </a:r>
          </a:p>
          <a:p>
            <a:pPr lvl="1"/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2B423BD9-3EAB-8AFF-0220-56A980CD8F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1446" y="2996952"/>
            <a:ext cx="6839905" cy="322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0895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DCBE16-BFBA-9F6D-2476-F57EB0BD6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Agent + RAG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C00A1AF-10C0-974E-68B0-1E0BB27431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/>
              <a:t>LA prompt </a:t>
            </a:r>
            <a:r>
              <a:rPr lang="fr-FR" dirty="0"/>
              <a:t>suivant va effectuer un RAG puis un appel à la fonction </a:t>
            </a:r>
            <a:r>
              <a:rPr lang="fr-FR" dirty="0" err="1"/>
              <a:t>multiply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6E79563-ECC2-8F67-34DA-2A52D023C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628" y="2785973"/>
            <a:ext cx="5334744" cy="1286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5522685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3605</TotalTime>
  <Words>237</Words>
  <Application>Microsoft Office PowerPoint</Application>
  <PresentationFormat>Affichage à l'écran (4:3)</PresentationFormat>
  <Paragraphs>43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2" baseType="lpstr">
      <vt:lpstr>Arial</vt:lpstr>
      <vt:lpstr>Monotype Sorts</vt:lpstr>
      <vt:lpstr>Times New Roman</vt:lpstr>
      <vt:lpstr>cvc</vt:lpstr>
      <vt:lpstr>Présentation PowerPoint</vt:lpstr>
      <vt:lpstr>Agent IA</vt:lpstr>
      <vt:lpstr>Agent</vt:lpstr>
      <vt:lpstr>Exemple</vt:lpstr>
      <vt:lpstr>Agent</vt:lpstr>
      <vt:lpstr>Agent</vt:lpstr>
      <vt:lpstr>Agent + RAG</vt:lpstr>
      <vt:lpstr>Agent + RAG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277</cp:revision>
  <dcterms:created xsi:type="dcterms:W3CDTF">2000-04-10T19:33:12Z</dcterms:created>
  <dcterms:modified xsi:type="dcterms:W3CDTF">2025-10-15T20:21:55Z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