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1"/>
  </p:notesMasterIdLst>
  <p:handoutMasterIdLst>
    <p:handoutMasterId r:id="rId12"/>
  </p:handoutMasterIdLst>
  <p:sldIdLst>
    <p:sldId id="264" r:id="rId2"/>
    <p:sldId id="287" r:id="rId3"/>
    <p:sldId id="276" r:id="rId4"/>
    <p:sldId id="281" r:id="rId5"/>
    <p:sldId id="282" r:id="rId6"/>
    <p:sldId id="284" r:id="rId7"/>
    <p:sldId id="283" r:id="rId8"/>
    <p:sldId id="285" r:id="rId9"/>
    <p:sldId id="286" r:id="rId10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Agent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967574-4FAB-48A5-BC32-4C726D70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5D571C-33BE-6C49-1CF3-91E209D59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https://python.langchain.com/docs/integrations/tools/</a:t>
            </a:r>
          </a:p>
        </p:txBody>
      </p:sp>
    </p:spTree>
    <p:extLst>
      <p:ext uri="{BB962C8B-B14F-4D97-AF65-F5344CB8AC3E}">
        <p14:creationId xmlns:p14="http://schemas.microsoft.com/office/powerpoint/2010/main" val="163423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3EA56-7AFF-2D78-ED74-A79E2C10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 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1D3116-3EDB-E50F-2228-F97618BF2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intelligence artificielle, un agent intelligent est une entité autonome, éventuellement dotée d'une persona, éventuellement capable de percevoir son environnement grâce à des capteurs, ainsi que d'agir sur celui-ci, au moyen d'effecteurs, afin de réaliser une tâche</a:t>
            </a:r>
          </a:p>
        </p:txBody>
      </p:sp>
    </p:spTree>
    <p:extLst>
      <p:ext uri="{BB962C8B-B14F-4D97-AF65-F5344CB8AC3E}">
        <p14:creationId xmlns:p14="http://schemas.microsoft.com/office/powerpoint/2010/main" val="353196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A130BB-9F17-3B45-8948-B193BC00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1724F3-AE22-BFB5-97C6-34205098C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agent doit donc être capable</a:t>
            </a:r>
          </a:p>
          <a:p>
            <a:pPr lvl="1"/>
            <a:r>
              <a:rPr lang="fr-FR" dirty="0"/>
              <a:t>D'interagir avec une API externe</a:t>
            </a:r>
          </a:p>
          <a:p>
            <a:pPr lvl="1"/>
            <a:r>
              <a:rPr lang="fr-FR" dirty="0"/>
              <a:t>API, SQL, Capteurs, …</a:t>
            </a:r>
          </a:p>
          <a:p>
            <a:pPr lvl="1"/>
            <a:r>
              <a:rPr lang="fr-FR" dirty="0"/>
              <a:t>D'interagir avec le LLM</a:t>
            </a:r>
          </a:p>
          <a:p>
            <a:r>
              <a:rPr lang="fr-FR" dirty="0"/>
              <a:t>L'agent va enrichir la réponse du LLM</a:t>
            </a:r>
          </a:p>
          <a:p>
            <a:pPr lvl="1"/>
            <a:r>
              <a:rPr lang="fr-FR" dirty="0"/>
              <a:t>Arrive en fin de RAG</a:t>
            </a:r>
          </a:p>
          <a:p>
            <a:r>
              <a:rPr lang="fr-FR" dirty="0"/>
              <a:t>Peut être autonome</a:t>
            </a:r>
          </a:p>
          <a:p>
            <a:pPr lvl="1"/>
            <a:r>
              <a:rPr lang="fr-FR" dirty="0"/>
              <a:t>Programme indépendant</a:t>
            </a:r>
          </a:p>
        </p:txBody>
      </p:sp>
    </p:spTree>
    <p:extLst>
      <p:ext uri="{BB962C8B-B14F-4D97-AF65-F5344CB8AC3E}">
        <p14:creationId xmlns:p14="http://schemas.microsoft.com/office/powerpoint/2010/main" val="342970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1E18B-F2F8-FC0E-821B-0E065BBC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5834EA-A5F6-CE1B-773B-0E640B1F8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Supposons une fonction métier</a:t>
            </a:r>
          </a:p>
          <a:p>
            <a:pPr lvl="1"/>
            <a:r>
              <a:rPr lang="fr-FR" dirty="0"/>
              <a:t>Capteur de température</a:t>
            </a:r>
          </a:p>
          <a:p>
            <a:pPr lvl="1"/>
            <a:r>
              <a:rPr lang="fr-FR" dirty="0"/>
              <a:t>Calcul complexe</a:t>
            </a:r>
          </a:p>
          <a:p>
            <a:pPr lvl="1"/>
            <a:r>
              <a:rPr lang="fr-FR" dirty="0"/>
              <a:t>Interrogation SQL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6FB7DA-E576-0E2B-82BD-78634B044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3542476"/>
            <a:ext cx="3934374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FB44-3720-AF55-BCCA-3E745129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78474-4BBE-F12B-D19E-EA2B4F94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36DA66-047F-4265-AE6A-7C51A1C8B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agent permet d'enrichir la requête LLM par la méthode de l'agent</a:t>
            </a:r>
          </a:p>
          <a:p>
            <a:pPr marL="457200" lvl="1" indent="0">
              <a:buNone/>
            </a:pPr>
            <a:r>
              <a:rPr lang="fr-FR" sz="2000" dirty="0"/>
              <a:t>agent = </a:t>
            </a:r>
            <a:r>
              <a:rPr lang="fr-FR" sz="2000" dirty="0" err="1"/>
              <a:t>FunctionAgent</a:t>
            </a:r>
            <a:r>
              <a:rPr lang="fr-FR" sz="2000" dirty="0"/>
              <a:t>(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tools</a:t>
            </a:r>
            <a:r>
              <a:rPr lang="fr-FR" sz="2000" dirty="0"/>
              <a:t>=[</a:t>
            </a:r>
            <a:r>
              <a:rPr lang="fr-FR" sz="2000" dirty="0" err="1"/>
              <a:t>multiply</a:t>
            </a:r>
            <a:r>
              <a:rPr lang="fr-FR" sz="2000" dirty="0"/>
              <a:t>],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llm</a:t>
            </a:r>
            <a:r>
              <a:rPr lang="fr-FR" sz="2000" dirty="0"/>
              <a:t>=</a:t>
            </a:r>
            <a:r>
              <a:rPr lang="fr-FR" sz="2000" dirty="0" err="1"/>
              <a:t>OpenAI</a:t>
            </a:r>
            <a:r>
              <a:rPr lang="fr-FR" sz="2000" dirty="0"/>
              <a:t>(model="gpt-4o-mini"),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system_prompt</a:t>
            </a:r>
            <a:r>
              <a:rPr lang="fr-FR" sz="2000" dirty="0"/>
              <a:t>="""You are a </a:t>
            </a:r>
            <a:r>
              <a:rPr lang="fr-FR" sz="2000" dirty="0" err="1"/>
              <a:t>helpful</a:t>
            </a:r>
            <a:r>
              <a:rPr lang="fr-FR" sz="2000" dirty="0"/>
              <a:t> assistant </a:t>
            </a:r>
            <a:r>
              <a:rPr lang="fr-FR" sz="2000" dirty="0" err="1"/>
              <a:t>that</a:t>
            </a:r>
            <a:r>
              <a:rPr lang="fr-FR" sz="2000" dirty="0"/>
              <a:t> can </a:t>
            </a:r>
            <a:r>
              <a:rPr lang="fr-FR" sz="2000" dirty="0" err="1"/>
              <a:t>perform</a:t>
            </a:r>
            <a:r>
              <a:rPr lang="fr-FR" sz="2000" dirty="0"/>
              <a:t> </a:t>
            </a:r>
            <a:r>
              <a:rPr lang="fr-FR" sz="2000" dirty="0" err="1"/>
              <a:t>calculations</a:t>
            </a:r>
            <a:endParaRPr lang="fr-FR" sz="2000" dirty="0"/>
          </a:p>
          <a:p>
            <a:pPr marL="457200" lvl="1" indent="0">
              <a:buNone/>
            </a:pPr>
            <a:r>
              <a:rPr lang="fr-FR" sz="2000" dirty="0"/>
              <a:t>    and </a:t>
            </a:r>
            <a:r>
              <a:rPr lang="fr-FR" sz="2000" dirty="0" err="1"/>
              <a:t>search</a:t>
            </a:r>
            <a:r>
              <a:rPr lang="fr-FR" sz="2000" dirty="0"/>
              <a:t> </a:t>
            </a:r>
            <a:r>
              <a:rPr lang="fr-FR" sz="2000" dirty="0" err="1"/>
              <a:t>through</a:t>
            </a:r>
            <a:r>
              <a:rPr lang="fr-FR" sz="2000" dirty="0"/>
              <a:t> documents to </a:t>
            </a:r>
            <a:r>
              <a:rPr lang="fr-FR" sz="2000" dirty="0" err="1"/>
              <a:t>answer</a:t>
            </a:r>
            <a:r>
              <a:rPr lang="fr-FR" sz="2000" dirty="0"/>
              <a:t> questions.""",</a:t>
            </a:r>
          </a:p>
          <a:p>
            <a:pPr marL="457200" lvl="1" indent="0">
              <a:buNone/>
            </a:pPr>
            <a:r>
              <a:rPr lang="fr-FR" sz="2000" dirty="0"/>
              <a:t>)</a:t>
            </a:r>
          </a:p>
          <a:p>
            <a:pPr marL="457200" lvl="1" indent="0">
              <a:buNone/>
            </a:pPr>
            <a:endParaRPr lang="fr-FR" sz="2000" dirty="0"/>
          </a:p>
          <a:p>
            <a:pPr marL="457200" lvl="1" indent="0">
              <a:buNone/>
            </a:pPr>
            <a:r>
              <a:rPr lang="fr-FR" sz="2000" dirty="0" err="1"/>
              <a:t>async</a:t>
            </a:r>
            <a:r>
              <a:rPr lang="fr-FR" sz="2000" dirty="0"/>
              <a:t> </a:t>
            </a:r>
            <a:r>
              <a:rPr lang="fr-FR" sz="2000" dirty="0" err="1"/>
              <a:t>def</a:t>
            </a:r>
            <a:r>
              <a:rPr lang="fr-FR" sz="2000" dirty="0"/>
              <a:t> main():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response</a:t>
            </a:r>
            <a:r>
              <a:rPr lang="fr-FR" sz="2000" dirty="0"/>
              <a:t> = </a:t>
            </a:r>
            <a:r>
              <a:rPr lang="fr-FR" sz="2000" dirty="0" err="1"/>
              <a:t>await</a:t>
            </a:r>
            <a:r>
              <a:rPr lang="fr-FR" sz="2000" dirty="0"/>
              <a:t> </a:t>
            </a:r>
            <a:r>
              <a:rPr lang="fr-FR" sz="2000" dirty="0" err="1"/>
              <a:t>agent.run</a:t>
            </a:r>
            <a:r>
              <a:rPr lang="fr-FR" sz="2000" dirty="0"/>
              <a:t>("Combien font 123 * 456")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print</a:t>
            </a:r>
            <a:r>
              <a:rPr lang="fr-FR" sz="2000" dirty="0"/>
              <a:t>(</a:t>
            </a:r>
            <a:r>
              <a:rPr lang="fr-FR" sz="2000" dirty="0" err="1"/>
              <a:t>response</a:t>
            </a:r>
            <a:r>
              <a:rPr lang="fr-F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596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3AE19E-D7A7-0E83-F8DA-E918DFF2B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E8FFFA-B049-8E1A-76C8-AFB0D2E44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Supposons une requête LLM classique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Un agent permet d'enrichir la requête LLM par la méthode de l'agent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00F459-FD1D-7884-E515-56D3F4BCA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060848"/>
            <a:ext cx="4124901" cy="115268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9856640-9286-AACA-76D7-A66B90062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4721223"/>
            <a:ext cx="6725589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3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F7EE6-7E1B-5825-8754-6C774094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 +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D2D3AE-96B6-89FA-63AA-1CCED998D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Agent est indépendant du RAG</a:t>
            </a:r>
          </a:p>
          <a:p>
            <a:pPr lvl="1"/>
            <a:r>
              <a:rPr lang="fr-FR" dirty="0"/>
              <a:t>Peut compléter du RAG</a:t>
            </a:r>
          </a:p>
          <a:p>
            <a:pPr lvl="1"/>
            <a:r>
              <a:rPr lang="fr-FR" dirty="0"/>
              <a:t>Il suffit de mettre le RAG dans une fonction</a:t>
            </a:r>
          </a:p>
          <a:p>
            <a:pPr lvl="1"/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B423BD9-3EAB-8AFF-0220-56A980CD8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46" y="2996952"/>
            <a:ext cx="6839905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8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DCBE16-BFBA-9F6D-2476-F57EB0BD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 +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00A1AF-10C0-974E-68B0-1E0BB2743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LA prompt </a:t>
            </a:r>
            <a:r>
              <a:rPr lang="fr-FR" dirty="0"/>
              <a:t>suivant va effectuer un RAG puis un appel à la fonction </a:t>
            </a:r>
            <a:r>
              <a:rPr lang="fr-FR" dirty="0" err="1"/>
              <a:t>multiply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E79563-ECC2-8F67-34DA-2A52D023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28" y="2785973"/>
            <a:ext cx="5334744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52268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3605</TotalTime>
  <Words>251</Words>
  <Application>Microsoft Office PowerPoint</Application>
  <PresentationFormat>Affichage à l'écran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Agent IA</vt:lpstr>
      <vt:lpstr>Agent</vt:lpstr>
      <vt:lpstr>Exemple</vt:lpstr>
      <vt:lpstr>Agent</vt:lpstr>
      <vt:lpstr>Agent</vt:lpstr>
      <vt:lpstr>Agent + RAG</vt:lpstr>
      <vt:lpstr>Agent + RAG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278</cp:revision>
  <dcterms:created xsi:type="dcterms:W3CDTF">2000-04-10T19:33:12Z</dcterms:created>
  <dcterms:modified xsi:type="dcterms:W3CDTF">2025-10-16T17:54:26Z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