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264" r:id="rId2"/>
    <p:sldId id="347" r:id="rId3"/>
    <p:sldId id="346" r:id="rId4"/>
    <p:sldId id="353" r:id="rId5"/>
    <p:sldId id="271" r:id="rId6"/>
    <p:sldId id="287" r:id="rId7"/>
    <p:sldId id="535" r:id="rId8"/>
    <p:sldId id="532" r:id="rId9"/>
    <p:sldId id="533" r:id="rId10"/>
    <p:sldId id="536" r:id="rId11"/>
    <p:sldId id="537" r:id="rId12"/>
    <p:sldId id="348" r:id="rId13"/>
    <p:sldId id="349" r:id="rId14"/>
    <p:sldId id="350" r:id="rId15"/>
    <p:sldId id="351" r:id="rId16"/>
    <p:sldId id="352" r:id="rId17"/>
    <p:sldId id="354" r:id="rId18"/>
    <p:sldId id="539" r:id="rId19"/>
    <p:sldId id="538" r:id="rId20"/>
    <p:sldId id="540" r:id="rId21"/>
    <p:sldId id="541" r:id="rId22"/>
    <p:sldId id="542" r:id="rId23"/>
    <p:sldId id="543" r:id="rId24"/>
    <p:sldId id="544" r:id="rId25"/>
    <p:sldId id="545" r:id="rId26"/>
    <p:sldId id="546" r:id="rId27"/>
    <p:sldId id="547" r:id="rId28"/>
    <p:sldId id="548" r:id="rId29"/>
    <p:sldId id="549" r:id="rId3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LLM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79172-4201-9510-9EEE-AAD2C79E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Lama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8943D-109D-1E2F-7B5C-F39B164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Large </a:t>
            </a:r>
            <a:r>
              <a:rPr lang="fr-FR" sz="2400" dirty="0" err="1"/>
              <a:t>LAnguage</a:t>
            </a:r>
            <a:r>
              <a:rPr lang="fr-FR" sz="2400" dirty="0"/>
              <a:t> Model</a:t>
            </a:r>
          </a:p>
          <a:p>
            <a:pPr lvl="1"/>
            <a:r>
              <a:rPr lang="fr-FR" sz="2000" dirty="0"/>
              <a:t>LLM</a:t>
            </a:r>
          </a:p>
          <a:p>
            <a:pPr lvl="1"/>
            <a:r>
              <a:rPr lang="fr-FR" sz="2000" dirty="0" err="1"/>
              <a:t>Llama</a:t>
            </a:r>
            <a:endParaRPr lang="fr-FR" sz="2000" dirty="0"/>
          </a:p>
          <a:p>
            <a:r>
              <a:rPr lang="fr-FR" sz="2400" dirty="0" err="1"/>
              <a:t>OpenAI</a:t>
            </a:r>
            <a:endParaRPr lang="fr-FR" sz="2400" dirty="0"/>
          </a:p>
          <a:p>
            <a:pPr lvl="1"/>
            <a:r>
              <a:rPr lang="fr-FR" sz="2000" dirty="0" err="1"/>
              <a:t>ChatGPT</a:t>
            </a:r>
            <a:endParaRPr lang="fr-FR" sz="2000" dirty="0"/>
          </a:p>
          <a:p>
            <a:r>
              <a:rPr lang="fr-FR" sz="2400" dirty="0"/>
              <a:t>Mistral</a:t>
            </a:r>
          </a:p>
          <a:p>
            <a:r>
              <a:rPr lang="fr-FR" sz="2400" dirty="0" err="1"/>
              <a:t>Anthropic</a:t>
            </a:r>
            <a:endParaRPr lang="fr-FR" sz="2400" dirty="0"/>
          </a:p>
          <a:p>
            <a:pPr lvl="1"/>
            <a:r>
              <a:rPr lang="fr-FR" sz="2000" dirty="0"/>
              <a:t>Claude</a:t>
            </a:r>
          </a:p>
          <a:p>
            <a:r>
              <a:rPr lang="fr-FR" sz="2400" dirty="0" err="1"/>
              <a:t>DeepSeek</a:t>
            </a:r>
            <a:endParaRPr lang="fr-FR" sz="2400" dirty="0"/>
          </a:p>
          <a:p>
            <a:r>
              <a:rPr lang="fr-FR" sz="2400" dirty="0"/>
              <a:t>Facebook</a:t>
            </a:r>
          </a:p>
          <a:p>
            <a:r>
              <a:rPr lang="fr-FR" sz="2400" dirty="0"/>
              <a:t>Google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46DD2-C313-9D5A-5F3B-74C05D12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24" y="3212974"/>
            <a:ext cx="3851920" cy="2463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16D0C2-68B8-4E02-BD16-7FD10695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07" y="2052086"/>
            <a:ext cx="3134162" cy="8764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F489FE-CAB2-2304-3B61-5E7CF9F4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815" y="3140802"/>
            <a:ext cx="933580" cy="10383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20BEEE-9524-4BFB-9F09-CCD0BCA00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14" y="4036679"/>
            <a:ext cx="2924583" cy="5525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E1AB00-A3C5-F60F-61DB-669090CD6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203" y="4584748"/>
            <a:ext cx="2304008" cy="8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384A-7269-9F59-115F-B5484D97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7D26D8-A7C7-40ED-1688-D8CCCE1AE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  <a:p>
            <a:r>
              <a:rPr lang="fr-FR" dirty="0"/>
              <a:t>Génération augmentée de récupération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97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 pour réseaux neuronaux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(ainsi que toutes les IA) sont </a:t>
            </a:r>
            <a:r>
              <a:rPr lang="fr-FR" dirty="0" err="1"/>
              <a:t>progrmmés</a:t>
            </a:r>
            <a:r>
              <a:rPr lang="fr-FR" dirty="0"/>
              <a:t> avec des </a:t>
            </a:r>
            <a:r>
              <a:rPr lang="fr-FR" dirty="0" err="1"/>
              <a:t>framework</a:t>
            </a:r>
            <a:r>
              <a:rPr lang="fr-FR" dirty="0"/>
              <a:t> Python</a:t>
            </a:r>
          </a:p>
          <a:p>
            <a:r>
              <a:rPr lang="fr-FR" dirty="0"/>
              <a:t>Il en existe 3</a:t>
            </a:r>
          </a:p>
          <a:p>
            <a:pPr lvl="1"/>
            <a:r>
              <a:rPr lang="fr-FR" dirty="0" err="1"/>
              <a:t>Scikit-learn</a:t>
            </a:r>
            <a:r>
              <a:rPr lang="fr-FR" dirty="0"/>
              <a:t> (simple, peu puissant)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(Google, GPU, très puissant)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(Facebook, GPU, à la mode)</a:t>
            </a:r>
          </a:p>
        </p:txBody>
      </p:sp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Long Short </a:t>
            </a:r>
            <a:r>
              <a:rPr lang="fr-FR" dirty="0" err="1"/>
              <a:t>Term</a:t>
            </a:r>
            <a:r>
              <a:rPr lang="fr-FR" dirty="0"/>
              <a:t> Memory Network</a:t>
            </a:r>
          </a:p>
          <a:p>
            <a:pPr lvl="1"/>
            <a:r>
              <a:rPr lang="fr-FR" dirty="0"/>
              <a:t>Le problème des RNN est la donnée qui reste longtemps dans le neurone (Long </a:t>
            </a:r>
            <a:r>
              <a:rPr lang="fr-FR" dirty="0" err="1"/>
              <a:t>Term</a:t>
            </a:r>
            <a:r>
              <a:rPr lang="fr-FR" dirty="0"/>
              <a:t> Memory)</a:t>
            </a:r>
          </a:p>
          <a:p>
            <a:pPr lvl="1"/>
            <a:r>
              <a:rPr lang="fr-FR" dirty="0"/>
              <a:t>C’est-à-dire un grand nombre d'itération</a:t>
            </a:r>
          </a:p>
          <a:p>
            <a:pPr lvl="1"/>
            <a:r>
              <a:rPr lang="fr-FR" dirty="0"/>
              <a:t>Très utilisé dans le langage naturel et la traduction</a:t>
            </a:r>
          </a:p>
          <a:p>
            <a:r>
              <a:rPr lang="fr-FR" dirty="0"/>
              <a:t>LSTM change le mécanisme d'activation d'un neurone afin d'éviter un nombre d'itération trop élevé</a:t>
            </a:r>
          </a:p>
          <a:p>
            <a:r>
              <a:rPr lang="fr-FR" dirty="0"/>
              <a:t>RNN ou MLP classique :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2050" name="Picture 2" descr="https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07" y="4617133"/>
            <a:ext cx="2574482" cy="96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4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2985B-687B-D16D-9EE1-849AAF7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1BDAB2-BAE5-6784-4DB4-D24CEA97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Ancêtre de </a:t>
            </a:r>
            <a:r>
              <a:rPr lang="fr-FR" dirty="0" err="1"/>
              <a:t>ChatGPT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22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6A041-ED63-64A9-2990-AC578945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Générative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35DADF-DE40-96C5-9F4F-7DFF1380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générer de la data</a:t>
            </a:r>
          </a:p>
          <a:p>
            <a:pPr lvl="1"/>
            <a:r>
              <a:rPr lang="fr-FR" dirty="0"/>
              <a:t>Du texte :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De l’image : </a:t>
            </a:r>
            <a:r>
              <a:rPr lang="fr-FR" dirty="0" err="1"/>
              <a:t>Dal-E</a:t>
            </a:r>
            <a:endParaRPr lang="fr-FR" dirty="0"/>
          </a:p>
          <a:p>
            <a:pPr lvl="1"/>
            <a:r>
              <a:rPr lang="fr-FR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64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8B006-CAA3-38DC-285E-A4461CD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39444-0460-EC53-499D-38A4E138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endParaRPr lang="fr-FR" dirty="0"/>
          </a:p>
          <a:p>
            <a:r>
              <a:rPr lang="fr-FR" dirty="0" err="1"/>
              <a:t>ChatGPT</a:t>
            </a:r>
            <a:r>
              <a:rPr lang="fr-FR" dirty="0"/>
              <a:t> 3</a:t>
            </a:r>
          </a:p>
          <a:p>
            <a:r>
              <a:rPr lang="fr-FR" dirty="0" err="1"/>
              <a:t>ChatGPT</a:t>
            </a:r>
            <a:r>
              <a:rPr lang="fr-FR"/>
              <a:t> 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12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E4757-9B75-45D4-110D-5D9A9450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FFD447-BB8D-8AF7-9B1D-8AEF53B4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9" y="994755"/>
            <a:ext cx="6940295" cy="5005995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302B7C8-93CB-EC1E-DCAC-AFC8C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17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0B3CB-7458-AD76-00A8-9E4A58B7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nouveau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A9C2F-8D79-AD5D-7196-AEFA015F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L’art de poser les bonnes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B65E51-CD26-8726-F4FD-E1C0022F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814501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0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191EC-6D20-F0BE-C601-4F2B14F0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433756-41DD-3C4E-3884-75AD64B2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5FE83-1339-AC00-113E-CBB1A0CC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971537"/>
            <a:ext cx="7361558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EBD8-F4FD-1484-1590-DA5456F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B0DFC-5926-BFEB-41F9-1E37567D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Métier du prompt</a:t>
            </a:r>
          </a:p>
          <a:p>
            <a:r>
              <a:rPr lang="fr-FR" dirty="0"/>
              <a:t>Gestion du 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078BCC-F896-D423-45AB-F912E85E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521" y="2956224"/>
            <a:ext cx="9415041" cy="2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9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7C02-0B3F-98FB-184B-162B82E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17BF6-1CCD-429A-8CB8-69D66676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 cloud</a:t>
            </a:r>
          </a:p>
          <a:p>
            <a:pPr lvl="1"/>
            <a:r>
              <a:rPr lang="fr-FR" dirty="0"/>
              <a:t>Attention aux RGPD</a:t>
            </a:r>
          </a:p>
          <a:p>
            <a:pPr lvl="1"/>
            <a:r>
              <a:rPr lang="fr-FR" dirty="0"/>
              <a:t>Patriot </a:t>
            </a:r>
            <a:r>
              <a:rPr lang="fr-FR" dirty="0" err="1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1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E4612-8EAA-A4D6-A0AF-AFB8ECE6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9057D-5F76-0171-7403-0BC8F798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libres</a:t>
            </a:r>
          </a:p>
          <a:p>
            <a:pPr lvl="1"/>
            <a:r>
              <a:rPr lang="fr-FR" dirty="0"/>
              <a:t>Tous sauf </a:t>
            </a:r>
            <a:r>
              <a:rPr lang="fr-FR" dirty="0" err="1"/>
              <a:t>ChatGPT</a:t>
            </a:r>
            <a:endParaRPr lang="fr-FR" dirty="0"/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endParaRPr lang="fr-FR" dirty="0"/>
          </a:p>
          <a:p>
            <a:pPr lvl="1"/>
            <a:r>
              <a:rPr lang="fr-FR" dirty="0"/>
              <a:t>Nécessite d'énorme serveur avec GPU</a:t>
            </a:r>
          </a:p>
          <a:p>
            <a:pPr lvl="1"/>
            <a:r>
              <a:rPr lang="fr-FR" dirty="0"/>
              <a:t>Installation locale via Docker</a:t>
            </a:r>
          </a:p>
          <a:p>
            <a:pPr lvl="1"/>
            <a:r>
              <a:rPr lang="fr-FR" dirty="0"/>
              <a:t>Taille des modèles très variable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C36214-BB9C-2091-D638-8064F06F5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666" y="3792967"/>
            <a:ext cx="3880387" cy="30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9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79DAA-3057-E1E0-A681-79178558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01D6B-B36B-C00D-00EB-B283FCAC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API des LLM nécessitent une clé d'activation</a:t>
            </a:r>
          </a:p>
          <a:p>
            <a:pPr lvl="1"/>
            <a:r>
              <a:rPr lang="fr-FR" dirty="0"/>
              <a:t>Payant pour </a:t>
            </a:r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/>
              <a:t>Gratuit sous limitation pour les autres</a:t>
            </a:r>
          </a:p>
          <a:p>
            <a:pPr lvl="1"/>
            <a:r>
              <a:rPr lang="fr-FR" dirty="0"/>
              <a:t>Non partageable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7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3534E-585B-D17B-18C5-5A96D5A9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Tokens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F03773-D21E-B4FB-C9EF-D221C4F8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l'unité des LLM</a:t>
            </a:r>
          </a:p>
          <a:p>
            <a:pPr lvl="1"/>
            <a:r>
              <a:rPr lang="fr-FR" dirty="0"/>
              <a:t>1 </a:t>
            </a:r>
            <a:r>
              <a:rPr lang="fr-FR" dirty="0" err="1"/>
              <a:t>Token</a:t>
            </a:r>
            <a:r>
              <a:rPr lang="fr-FR" dirty="0"/>
              <a:t> ~= 0.75 caractères</a:t>
            </a:r>
          </a:p>
          <a:p>
            <a:pPr lvl="1"/>
            <a:r>
              <a:rPr lang="fr-FR" dirty="0"/>
              <a:t>Souvent payant</a:t>
            </a:r>
          </a:p>
          <a:p>
            <a:pPr lvl="1"/>
            <a:r>
              <a:rPr lang="fr-FR" dirty="0"/>
              <a:t>Nombre toujours limité par requête</a:t>
            </a:r>
          </a:p>
          <a:p>
            <a:pPr lvl="1"/>
            <a:r>
              <a:rPr lang="fr-FR" dirty="0"/>
              <a:t>Entre 512 et 16K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66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2C501-CA42-184F-CB0F-857B5B41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 de </a:t>
            </a:r>
            <a:r>
              <a:rPr lang="fr-FR" dirty="0" err="1"/>
              <a:t>prompting</a:t>
            </a:r>
            <a:r>
              <a:rPr lang="fr-FR" dirty="0"/>
              <a:t>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194FF-C71D-B1A2-4191-C487263E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628CE-8D76-D062-8292-78DAA22B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1147444"/>
            <a:ext cx="890711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66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CF727-9FE5-87E2-BEFB-A19A0F36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Norme </a:t>
            </a:r>
            <a:r>
              <a:rPr lang="fr-FR" dirty="0" err="1"/>
              <a:t>OpenAI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3DF8B-978C-380F-DCC6-7DEF9DC4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L'API </a:t>
            </a:r>
            <a:r>
              <a:rPr lang="fr-FR" dirty="0" err="1"/>
              <a:t>OpenAI</a:t>
            </a:r>
            <a:r>
              <a:rPr lang="fr-FR" dirty="0"/>
              <a:t> est non seulement compatible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Mais également Mistral</a:t>
            </a:r>
          </a:p>
        </p:txBody>
      </p:sp>
    </p:spTree>
    <p:extLst>
      <p:ext uri="{BB962C8B-B14F-4D97-AF65-F5344CB8AC3E}">
        <p14:creationId xmlns:p14="http://schemas.microsoft.com/office/powerpoint/2010/main" val="260919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C7219-0A83-6D62-1415-EC61EFAB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rôles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D1E1BD-D61B-1F85-EE26-65C03EB25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l’API d’</a:t>
            </a:r>
            <a:r>
              <a:rPr lang="fr-FR" dirty="0" err="1"/>
              <a:t>OpenAI</a:t>
            </a:r>
            <a:r>
              <a:rPr lang="fr-FR" dirty="0"/>
              <a:t>, les rôles sont utilisés pour structurer les échanges dans une conversation de type chat</a:t>
            </a:r>
          </a:p>
          <a:p>
            <a:r>
              <a:rPr lang="fr-FR" dirty="0"/>
              <a:t>Les rôles principaux</a:t>
            </a:r>
          </a:p>
          <a:p>
            <a:pPr lvl="1"/>
            <a:r>
              <a:rPr lang="fr-FR" dirty="0"/>
              <a:t>System</a:t>
            </a:r>
          </a:p>
          <a:p>
            <a:pPr lvl="1"/>
            <a:r>
              <a:rPr lang="fr-FR" dirty="0"/>
              <a:t>User</a:t>
            </a:r>
          </a:p>
          <a:p>
            <a:pPr lvl="1"/>
            <a:r>
              <a:rPr lang="fr-FR" dirty="0"/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02881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35303-1148-1DEC-1B17-7B09FB90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32E4D-0E62-3C8E-0316-94778D63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Sert à définir le contexte général, les règles ou la personnalité du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"system", "content": "Tu es un assistant juridique spécialisé en droit du travail français"}</a:t>
            </a:r>
          </a:p>
        </p:txBody>
      </p:sp>
    </p:spTree>
    <p:extLst>
      <p:ext uri="{BB962C8B-B14F-4D97-AF65-F5344CB8AC3E}">
        <p14:creationId xmlns:p14="http://schemas.microsoft.com/office/powerpoint/2010/main" val="3053511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FFE2E-A476-F97B-1B8E-431EC404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AB774-BDDE-AB47-BEDB-33CB5DAC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Représente le message envoyé par l'utilisateur (toi ou ton application)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"user", "content": "Quels sont les droits d’un salarié en arrêt maladie ?"}</a:t>
            </a:r>
          </a:p>
        </p:txBody>
      </p:sp>
    </p:spTree>
    <p:extLst>
      <p:ext uri="{BB962C8B-B14F-4D97-AF65-F5344CB8AC3E}">
        <p14:creationId xmlns:p14="http://schemas.microsoft.com/office/powerpoint/2010/main" val="2463669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C19C5E-44E0-A906-1EEC-D516774B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AB3A8-999E-0F68-4E2A-49BB755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C’est la réponse générée par le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"assistant", "content": "Un salarié en arrêt maladie a droit à..." }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B7AD25-141B-20CE-EF2D-2A6DFBC2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2" y="3446206"/>
            <a:ext cx="870706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37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FF7B5-32DB-DD4F-D6A4-73C536F2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états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E1EBD1-1E21-49AE-8BB6-61AC87C6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744416" cy="5040560"/>
          </a:xfrm>
        </p:spPr>
        <p:txBody>
          <a:bodyPr/>
          <a:lstStyle/>
          <a:p>
            <a:r>
              <a:rPr lang="fr-FR" dirty="0"/>
              <a:t>Il est possible de réinjecter la réponse dans la question suivante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0F4CF2-974A-E754-60A3-7376223B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017436"/>
            <a:ext cx="5771647" cy="54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34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38817-739B-86E4-657B-5B3E8A16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états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88EBB-B61D-35C4-1E08-53A62135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réinjecter une réponse quelconque en la sauvegardant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523015-7628-7291-CF35-5336EC016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01" y="3212976"/>
            <a:ext cx="606827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63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953388-183B-8612-1C2E-3F9A3E17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CBACA9-F702-1663-F708-FDEE50B6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souvent utile de récupérer une réponse </a:t>
            </a:r>
            <a:r>
              <a:rPr lang="fr-FR" dirty="0" err="1"/>
              <a:t>OpenAI</a:t>
            </a:r>
            <a:r>
              <a:rPr lang="fr-FR" dirty="0"/>
              <a:t> en JSON pour automatiser un traitement</a:t>
            </a:r>
          </a:p>
          <a:p>
            <a:pPr lvl="1"/>
            <a:r>
              <a:rPr lang="fr-FR" dirty="0"/>
              <a:t>"</a:t>
            </a:r>
            <a:r>
              <a:rPr lang="fr-FR" dirty="0" err="1"/>
              <a:t>role</a:t>
            </a:r>
            <a:r>
              <a:rPr lang="fr-FR" dirty="0"/>
              <a:t>": "system",</a:t>
            </a:r>
          </a:p>
          <a:p>
            <a:pPr lvl="1"/>
            <a:r>
              <a:rPr lang="fr-FR" dirty="0"/>
              <a:t>"content": "Tu es un assistant qui répond toujours en JSON sans aucun texte additionnel."</a:t>
            </a:r>
          </a:p>
          <a:p>
            <a:pPr lvl="1"/>
            <a:r>
              <a:rPr lang="fr-FR" dirty="0"/>
              <a:t>Idem pour .md, .html, .csv, …</a:t>
            </a:r>
          </a:p>
        </p:txBody>
      </p:sp>
    </p:spTree>
    <p:extLst>
      <p:ext uri="{BB962C8B-B14F-4D97-AF65-F5344CB8AC3E}">
        <p14:creationId xmlns:p14="http://schemas.microsoft.com/office/powerpoint/2010/main" val="3449573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11CCE-8F46-7C86-BA96-9A4730F3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prompt de formatage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7058BD-308F-EBEF-CA47-52301B61D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9F0D60-E541-8183-D823-7675235E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795572"/>
            <a:ext cx="6716062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35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502B87-CF7E-E6DA-2E2E-3FCFBFA5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File </a:t>
            </a:r>
            <a:r>
              <a:rPr lang="fr-FR" dirty="0" err="1"/>
              <a:t>Upload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EDA17C-250A-A695-1B9A-69691079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168352" cy="5040560"/>
          </a:xfrm>
        </p:spPr>
        <p:txBody>
          <a:bodyPr/>
          <a:lstStyle/>
          <a:p>
            <a:r>
              <a:rPr lang="fr-FR" dirty="0"/>
              <a:t>Il est possible d'uploader un fichier PDF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F8F48B-202B-29E2-EE7D-1F39A024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5" y="980728"/>
            <a:ext cx="5839640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43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AE58E-75C5-4DE4-8EB6-22BD66D3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un LLM fonctionne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7A39D-C744-9DAD-EAD5-25F102A5F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fonctionnent en 3 parties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tokenizer</a:t>
            </a:r>
            <a:endParaRPr lang="fr-FR" dirty="0"/>
          </a:p>
          <a:p>
            <a:pPr lvl="1"/>
            <a:r>
              <a:rPr lang="fr-FR" dirty="0"/>
              <a:t>Un encoder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decoder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CA10AC-030B-D2A1-826A-464FD55D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3717032"/>
            <a:ext cx="839269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02E54-5ECB-9C52-C714-D1FE27B7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DA365-07EB-AFE6-D329-39E5A89D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9ED587-AAB8-8ABB-FC90-54A180D2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2" y="136248"/>
            <a:ext cx="8573696" cy="25530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4F28D3-E97D-461D-4F20-4CA0F348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449505"/>
            <a:ext cx="638665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116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3421</TotalTime>
  <Words>528</Words>
  <Application>Microsoft Office PowerPoint</Application>
  <PresentationFormat>Affichage à l'écran (4:3)</PresentationFormat>
  <Paragraphs>111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Arial</vt:lpstr>
      <vt:lpstr>Monotype Sorts</vt:lpstr>
      <vt:lpstr>Times New Roman</vt:lpstr>
      <vt:lpstr>cvc</vt:lpstr>
      <vt:lpstr>Présentation PowerPoint</vt:lpstr>
      <vt:lpstr>Un Lama ?</vt:lpstr>
      <vt:lpstr>RAG</vt:lpstr>
      <vt:lpstr>Framework pour réseaux neuronaux</vt:lpstr>
      <vt:lpstr>LSTM</vt:lpstr>
      <vt:lpstr>BERT</vt:lpstr>
      <vt:lpstr>IA Générative</vt:lpstr>
      <vt:lpstr>ChatGPT</vt:lpstr>
      <vt:lpstr>Présentation PowerPoint</vt:lpstr>
      <vt:lpstr>Un nouveau métier</vt:lpstr>
      <vt:lpstr>Contexte</vt:lpstr>
      <vt:lpstr>Prompt Engineering</vt:lpstr>
      <vt:lpstr>SaaS</vt:lpstr>
      <vt:lpstr>On Premise</vt:lpstr>
      <vt:lpstr>API</vt:lpstr>
      <vt:lpstr>Tokens</vt:lpstr>
      <vt:lpstr>Exemple simple de prompting API</vt:lpstr>
      <vt:lpstr>Norme OpenAI</vt:lpstr>
      <vt:lpstr>Les rôles</vt:lpstr>
      <vt:lpstr>System</vt:lpstr>
      <vt:lpstr>User</vt:lpstr>
      <vt:lpstr>Agent</vt:lpstr>
      <vt:lpstr>Gestion des états</vt:lpstr>
      <vt:lpstr>Gestion des états</vt:lpstr>
      <vt:lpstr>JSON</vt:lpstr>
      <vt:lpstr>Exemple de prompt de formatage avancé</vt:lpstr>
      <vt:lpstr>File Upload</vt:lpstr>
      <vt:lpstr>Comment un LLM fonctionne ?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246</cp:revision>
  <dcterms:created xsi:type="dcterms:W3CDTF">2000-04-10T19:33:12Z</dcterms:created>
  <dcterms:modified xsi:type="dcterms:W3CDTF">2025-10-20T11:28:56Z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