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4"/>
  </p:notesMasterIdLst>
  <p:handoutMasterIdLst>
    <p:handoutMasterId r:id="rId45"/>
  </p:handoutMasterIdLst>
  <p:sldIdLst>
    <p:sldId id="264" r:id="rId2"/>
    <p:sldId id="334" r:id="rId3"/>
    <p:sldId id="279" r:id="rId4"/>
    <p:sldId id="280" r:id="rId5"/>
    <p:sldId id="281" r:id="rId6"/>
    <p:sldId id="282" r:id="rId7"/>
    <p:sldId id="283" r:id="rId8"/>
    <p:sldId id="284" r:id="rId9"/>
    <p:sldId id="285" r:id="rId10"/>
    <p:sldId id="308" r:id="rId11"/>
    <p:sldId id="309" r:id="rId12"/>
    <p:sldId id="286" r:id="rId13"/>
    <p:sldId id="287" r:id="rId14"/>
    <p:sldId id="288" r:id="rId15"/>
    <p:sldId id="289" r:id="rId16"/>
    <p:sldId id="290" r:id="rId17"/>
    <p:sldId id="291" r:id="rId18"/>
    <p:sldId id="292" r:id="rId19"/>
    <p:sldId id="293" r:id="rId20"/>
    <p:sldId id="345" r:id="rId21"/>
    <p:sldId id="294" r:id="rId22"/>
    <p:sldId id="295" r:id="rId23"/>
    <p:sldId id="296" r:id="rId24"/>
    <p:sldId id="297" r:id="rId25"/>
    <p:sldId id="300" r:id="rId26"/>
    <p:sldId id="302" r:id="rId27"/>
    <p:sldId id="336" r:id="rId28"/>
    <p:sldId id="314" r:id="rId29"/>
    <p:sldId id="304" r:id="rId30"/>
    <p:sldId id="305" r:id="rId31"/>
    <p:sldId id="306" r:id="rId32"/>
    <p:sldId id="307" r:id="rId33"/>
    <p:sldId id="332" r:id="rId34"/>
    <p:sldId id="272" r:id="rId35"/>
    <p:sldId id="325" r:id="rId36"/>
    <p:sldId id="343" r:id="rId37"/>
    <p:sldId id="333" r:id="rId38"/>
    <p:sldId id="322" r:id="rId39"/>
    <p:sldId id="340" r:id="rId40"/>
    <p:sldId id="341" r:id="rId41"/>
    <p:sldId id="346" r:id="rId42"/>
    <p:sldId id="310" r:id="rId43"/>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2462" y="-1282"/>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a:t>LLM</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547664" y="5572223"/>
            <a:ext cx="6400800" cy="551554"/>
          </a:xfrm>
        </p:spPr>
        <p:txBody>
          <a:bodyPr/>
          <a:lstStyle/>
          <a:p>
            <a:pPr eaLnBrk="1" hangingPunct="1"/>
            <a:r>
              <a:rPr lang="fr-FR" altLang="fr-FR" dirty="0"/>
              <a:t>Introduction</a:t>
            </a:r>
          </a:p>
        </p:txBody>
      </p:sp>
      <p:sp>
        <p:nvSpPr>
          <p:cNvPr id="3" name="ZoneTexte 2"/>
          <p:cNvSpPr txBox="1"/>
          <p:nvPr/>
        </p:nvSpPr>
        <p:spPr>
          <a:xfrm>
            <a:off x="2107222" y="1120676"/>
            <a:ext cx="4929555" cy="1200329"/>
          </a:xfrm>
          <a:prstGeom prst="rect">
            <a:avLst/>
          </a:prstGeom>
          <a:noFill/>
        </p:spPr>
        <p:txBody>
          <a:bodyPr wrap="none" rtlCol="0">
            <a:spAutoFit/>
          </a:bodyPr>
          <a:lstStyle/>
          <a:p>
            <a:pPr algn="ctr"/>
            <a:r>
              <a:rPr lang="fr-FR" sz="3600" dirty="0"/>
              <a:t>Large </a:t>
            </a:r>
            <a:r>
              <a:rPr lang="fr-FR" sz="3600" dirty="0" err="1"/>
              <a:t>Language</a:t>
            </a:r>
            <a:r>
              <a:rPr lang="fr-FR" sz="3600" dirty="0"/>
              <a:t> Model</a:t>
            </a:r>
          </a:p>
          <a:p>
            <a:pPr algn="ctr"/>
            <a:r>
              <a:rPr lang="fr-FR" sz="3600" dirty="0"/>
              <a:t>RAG</a:t>
            </a:r>
          </a:p>
        </p:txBody>
      </p:sp>
      <p:pic>
        <p:nvPicPr>
          <p:cNvPr id="4" name="Image 3">
            <a:extLst>
              <a:ext uri="{FF2B5EF4-FFF2-40B4-BE49-F238E27FC236}">
                <a16:creationId xmlns:a16="http://schemas.microsoft.com/office/drawing/2014/main" id="{352C0B44-A72F-4C23-DF0D-20BA9F6FF008}"/>
              </a:ext>
            </a:extLst>
          </p:cNvPr>
          <p:cNvPicPr>
            <a:picLocks noChangeAspect="1"/>
          </p:cNvPicPr>
          <p:nvPr/>
        </p:nvPicPr>
        <p:blipFill>
          <a:blip r:embed="rId2"/>
          <a:stretch>
            <a:fillRect/>
          </a:stretch>
        </p:blipFill>
        <p:spPr>
          <a:xfrm>
            <a:off x="2390056" y="2852936"/>
            <a:ext cx="3851920" cy="246313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616" y="0"/>
            <a:ext cx="7215842" cy="678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9559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Wikipedia</a:t>
            </a:r>
            <a:endParaRPr lang="fr-FR" dirty="0"/>
          </a:p>
        </p:txBody>
      </p:sp>
      <p:sp>
        <p:nvSpPr>
          <p:cNvPr id="3" name="Espace réservé du contenu 2"/>
          <p:cNvSpPr>
            <a:spLocks noGrp="1"/>
          </p:cNvSpPr>
          <p:nvPr>
            <p:ph idx="1"/>
          </p:nvPr>
        </p:nvSpPr>
        <p:spPr/>
        <p:txBody>
          <a:bodyPr/>
          <a:lstStyle/>
          <a:p>
            <a:r>
              <a:rPr lang="fr-FR" dirty="0"/>
              <a:t>La science des données est l'extraction de connaissance d'ensembles de données</a:t>
            </a:r>
          </a:p>
          <a:p>
            <a:r>
              <a:rPr lang="fr-FR" dirty="0"/>
              <a:t>Elle emploie des techniques et des théories tirées de plusieurs autres domaines plus larges :</a:t>
            </a:r>
          </a:p>
          <a:p>
            <a:pPr lvl="1"/>
            <a:r>
              <a:rPr lang="fr-FR" dirty="0"/>
              <a:t>des mathématiques, la statistique principalement, la théorie de l'information et la technologie de l'information, notamment le traitement de signal, des modèles probabilistes, l'apprentissage automatique, l'apprentissage statistique, la programmation informatique, l'ingénierie de données, la reconnaissance de formes et l'apprentissage, la visualisation, l'analytique prophétique, la modélisation d'incertitude, le stockage de données, …</a:t>
            </a:r>
          </a:p>
        </p:txBody>
      </p:sp>
    </p:spTree>
    <p:extLst>
      <p:ext uri="{BB962C8B-B14F-4D97-AF65-F5344CB8AC3E}">
        <p14:creationId xmlns:p14="http://schemas.microsoft.com/office/powerpoint/2010/main" val="177393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pic>
        <p:nvPicPr>
          <p:cNvPr id="102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02267" y="1412875"/>
            <a:ext cx="6720417" cy="5040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1903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Science</a:t>
            </a:r>
          </a:p>
        </p:txBody>
      </p:sp>
      <p:sp>
        <p:nvSpPr>
          <p:cNvPr id="3" name="Espace réservé du contenu 2"/>
          <p:cNvSpPr>
            <a:spLocks noGrp="1"/>
          </p:cNvSpPr>
          <p:nvPr>
            <p:ph idx="1"/>
          </p:nvPr>
        </p:nvSpPr>
        <p:spPr/>
        <p:txBody>
          <a:bodyPr/>
          <a:lstStyle/>
          <a:p>
            <a:r>
              <a:rPr lang="fr-FR" dirty="0"/>
              <a:t>S’appuie sur plusieurs technologies</a:t>
            </a:r>
          </a:p>
          <a:p>
            <a:r>
              <a:rPr lang="fr-FR" dirty="0"/>
              <a:t>Développement</a:t>
            </a:r>
          </a:p>
          <a:p>
            <a:pPr lvl="1"/>
            <a:r>
              <a:rPr lang="fr-FR" dirty="0"/>
              <a:t>Python, R</a:t>
            </a:r>
          </a:p>
          <a:p>
            <a:r>
              <a:rPr lang="fr-FR" dirty="0"/>
              <a:t>Stockage</a:t>
            </a:r>
          </a:p>
          <a:p>
            <a:pPr lvl="1"/>
            <a:r>
              <a:rPr lang="fr-FR" dirty="0"/>
              <a:t>File, Base de données, </a:t>
            </a:r>
            <a:r>
              <a:rPr lang="fr-FR" dirty="0" err="1"/>
              <a:t>Big</a:t>
            </a:r>
            <a:r>
              <a:rPr lang="fr-FR" dirty="0"/>
              <a:t> Data</a:t>
            </a:r>
          </a:p>
          <a:p>
            <a:r>
              <a:rPr lang="fr-FR" dirty="0"/>
              <a:t>Math</a:t>
            </a:r>
          </a:p>
          <a:p>
            <a:pPr lvl="1"/>
            <a:r>
              <a:rPr lang="fr-FR" dirty="0"/>
              <a:t>Régression, </a:t>
            </a:r>
            <a:r>
              <a:rPr lang="fr-FR" dirty="0" err="1"/>
              <a:t>Stats</a:t>
            </a:r>
            <a:r>
              <a:rPr lang="fr-FR" dirty="0"/>
              <a:t>, Algèbre linéaire</a:t>
            </a:r>
          </a:p>
          <a:p>
            <a:r>
              <a:rPr lang="fr-FR" dirty="0"/>
              <a:t>IA</a:t>
            </a:r>
          </a:p>
          <a:p>
            <a:pPr lvl="1"/>
            <a:r>
              <a:rPr lang="fr-FR" dirty="0"/>
              <a:t>Réseaux neuronaux</a:t>
            </a:r>
          </a:p>
        </p:txBody>
      </p:sp>
    </p:spTree>
    <p:extLst>
      <p:ext uri="{BB962C8B-B14F-4D97-AF65-F5344CB8AC3E}">
        <p14:creationId xmlns:p14="http://schemas.microsoft.com/office/powerpoint/2010/main" val="3961684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Ã©sultat de recherche d'images pour &quot;nuage de mot langages informatique&quo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62692" cy="5296979"/>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p:cNvSpPr>
            <a:spLocks noGrp="1"/>
          </p:cNvSpPr>
          <p:nvPr>
            <p:ph type="title"/>
          </p:nvPr>
        </p:nvSpPr>
        <p:spPr/>
        <p:txBody>
          <a:bodyPr/>
          <a:lstStyle/>
          <a:p>
            <a:endParaRPr lang="fr-FR"/>
          </a:p>
        </p:txBody>
      </p:sp>
    </p:spTree>
    <p:extLst>
      <p:ext uri="{BB962C8B-B14F-4D97-AF65-F5344CB8AC3E}">
        <p14:creationId xmlns:p14="http://schemas.microsoft.com/office/powerpoint/2010/main" val="190864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langages</a:t>
            </a:r>
          </a:p>
        </p:txBody>
      </p:sp>
      <p:sp>
        <p:nvSpPr>
          <p:cNvPr id="3" name="Espace réservé du contenu 2"/>
          <p:cNvSpPr>
            <a:spLocks noGrp="1"/>
          </p:cNvSpPr>
          <p:nvPr>
            <p:ph idx="1"/>
          </p:nvPr>
        </p:nvSpPr>
        <p:spPr/>
        <p:txBody>
          <a:bodyPr/>
          <a:lstStyle/>
          <a:p>
            <a:r>
              <a:rPr lang="fr-FR" dirty="0"/>
              <a:t>Les "nouveaux"</a:t>
            </a:r>
          </a:p>
          <a:p>
            <a:pPr lvl="1"/>
            <a:r>
              <a:rPr lang="fr-FR" dirty="0"/>
              <a:t>Python, R, Scala, </a:t>
            </a:r>
            <a:r>
              <a:rPr lang="fr-FR" dirty="0" err="1"/>
              <a:t>Kotlin</a:t>
            </a:r>
            <a:r>
              <a:rPr lang="fr-FR" dirty="0"/>
              <a:t>, Julia, …</a:t>
            </a:r>
          </a:p>
          <a:p>
            <a:r>
              <a:rPr lang="fr-FR" dirty="0"/>
              <a:t>Les "anciens"</a:t>
            </a:r>
          </a:p>
          <a:p>
            <a:pPr lvl="1"/>
            <a:r>
              <a:rPr lang="fr-FR" dirty="0"/>
              <a:t>Java, C#</a:t>
            </a:r>
          </a:p>
        </p:txBody>
      </p:sp>
    </p:spTree>
    <p:extLst>
      <p:ext uri="{BB962C8B-B14F-4D97-AF65-F5344CB8AC3E}">
        <p14:creationId xmlns:p14="http://schemas.microsoft.com/office/powerpoint/2010/main" val="3006852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Data </a:t>
            </a:r>
            <a:r>
              <a:rPr lang="fr-FR" dirty="0" err="1"/>
              <a:t>Scientist</a:t>
            </a:r>
            <a:endParaRPr lang="fr-FR" dirty="0"/>
          </a:p>
        </p:txBody>
      </p:sp>
      <p:sp>
        <p:nvSpPr>
          <p:cNvPr id="3" name="Espace réservé du contenu 2"/>
          <p:cNvSpPr>
            <a:spLocks noGrp="1"/>
          </p:cNvSpPr>
          <p:nvPr>
            <p:ph idx="1"/>
          </p:nvPr>
        </p:nvSpPr>
        <p:spPr/>
        <p:txBody>
          <a:bodyPr/>
          <a:lstStyle/>
          <a:p>
            <a:r>
              <a:rPr lang="fr-FR" dirty="0"/>
              <a:t>Le premier objectif du data </a:t>
            </a:r>
            <a:r>
              <a:rPr lang="fr-FR" dirty="0" err="1"/>
              <a:t>scientist</a:t>
            </a:r>
            <a:r>
              <a:rPr lang="fr-FR" dirty="0"/>
              <a:t> est de produire des méthodes (automatisées, autant que possible) de tri et d'analyse de données de masse et de sources plus ou moins complexes ou disjointes de données, afin d'en extraire des informations utiles ou potentiellement utiles</a:t>
            </a:r>
          </a:p>
          <a:p>
            <a:r>
              <a:rPr lang="fr-FR" dirty="0"/>
              <a:t>Terme inventé en 2001 par William Cleveland</a:t>
            </a:r>
          </a:p>
          <a:p>
            <a:r>
              <a:rPr lang="en-US" dirty="0"/>
              <a:t>Data Scientist (n.): Person who is better at statistics than any software engineer and better at software engineering than any statistician</a:t>
            </a:r>
            <a:endParaRPr lang="fr-FR" dirty="0"/>
          </a:p>
          <a:p>
            <a:endParaRPr lang="fr-FR" dirty="0"/>
          </a:p>
        </p:txBody>
      </p:sp>
    </p:spTree>
    <p:extLst>
      <p:ext uri="{BB962C8B-B14F-4D97-AF65-F5344CB8AC3E}">
        <p14:creationId xmlns:p14="http://schemas.microsoft.com/office/powerpoint/2010/main" val="2049857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 de Turing</a:t>
            </a:r>
          </a:p>
        </p:txBody>
      </p:sp>
      <p:sp>
        <p:nvSpPr>
          <p:cNvPr id="3" name="Espace réservé du contenu 2"/>
          <p:cNvSpPr>
            <a:spLocks noGrp="1"/>
          </p:cNvSpPr>
          <p:nvPr>
            <p:ph idx="1"/>
          </p:nvPr>
        </p:nvSpPr>
        <p:spPr>
          <a:xfrm>
            <a:off x="179513" y="1412776"/>
            <a:ext cx="6850928" cy="5040560"/>
          </a:xfrm>
        </p:spPr>
        <p:txBody>
          <a:bodyPr/>
          <a:lstStyle/>
          <a:p>
            <a:r>
              <a:rPr lang="fr-FR" dirty="0"/>
              <a:t>Le test de Turing est une proposition de test d’intelligence artificielle fondée sur la faculté d'une machine à imiter la conversation humaine</a:t>
            </a:r>
          </a:p>
          <a:p>
            <a:pPr lvl="1"/>
            <a:r>
              <a:rPr lang="fr-FR" dirty="0"/>
              <a:t>Ce test consiste à mettre un humain en confrontation verbale à l’aveugle avec un ordinateur et un autre humain</a:t>
            </a:r>
          </a:p>
          <a:p>
            <a:pPr lvl="1"/>
            <a:r>
              <a:rPr lang="fr-FR" dirty="0"/>
              <a:t>Si la personne qui engage les conversations n’est pas capable de dire lequel de ses interlocuteurs est un ordinateur, on peut considérer que le logiciel de l’ordinateur a passé avec succès le test</a:t>
            </a:r>
          </a:p>
        </p:txBody>
      </p:sp>
      <p:pic>
        <p:nvPicPr>
          <p:cNvPr id="4098" name="Picture 2" descr="https://upload.wikimedia.org/wikipedia/commons/thumb/e/e4/Turing_Test_version_3.png/220px-Turing_Test_version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441" y="2276872"/>
            <a:ext cx="20955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96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supervisé</a:t>
            </a:r>
          </a:p>
        </p:txBody>
      </p:sp>
      <p:sp>
        <p:nvSpPr>
          <p:cNvPr id="3" name="Espace réservé du contenu 2"/>
          <p:cNvSpPr>
            <a:spLocks noGrp="1"/>
          </p:cNvSpPr>
          <p:nvPr>
            <p:ph idx="1"/>
          </p:nvPr>
        </p:nvSpPr>
        <p:spPr/>
        <p:txBody>
          <a:bodyPr/>
          <a:lstStyle/>
          <a:p>
            <a:r>
              <a:rPr lang="fr-FR" dirty="0"/>
              <a:t>Dans cet exemple les images ont été annotés par un expert avec leur catégorie</a:t>
            </a:r>
          </a:p>
          <a:p>
            <a:pPr lvl="1"/>
            <a:r>
              <a:rPr lang="fr-FR" dirty="0"/>
              <a:t>La machine apprend puis prédit</a:t>
            </a:r>
          </a:p>
        </p:txBody>
      </p:sp>
      <p:pic>
        <p:nvPicPr>
          <p:cNvPr id="1026" name="Picture 2" descr="Chaque image est labellée de sa catégor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852936"/>
            <a:ext cx="4533900"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707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a:xfrm>
            <a:off x="628650" y="2040037"/>
            <a:ext cx="7886700" cy="3263504"/>
          </a:xfrm>
        </p:spPr>
        <p:txBody>
          <a:bodyPr/>
          <a:lstStyle/>
          <a:p>
            <a:r>
              <a:rPr lang="fr-FR" dirty="0"/>
              <a:t>En Machine Learning, l'objectif est de trouver un modèle mathématique du phénomène à l'origine des données par apprentissage</a:t>
            </a:r>
          </a:p>
        </p:txBody>
      </p:sp>
      <p:pic>
        <p:nvPicPr>
          <p:cNvPr id="1026" name="Picture 2" descr="Machine learning en E-commerce : une expérience client optimale - Arkheus">
            <a:extLst>
              <a:ext uri="{FF2B5EF4-FFF2-40B4-BE49-F238E27FC236}">
                <a16:creationId xmlns:a16="http://schemas.microsoft.com/office/drawing/2014/main" id="{AB55968D-DE43-4613-BCDF-B4584C368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501008"/>
            <a:ext cx="3515592" cy="248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1926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 non supervisé ou semi-supervisé</a:t>
            </a:r>
          </a:p>
        </p:txBody>
      </p:sp>
      <p:sp>
        <p:nvSpPr>
          <p:cNvPr id="3" name="Espace réservé du contenu 2"/>
          <p:cNvSpPr>
            <a:spLocks noGrp="1"/>
          </p:cNvSpPr>
          <p:nvPr>
            <p:ph idx="1"/>
          </p:nvPr>
        </p:nvSpPr>
        <p:spPr/>
        <p:txBody>
          <a:bodyPr/>
          <a:lstStyle/>
          <a:p>
            <a:r>
              <a:rPr lang="fr-FR" dirty="0"/>
              <a:t>Clustering</a:t>
            </a:r>
          </a:p>
          <a:p>
            <a:r>
              <a:rPr lang="fr-FR" dirty="0"/>
              <a:t>Regroupement en mesurant une "distance" entre des données</a:t>
            </a:r>
          </a:p>
          <a:p>
            <a:r>
              <a:rPr lang="fr-FR" dirty="0"/>
              <a:t>Par exemple :</a:t>
            </a:r>
          </a:p>
          <a:p>
            <a:pPr lvl="1"/>
            <a:r>
              <a:rPr lang="fr-FR" dirty="0"/>
              <a:t>"Il fait beau" est plus proche de "le temps est magnifique" que "il est beau"</a:t>
            </a:r>
          </a:p>
          <a:p>
            <a:r>
              <a:rPr lang="fr-FR" dirty="0"/>
              <a:t>Cas d'utilisation</a:t>
            </a:r>
          </a:p>
          <a:p>
            <a:pPr lvl="1"/>
            <a:r>
              <a:rPr lang="fr-FR" dirty="0"/>
              <a:t>Regrouper des images qui se ressemblent</a:t>
            </a:r>
          </a:p>
          <a:p>
            <a:pPr lvl="1"/>
            <a:r>
              <a:rPr lang="fr-FR" dirty="0"/>
              <a:t>Regrouper des signaux électromagnétiques qui se ressemblent</a:t>
            </a:r>
          </a:p>
          <a:p>
            <a:pPr lvl="1"/>
            <a:r>
              <a:rPr lang="fr-FR" dirty="0"/>
              <a:t>Regrouper des textes qui se ressemblent avec gestions des synonymes et des contextes</a:t>
            </a:r>
          </a:p>
        </p:txBody>
      </p:sp>
    </p:spTree>
    <p:extLst>
      <p:ext uri="{BB962C8B-B14F-4D97-AF65-F5344CB8AC3E}">
        <p14:creationId xmlns:p14="http://schemas.microsoft.com/office/powerpoint/2010/main" val="3823895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3545487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43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7816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672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3013364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Choix du modèle</a:t>
            </a:r>
          </a:p>
        </p:txBody>
      </p:sp>
      <p:pic>
        <p:nvPicPr>
          <p:cNvPr id="4" name="Espace réservé du contenu 3"/>
          <p:cNvPicPr>
            <a:picLocks noGrp="1" noChangeAspect="1"/>
          </p:cNvPicPr>
          <p:nvPr>
            <p:ph idx="1"/>
          </p:nvPr>
        </p:nvPicPr>
        <p:blipFill>
          <a:blip r:embed="rId2"/>
          <a:stretch>
            <a:fillRect/>
          </a:stretch>
        </p:blipFill>
        <p:spPr>
          <a:xfrm>
            <a:off x="1338263" y="1466056"/>
            <a:ext cx="6448425" cy="4933950"/>
          </a:xfrm>
          <a:prstGeom prst="rect">
            <a:avLst/>
          </a:prstGeom>
        </p:spPr>
      </p:pic>
    </p:spTree>
    <p:extLst>
      <p:ext uri="{BB962C8B-B14F-4D97-AF65-F5344CB8AC3E}">
        <p14:creationId xmlns:p14="http://schemas.microsoft.com/office/powerpoint/2010/main" val="1738797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B347E-A3C6-4FD1-B000-9BF2AD49E8CA}"/>
              </a:ext>
            </a:extLst>
          </p:cNvPr>
          <p:cNvSpPr>
            <a:spLocks noGrp="1"/>
          </p:cNvSpPr>
          <p:nvPr>
            <p:ph type="title"/>
          </p:nvPr>
        </p:nvSpPr>
        <p:spPr/>
        <p:txBody>
          <a:bodyPr/>
          <a:lstStyle/>
          <a:p>
            <a:r>
              <a:rPr lang="fr-FR" dirty="0"/>
              <a:t>Les langages et </a:t>
            </a:r>
            <a:r>
              <a:rPr lang="fr-FR" dirty="0" err="1"/>
              <a:t>Frameworks</a:t>
            </a:r>
            <a:endParaRPr lang="fr-FR" dirty="0"/>
          </a:p>
        </p:txBody>
      </p:sp>
      <p:pic>
        <p:nvPicPr>
          <p:cNvPr id="6" name="Picture 2" descr="Python et intelligence artificielle">
            <a:extLst>
              <a:ext uri="{FF2B5EF4-FFF2-40B4-BE49-F238E27FC236}">
                <a16:creationId xmlns:a16="http://schemas.microsoft.com/office/drawing/2014/main" id="{FB769AA8-F524-42F6-A99C-EBEF407B4F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90680" y="3015391"/>
            <a:ext cx="3671455" cy="1989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TensorFlow — Wikipédia">
            <a:extLst>
              <a:ext uri="{FF2B5EF4-FFF2-40B4-BE49-F238E27FC236}">
                <a16:creationId xmlns:a16="http://schemas.microsoft.com/office/drawing/2014/main" id="{7B92E35F-DA87-4345-A44E-D4B0F9977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7541" y="1873856"/>
            <a:ext cx="1304594" cy="1087161"/>
          </a:xfrm>
          <a:prstGeom prst="rect">
            <a:avLst/>
          </a:prstGeom>
          <a:noFill/>
          <a:extLst>
            <a:ext uri="{909E8E84-426E-40DD-AFC4-6F175D3DCCD1}">
              <a14:hiddenFill xmlns:a14="http://schemas.microsoft.com/office/drawing/2010/main">
                <a:solidFill>
                  <a:srgbClr val="FFFFFF"/>
                </a:solidFill>
              </a14:hiddenFill>
            </a:ext>
          </a:extLst>
        </p:spPr>
      </p:pic>
      <p:sp>
        <p:nvSpPr>
          <p:cNvPr id="9" name="Espace réservé du contenu 2">
            <a:extLst>
              <a:ext uri="{FF2B5EF4-FFF2-40B4-BE49-F238E27FC236}">
                <a16:creationId xmlns:a16="http://schemas.microsoft.com/office/drawing/2014/main" id="{C4E86258-C244-48B5-ADC8-901B50E0DF47}"/>
              </a:ext>
            </a:extLst>
          </p:cNvPr>
          <p:cNvSpPr txBox="1">
            <a:spLocks/>
          </p:cNvSpPr>
          <p:nvPr/>
        </p:nvSpPr>
        <p:spPr>
          <a:xfrm>
            <a:off x="217264" y="1851422"/>
            <a:ext cx="4670318" cy="378042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400" dirty="0"/>
              <a:t>Apprentissage</a:t>
            </a:r>
          </a:p>
          <a:p>
            <a:pPr lvl="1"/>
            <a:r>
              <a:rPr lang="fr-FR" sz="2100" dirty="0"/>
              <a:t>Python</a:t>
            </a:r>
          </a:p>
          <a:p>
            <a:pPr lvl="1"/>
            <a:r>
              <a:rPr lang="fr-FR" sz="2100" dirty="0" err="1"/>
              <a:t>Scikit-learn</a:t>
            </a:r>
            <a:endParaRPr lang="fr-FR" sz="2100" dirty="0"/>
          </a:p>
          <a:p>
            <a:pPr lvl="2"/>
            <a:r>
              <a:rPr lang="fr-FR" sz="1500" dirty="0"/>
              <a:t>INRIA et Télécom ParisTech</a:t>
            </a:r>
          </a:p>
          <a:p>
            <a:pPr lvl="1"/>
            <a:r>
              <a:rPr lang="fr-FR" sz="2100" dirty="0" err="1"/>
              <a:t>TensorFlow</a:t>
            </a:r>
            <a:endParaRPr lang="fr-FR" sz="2100" dirty="0"/>
          </a:p>
          <a:p>
            <a:pPr lvl="2"/>
            <a:r>
              <a:rPr lang="fr-FR" sz="1500" dirty="0"/>
              <a:t>Google</a:t>
            </a:r>
          </a:p>
          <a:p>
            <a:pPr lvl="1"/>
            <a:r>
              <a:rPr lang="fr-FR" sz="1800" dirty="0"/>
              <a:t>Matlab, SAS, </a:t>
            </a:r>
            <a:r>
              <a:rPr lang="fr-FR" sz="1800" dirty="0" err="1"/>
              <a:t>PyTorch</a:t>
            </a:r>
            <a:r>
              <a:rPr lang="fr-FR" sz="1800" dirty="0"/>
              <a:t>, R, …</a:t>
            </a:r>
          </a:p>
          <a:p>
            <a:r>
              <a:rPr lang="fr-FR" sz="2400" dirty="0"/>
              <a:t>Prédiction</a:t>
            </a:r>
          </a:p>
          <a:p>
            <a:pPr lvl="1"/>
            <a:r>
              <a:rPr lang="fr-FR" sz="1800" dirty="0"/>
              <a:t>N'importe quel langage !</a:t>
            </a:r>
          </a:p>
          <a:p>
            <a:pPr lvl="1"/>
            <a:r>
              <a:rPr lang="fr-FR" sz="1800" dirty="0"/>
              <a:t>Embarqué : C++, JS, …</a:t>
            </a:r>
          </a:p>
          <a:p>
            <a:pPr lvl="1"/>
            <a:endParaRPr lang="fr-FR" sz="1500" dirty="0"/>
          </a:p>
        </p:txBody>
      </p:sp>
      <p:pic>
        <p:nvPicPr>
          <p:cNvPr id="11" name="Image 10">
            <a:extLst>
              <a:ext uri="{FF2B5EF4-FFF2-40B4-BE49-F238E27FC236}">
                <a16:creationId xmlns:a16="http://schemas.microsoft.com/office/drawing/2014/main" id="{E2C0264F-CF05-444C-A3C0-924199BBFEB2}"/>
              </a:ext>
            </a:extLst>
          </p:cNvPr>
          <p:cNvPicPr>
            <a:picLocks noChangeAspect="1"/>
          </p:cNvPicPr>
          <p:nvPr/>
        </p:nvPicPr>
        <p:blipFill>
          <a:blip r:embed="rId4"/>
          <a:stretch>
            <a:fillRect/>
          </a:stretch>
        </p:blipFill>
        <p:spPr>
          <a:xfrm>
            <a:off x="5190679" y="1873856"/>
            <a:ext cx="2300288" cy="571500"/>
          </a:xfrm>
          <a:prstGeom prst="rect">
            <a:avLst/>
          </a:prstGeom>
        </p:spPr>
      </p:pic>
    </p:spTree>
    <p:extLst>
      <p:ext uri="{BB962C8B-B14F-4D97-AF65-F5344CB8AC3E}">
        <p14:creationId xmlns:p14="http://schemas.microsoft.com/office/powerpoint/2010/main" val="36056708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89BEBE-6249-4EE9-A3DE-988A6532E15C}"/>
              </a:ext>
            </a:extLst>
          </p:cNvPr>
          <p:cNvSpPr>
            <a:spLocks noGrp="1"/>
          </p:cNvSpPr>
          <p:nvPr>
            <p:ph type="title"/>
          </p:nvPr>
        </p:nvSpPr>
        <p:spPr/>
        <p:txBody>
          <a:bodyPr/>
          <a:lstStyle/>
          <a:p>
            <a:r>
              <a:rPr lang="fr-FR" dirty="0"/>
              <a:t>Les </a:t>
            </a:r>
            <a:r>
              <a:rPr lang="fr-FR" dirty="0" err="1"/>
              <a:t>Frameworks</a:t>
            </a:r>
            <a:r>
              <a:rPr lang="fr-FR" dirty="0"/>
              <a:t> ML et DL en 2019</a:t>
            </a:r>
          </a:p>
        </p:txBody>
      </p:sp>
      <p:pic>
        <p:nvPicPr>
          <p:cNvPr id="1036" name="Picture 12">
            <a:extLst>
              <a:ext uri="{FF2B5EF4-FFF2-40B4-BE49-F238E27FC236}">
                <a16:creationId xmlns:a16="http://schemas.microsoft.com/office/drawing/2014/main" id="{CC81630E-520F-4640-A4D7-4C649ED09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4507" y="1851422"/>
            <a:ext cx="5938352" cy="340105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TensorFlow — Wikipédia">
            <a:extLst>
              <a:ext uri="{FF2B5EF4-FFF2-40B4-BE49-F238E27FC236}">
                <a16:creationId xmlns:a16="http://schemas.microsoft.com/office/drawing/2014/main" id="{C4B0032F-A73B-40A0-917F-E14A99B3F9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34" y="2089516"/>
            <a:ext cx="1304594" cy="108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904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connectée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Réseaux</a:t>
            </a:r>
          </a:p>
        </p:txBody>
      </p:sp>
      <p:sp>
        <p:nvSpPr>
          <p:cNvPr id="3" name="Espace réservé du contenu 2"/>
          <p:cNvSpPr>
            <a:spLocks noGrp="1"/>
          </p:cNvSpPr>
          <p:nvPr>
            <p:ph idx="1"/>
          </p:nvPr>
        </p:nvSpPr>
        <p:spPr/>
        <p:txBody>
          <a:bodyPr/>
          <a:lstStyle/>
          <a:p>
            <a:r>
              <a:rPr lang="fr-FR" dirty="0"/>
              <a:t>Les neurones peuvent être mis en réseaux</a:t>
            </a:r>
          </a:p>
          <a:p>
            <a:pPr lvl="1"/>
            <a:r>
              <a:rPr lang="fr-FR" dirty="0"/>
              <a:t>En arbre (MLP)</a:t>
            </a:r>
          </a:p>
          <a:p>
            <a:pPr lvl="1"/>
            <a:r>
              <a:rPr lang="fr-FR" dirty="0"/>
              <a:t>En graphe (plus complexe)</a:t>
            </a:r>
          </a:p>
          <a:p>
            <a:pPr lvl="1"/>
            <a:r>
              <a:rPr lang="fr-FR" dirty="0"/>
              <a:t>Poids multiples</a:t>
            </a:r>
          </a:p>
          <a:p>
            <a:r>
              <a:rPr lang="fr-FR" dirty="0"/>
              <a:t>Très couteux</a:t>
            </a:r>
          </a:p>
          <a:p>
            <a:pPr lvl="1"/>
            <a:r>
              <a:rPr lang="fr-FR" dirty="0"/>
              <a:t>Mais donne de très bon résultats</a:t>
            </a:r>
          </a:p>
          <a:p>
            <a:pPr lvl="1"/>
            <a:r>
              <a:rPr lang="fr-FR" dirty="0"/>
              <a:t>Maitrise l’addition sur 4 bits avec 145 neurones et 100 itérations</a:t>
            </a:r>
          </a:p>
          <a:p>
            <a:r>
              <a:rPr lang="fr-FR" dirty="0" err="1"/>
              <a:t>Backpropagation</a:t>
            </a:r>
            <a:r>
              <a:rPr lang="fr-FR" dirty="0"/>
              <a:t> complexe</a:t>
            </a:r>
          </a:p>
          <a:p>
            <a:pPr lvl="1"/>
            <a:r>
              <a:rPr lang="fr-FR" dirty="0"/>
              <a:t>Basé sur la répartition de l'erreurs sur les poids et la pente de la courbe de la fonction d'activation (</a:t>
            </a:r>
            <a:r>
              <a:rPr lang="fr-FR" dirty="0" err="1"/>
              <a:t>derivée</a:t>
            </a:r>
            <a:r>
              <a:rPr lang="fr-FR" dirty="0"/>
              <a:t>)</a:t>
            </a:r>
          </a:p>
        </p:txBody>
      </p:sp>
      <p:pic>
        <p:nvPicPr>
          <p:cNvPr id="3074" name="Picture 2" descr="../_images/multilayerperceptron_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930341"/>
            <a:ext cx="2088232" cy="226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727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D6331-FA6A-4ED1-909A-5002ED680318}"/>
              </a:ext>
            </a:extLst>
          </p:cNvPr>
          <p:cNvSpPr>
            <a:spLocks noGrp="1"/>
          </p:cNvSpPr>
          <p:nvPr>
            <p:ph type="title"/>
          </p:nvPr>
        </p:nvSpPr>
        <p:spPr/>
        <p:txBody>
          <a:bodyPr/>
          <a:lstStyle/>
          <a:p>
            <a:endParaRPr lang="fr-FR"/>
          </a:p>
        </p:txBody>
      </p:sp>
      <p:pic>
        <p:nvPicPr>
          <p:cNvPr id="1030" name="Picture 6" descr="Introduction au deep learning avec Tensorflow | Machine Learning lab">
            <a:extLst>
              <a:ext uri="{FF2B5EF4-FFF2-40B4-BE49-F238E27FC236}">
                <a16:creationId xmlns:a16="http://schemas.microsoft.com/office/drawing/2014/main" id="{DC8127FD-9812-4BB5-A5F9-577769DF8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703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382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828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Yann Le </a:t>
            </a:r>
            <a:r>
              <a:rPr lang="fr-FR" dirty="0" err="1"/>
              <a:t>Cun</a:t>
            </a:r>
            <a:endParaRPr lang="fr-FR" dirty="0"/>
          </a:p>
        </p:txBody>
      </p:sp>
      <p:sp>
        <p:nvSpPr>
          <p:cNvPr id="3" name="Espace réservé du contenu 2"/>
          <p:cNvSpPr>
            <a:spLocks noGrp="1"/>
          </p:cNvSpPr>
          <p:nvPr>
            <p:ph idx="1"/>
          </p:nvPr>
        </p:nvSpPr>
        <p:spPr/>
        <p:txBody>
          <a:bodyPr/>
          <a:lstStyle/>
          <a:p>
            <a:r>
              <a:rPr lang="fr-FR" dirty="0"/>
              <a:t>Co-inventeur de l’apprentissage profond</a:t>
            </a:r>
          </a:p>
          <a:p>
            <a:pPr lvl="1"/>
            <a:r>
              <a:rPr lang="fr-FR" dirty="0"/>
              <a:t>Prix Turing</a:t>
            </a:r>
          </a:p>
          <a:p>
            <a:pPr lvl="1"/>
            <a:r>
              <a:rPr lang="fr-FR" dirty="0"/>
              <a:t>Inventeur des CNN</a:t>
            </a:r>
          </a:p>
          <a:p>
            <a:r>
              <a:rPr lang="fr-FR" dirty="0"/>
              <a:t>Directeur de Facebook AI</a:t>
            </a:r>
          </a:p>
        </p:txBody>
      </p:sp>
      <p:pic>
        <p:nvPicPr>
          <p:cNvPr id="1026" name="Picture 2" descr="Yann LeCun - 2018 (cropp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571" y="2204864"/>
            <a:ext cx="3596935" cy="413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335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François Chollet</a:t>
            </a:r>
            <a:endParaRPr lang="fr-FR" dirty="0"/>
          </a:p>
        </p:txBody>
      </p:sp>
      <p:sp>
        <p:nvSpPr>
          <p:cNvPr id="3" name="Espace réservé du contenu 2"/>
          <p:cNvSpPr>
            <a:spLocks noGrp="1"/>
          </p:cNvSpPr>
          <p:nvPr>
            <p:ph idx="1"/>
          </p:nvPr>
        </p:nvSpPr>
        <p:spPr/>
        <p:txBody>
          <a:bodyPr/>
          <a:lstStyle/>
          <a:p>
            <a:r>
              <a:rPr lang="fr-FR" dirty="0"/>
              <a:t>Chef de projet Google </a:t>
            </a:r>
            <a:r>
              <a:rPr lang="fr-FR" dirty="0" err="1"/>
              <a:t>TensorFlow</a:t>
            </a:r>
            <a:endParaRPr lang="fr-FR" dirty="0"/>
          </a:p>
          <a:p>
            <a:r>
              <a:rPr lang="fr-FR" dirty="0"/>
              <a:t>Inventeur de </a:t>
            </a:r>
            <a:r>
              <a:rPr lang="fr-FR" dirty="0" err="1"/>
              <a:t>Keras</a:t>
            </a:r>
            <a:endParaRPr lang="fr-FR" dirty="0"/>
          </a:p>
        </p:txBody>
      </p:sp>
      <p:pic>
        <p:nvPicPr>
          <p:cNvPr id="1026" name="Picture 2" descr="FranÃ§ois Choll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1266" y="1696525"/>
            <a:ext cx="1827194" cy="18271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eras tutorial - keras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4803" y="3766908"/>
            <a:ext cx="990061" cy="990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351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1/3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Constituer et donner accès à de très grands jeux de données de qualité</a:t>
            </a:r>
          </a:p>
          <a:p>
            <a:pPr lvl="1"/>
            <a:r>
              <a:rPr lang="fr-FR" sz="1800" dirty="0"/>
              <a:t>le principal facteur limitant à l’heure actuelle n’est pas la technologie mais l’accès à des données de qualité.</a:t>
            </a:r>
          </a:p>
          <a:p>
            <a:pPr lvl="1"/>
            <a:r>
              <a:rPr lang="fr-FR" sz="1800" dirty="0"/>
              <a:t>L’accès à des données massives, corrélées, complètes, qualifiées, historisées, est une clé technologique majeure de mise au point de technologies d’intelligence artificielle aujourd’hui</a:t>
            </a:r>
          </a:p>
        </p:txBody>
      </p:sp>
    </p:spTree>
    <p:extLst>
      <p:ext uri="{BB962C8B-B14F-4D97-AF65-F5344CB8AC3E}">
        <p14:creationId xmlns:p14="http://schemas.microsoft.com/office/powerpoint/2010/main" val="3326188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nouvelles sources de données</a:t>
            </a:r>
          </a:p>
        </p:txBody>
      </p:sp>
      <p:sp>
        <p:nvSpPr>
          <p:cNvPr id="3" name="Espace réservé du contenu 2"/>
          <p:cNvSpPr>
            <a:spLocks noGrp="1"/>
          </p:cNvSpPr>
          <p:nvPr>
            <p:ph idx="1"/>
          </p:nvPr>
        </p:nvSpPr>
        <p:spPr/>
        <p:txBody>
          <a:bodyPr/>
          <a:lstStyle/>
          <a:p>
            <a:endParaRPr lang="fr-FR" dirty="0"/>
          </a:p>
        </p:txBody>
      </p:sp>
      <p:pic>
        <p:nvPicPr>
          <p:cNvPr id="1026" name="Picture 2" descr="Nouvelles sources de données Big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9682" y="2186862"/>
            <a:ext cx="5837663" cy="3269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669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2/3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Embaucher, capitaliser et former</a:t>
            </a:r>
          </a:p>
          <a:p>
            <a:r>
              <a:rPr lang="fr-FR" sz="2100" dirty="0">
                <a:solidFill>
                  <a:srgbClr val="111111"/>
                </a:solidFill>
                <a:latin typeface="Arial" panose="020B0604020202020204" pitchFamily="34" charset="0"/>
              </a:rPr>
              <a:t>Créer des équipes autonomes</a:t>
            </a:r>
          </a:p>
          <a:p>
            <a:r>
              <a:rPr lang="en-US" sz="2100" dirty="0"/>
              <a:t>Data Scientist (n.): Person who is better at statistics than any software engineer and better at software engineering than any statistician</a:t>
            </a:r>
            <a:endParaRPr lang="fr-FR" sz="2100" dirty="0"/>
          </a:p>
          <a:p>
            <a:endParaRPr lang="fr-FR" sz="2100" b="1" dirty="0">
              <a:solidFill>
                <a:srgbClr val="111111"/>
              </a:solidFill>
              <a:latin typeface="Arial" panose="020B0604020202020204" pitchFamily="34" charset="0"/>
            </a:endParaRPr>
          </a:p>
        </p:txBody>
      </p:sp>
      <p:pic>
        <p:nvPicPr>
          <p:cNvPr id="4" name="Picture 2" descr="https://upload.wikimedia.org/wikipedia/commons/4/44/DataScienceDisciplines.png">
            <a:extLst>
              <a:ext uri="{FF2B5EF4-FFF2-40B4-BE49-F238E27FC236}">
                <a16:creationId xmlns:a16="http://schemas.microsoft.com/office/drawing/2014/main" id="{55A7E1B0-1946-4E1F-92C7-9D63F94A7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753" y="3667033"/>
            <a:ext cx="3184055" cy="238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7742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3CA38B-3BB0-4629-BF22-7D4D4C6D2943}"/>
              </a:ext>
            </a:extLst>
          </p:cNvPr>
          <p:cNvSpPr>
            <a:spLocks noGrp="1"/>
          </p:cNvSpPr>
          <p:nvPr>
            <p:ph type="title"/>
          </p:nvPr>
        </p:nvSpPr>
        <p:spPr/>
        <p:txBody>
          <a:bodyPr/>
          <a:lstStyle/>
          <a:p>
            <a:r>
              <a:rPr lang="fr-FR" dirty="0"/>
              <a:t>Les enjeux 3/3</a:t>
            </a:r>
          </a:p>
        </p:txBody>
      </p:sp>
      <p:sp>
        <p:nvSpPr>
          <p:cNvPr id="7" name="Espace réservé du contenu 2">
            <a:extLst>
              <a:ext uri="{FF2B5EF4-FFF2-40B4-BE49-F238E27FC236}">
                <a16:creationId xmlns:a16="http://schemas.microsoft.com/office/drawing/2014/main" id="{62CAC85E-A812-47F9-A7C5-91F75568AA15}"/>
              </a:ext>
            </a:extLst>
          </p:cNvPr>
          <p:cNvSpPr txBox="1">
            <a:spLocks/>
          </p:cNvSpPr>
          <p:nvPr/>
        </p:nvSpPr>
        <p:spPr>
          <a:xfrm>
            <a:off x="628650" y="2226469"/>
            <a:ext cx="7886700" cy="32635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100" b="1" dirty="0">
                <a:solidFill>
                  <a:srgbClr val="111111"/>
                </a:solidFill>
                <a:latin typeface="Arial" panose="020B0604020202020204" pitchFamily="34" charset="0"/>
              </a:rPr>
              <a:t>Mettre en pratique et industrialiser</a:t>
            </a:r>
          </a:p>
        </p:txBody>
      </p:sp>
    </p:spTree>
    <p:extLst>
      <p:ext uri="{BB962C8B-B14F-4D97-AF65-F5344CB8AC3E}">
        <p14:creationId xmlns:p14="http://schemas.microsoft.com/office/powerpoint/2010/main" val="2372488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7F6F7-0C00-C60D-BE93-2F43C952AD4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0EFD83B-CDA3-B191-39F8-66DAF4D5C948}"/>
              </a:ext>
            </a:extLst>
          </p:cNvPr>
          <p:cNvSpPr txBox="1">
            <a:spLocks/>
          </p:cNvSpPr>
          <p:nvPr/>
        </p:nvSpPr>
        <p:spPr>
          <a:xfrm>
            <a:off x="179512" y="1412776"/>
            <a:ext cx="8766051" cy="5040560"/>
          </a:xfrm>
          <a:prstGeom prst="rect">
            <a:avLst/>
          </a:prstGeom>
        </p:spPr>
        <p:txBody>
          <a:bodyPr/>
          <a:lst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a:lstStyle>
          <a:p>
            <a:r>
              <a:rPr lang="fr-FR" kern="0" dirty="0"/>
              <a:t>Langage essentiel pour les Data Sciences</a:t>
            </a:r>
          </a:p>
          <a:p>
            <a:r>
              <a:rPr lang="fr-FR" kern="0" dirty="0"/>
              <a:t>Les environnements de développements</a:t>
            </a:r>
          </a:p>
          <a:p>
            <a:pPr lvl="1"/>
            <a:r>
              <a:rPr lang="fr-FR" kern="0" dirty="0" err="1"/>
              <a:t>PyCharm</a:t>
            </a:r>
            <a:endParaRPr lang="fr-FR" kern="0" dirty="0"/>
          </a:p>
          <a:p>
            <a:pPr lvl="1"/>
            <a:r>
              <a:rPr lang="fr-FR" kern="0" dirty="0" err="1"/>
              <a:t>VSCode</a:t>
            </a:r>
            <a:endParaRPr lang="fr-FR" kern="0" dirty="0"/>
          </a:p>
          <a:p>
            <a:pPr lvl="1"/>
            <a:r>
              <a:rPr lang="fr-FR" kern="0" dirty="0" err="1"/>
              <a:t>Spyder</a:t>
            </a:r>
            <a:endParaRPr lang="fr-FR" kern="0" dirty="0"/>
          </a:p>
          <a:p>
            <a:pPr lvl="1"/>
            <a:r>
              <a:rPr lang="fr-FR" kern="0" dirty="0" err="1"/>
              <a:t>Jupyter</a:t>
            </a:r>
            <a:r>
              <a:rPr lang="fr-FR" kern="0" dirty="0"/>
              <a:t> : </a:t>
            </a:r>
            <a:r>
              <a:rPr lang="fr-FR" dirty="0" err="1"/>
              <a:t>pip</a:t>
            </a:r>
            <a:r>
              <a:rPr lang="fr-FR" dirty="0"/>
              <a:t> </a:t>
            </a:r>
            <a:r>
              <a:rPr lang="fr-FR" dirty="0" err="1"/>
              <a:t>install</a:t>
            </a:r>
            <a:r>
              <a:rPr lang="fr-FR" dirty="0"/>
              <a:t> </a:t>
            </a:r>
            <a:r>
              <a:rPr lang="fr-FR" dirty="0" err="1"/>
              <a:t>jupyterlab</a:t>
            </a:r>
            <a:endParaRPr lang="fr-FR"/>
          </a:p>
          <a:p>
            <a:pPr lvl="1"/>
            <a:endParaRPr lang="fr-FR" kern="0" dirty="0"/>
          </a:p>
          <a:p>
            <a:endParaRPr lang="fr-FR" kern="0" dirty="0"/>
          </a:p>
        </p:txBody>
      </p:sp>
      <p:sp>
        <p:nvSpPr>
          <p:cNvPr id="5" name="Titre 4">
            <a:extLst>
              <a:ext uri="{FF2B5EF4-FFF2-40B4-BE49-F238E27FC236}">
                <a16:creationId xmlns:a16="http://schemas.microsoft.com/office/drawing/2014/main" id="{50D6C268-3FC6-8BEC-DB7A-8B69D24FAF8E}"/>
              </a:ext>
            </a:extLst>
          </p:cNvPr>
          <p:cNvSpPr>
            <a:spLocks noGrp="1"/>
          </p:cNvSpPr>
          <p:nvPr>
            <p:ph type="title"/>
          </p:nvPr>
        </p:nvSpPr>
        <p:spPr/>
        <p:txBody>
          <a:bodyPr/>
          <a:lstStyle/>
          <a:p>
            <a:endParaRPr lang="fr-FR"/>
          </a:p>
        </p:txBody>
      </p:sp>
      <p:pic>
        <p:nvPicPr>
          <p:cNvPr id="8" name="Image 7">
            <a:extLst>
              <a:ext uri="{FF2B5EF4-FFF2-40B4-BE49-F238E27FC236}">
                <a16:creationId xmlns:a16="http://schemas.microsoft.com/office/drawing/2014/main" id="{1704D641-C65F-F6B0-06EE-0AFE221AF1D2}"/>
              </a:ext>
            </a:extLst>
          </p:cNvPr>
          <p:cNvPicPr>
            <a:picLocks noChangeAspect="1"/>
          </p:cNvPicPr>
          <p:nvPr/>
        </p:nvPicPr>
        <p:blipFill>
          <a:blip r:embed="rId2"/>
          <a:stretch>
            <a:fillRect/>
          </a:stretch>
        </p:blipFill>
        <p:spPr>
          <a:xfrm>
            <a:off x="2483768" y="-25963"/>
            <a:ext cx="4464496" cy="1437432"/>
          </a:xfrm>
          <a:prstGeom prst="rect">
            <a:avLst/>
          </a:prstGeom>
        </p:spPr>
      </p:pic>
    </p:spTree>
    <p:extLst>
      <p:ext uri="{BB962C8B-B14F-4D97-AF65-F5344CB8AC3E}">
        <p14:creationId xmlns:p14="http://schemas.microsoft.com/office/powerpoint/2010/main" val="38793945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endParaRPr lang="fr-FR" dirty="0"/>
          </a:p>
        </p:txBody>
      </p:sp>
      <p:pic>
        <p:nvPicPr>
          <p:cNvPr id="3074" name="Picture 2" descr="https://cdn.technologyreview.com/i/images/Face%20detection.png?sw=6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209"/>
            <a:ext cx="9252520" cy="51814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Ã©sultat de recherche d'images pour &quot;deep learning face recognition&quo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5999" y="5073942"/>
            <a:ext cx="5280521" cy="176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2161648"/>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3348</TotalTime>
  <Words>1112</Words>
  <Application>Microsoft Office PowerPoint</Application>
  <PresentationFormat>Affichage à l'écran (4:3)</PresentationFormat>
  <Paragraphs>134</Paragraphs>
  <Slides>42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42</vt:i4>
      </vt:variant>
    </vt:vector>
  </HeadingPairs>
  <TitlesOfParts>
    <vt:vector size="46" baseType="lpstr">
      <vt:lpstr>Arial</vt:lpstr>
      <vt:lpstr>Monotype Sorts</vt:lpstr>
      <vt:lpstr>Times New Roman</vt:lpstr>
      <vt:lpstr>cvc</vt:lpstr>
      <vt:lpstr>Présentation PowerPoint</vt:lpstr>
      <vt:lpstr>Présentation PowerPoint</vt:lpstr>
      <vt:lpstr>Présentation PowerPoint</vt:lpstr>
      <vt:lpstr>Wikipedia</vt:lpstr>
      <vt:lpstr>Data Science</vt:lpstr>
      <vt:lpstr>Data Science</vt:lpstr>
      <vt:lpstr>Présentation PowerPoint</vt:lpstr>
      <vt:lpstr>Les langages</vt:lpstr>
      <vt:lpstr>Data Scientist</vt:lpstr>
      <vt:lpstr>Difficultés</vt:lpstr>
      <vt:lpstr>Présentation PowerPoint</vt:lpstr>
      <vt:lpstr>L'intelligence artificielle</vt:lpstr>
      <vt:lpstr>Test de Turing</vt:lpstr>
      <vt:lpstr>Copier la nature ou non</vt:lpstr>
      <vt:lpstr>IA - ML - DL</vt:lpstr>
      <vt:lpstr>Machine Learning</vt:lpstr>
      <vt:lpstr>Machine Learning</vt:lpstr>
      <vt:lpstr>Apprentissage supervisé</vt:lpstr>
      <vt:lpstr>But</vt:lpstr>
      <vt:lpstr>Apprentissage non supervisé ou semi-supervisé</vt:lpstr>
      <vt:lpstr>Exemple</vt:lpstr>
      <vt:lpstr>Graphique</vt:lpstr>
      <vt:lpstr>Régression linéaire</vt:lpstr>
      <vt:lpstr>Classification</vt:lpstr>
      <vt:lpstr>Apprentissage</vt:lpstr>
      <vt:lpstr>Choix du modèle</vt:lpstr>
      <vt:lpstr>Les langages et Frameworks</vt:lpstr>
      <vt:lpstr>Les Frameworks ML et DL en 2019</vt:lpstr>
      <vt:lpstr>Deep Learning</vt:lpstr>
      <vt:lpstr>Neurone</vt:lpstr>
      <vt:lpstr>Neurone</vt:lpstr>
      <vt:lpstr>Réseaux</vt:lpstr>
      <vt:lpstr>Présentation PowerPoint</vt:lpstr>
      <vt:lpstr>Workflow</vt:lpstr>
      <vt:lpstr>Yann Le Cun</vt:lpstr>
      <vt:lpstr>François Chollet</vt:lpstr>
      <vt:lpstr>Les enjeux 1/3</vt:lpstr>
      <vt:lpstr>Les nouvelles sources de données</vt:lpstr>
      <vt:lpstr>Les enjeux 2/3</vt:lpstr>
      <vt:lpstr>Les enjeux 3/3</vt:lpstr>
      <vt:lpstr>Présentation PowerPoint</vt:lpstr>
      <vt:lpstr>Présentation PowerPoint</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242</cp:revision>
  <dcterms:created xsi:type="dcterms:W3CDTF">2000-04-10T19:33:12Z</dcterms:created>
  <dcterms:modified xsi:type="dcterms:W3CDTF">2025-10-15T20:27:47Z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