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9"/>
  </p:notesMasterIdLst>
  <p:handoutMasterIdLst>
    <p:handoutMasterId r:id="rId20"/>
  </p:handoutMasterIdLst>
  <p:sldIdLst>
    <p:sldId id="264" r:id="rId2"/>
    <p:sldId id="285" r:id="rId3"/>
    <p:sldId id="284" r:id="rId4"/>
    <p:sldId id="283" r:id="rId5"/>
    <p:sldId id="286" r:id="rId6"/>
    <p:sldId id="287" r:id="rId7"/>
    <p:sldId id="288" r:id="rId8"/>
    <p:sldId id="289" r:id="rId9"/>
    <p:sldId id="290" r:id="rId10"/>
    <p:sldId id="278" r:id="rId11"/>
    <p:sldId id="291" r:id="rId12"/>
    <p:sldId id="292" r:id="rId13"/>
    <p:sldId id="294" r:id="rId14"/>
    <p:sldId id="295" r:id="rId15"/>
    <p:sldId id="296" r:id="rId16"/>
    <p:sldId id="297" r:id="rId17"/>
    <p:sldId id="298" r:id="rId1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63" d="100"/>
          <a:sy n="63" d="100"/>
        </p:scale>
        <p:origin x="1590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81180E41-3EFA-961C-CDAE-9765A33E88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59632" y="5661248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Chaînage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17372D-57E7-A52C-F50E-9323CFA0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5EE092-0115-4FA2-91FB-C5F56897D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chainage consiste à enchainer des Transformers les uns à la suite des autres</a:t>
            </a:r>
          </a:p>
          <a:p>
            <a:r>
              <a:rPr lang="fr-FR" dirty="0"/>
              <a:t>RAG = Loader + </a:t>
            </a:r>
            <a:r>
              <a:rPr lang="fr-FR" dirty="0" err="1"/>
              <a:t>Chunker</a:t>
            </a:r>
            <a:r>
              <a:rPr lang="fr-FR" dirty="0"/>
              <a:t> (Splitter) + </a:t>
            </a:r>
            <a:r>
              <a:rPr lang="fr-FR" dirty="0" err="1"/>
              <a:t>Embedding</a:t>
            </a:r>
            <a:r>
              <a:rPr lang="fr-FR" dirty="0"/>
              <a:t> + </a:t>
            </a:r>
            <a:r>
              <a:rPr lang="fr-FR" dirty="0" err="1"/>
              <a:t>Retrieve</a:t>
            </a:r>
            <a:r>
              <a:rPr lang="fr-FR" dirty="0"/>
              <a:t> + </a:t>
            </a:r>
            <a:r>
              <a:rPr lang="fr-FR" dirty="0" err="1"/>
              <a:t>Augmented</a:t>
            </a:r>
            <a:endParaRPr lang="fr-FR" dirty="0"/>
          </a:p>
          <a:p>
            <a:r>
              <a:rPr lang="fr-FR" dirty="0" err="1"/>
              <a:t>Langchain</a:t>
            </a:r>
            <a:r>
              <a:rPr lang="fr-FR" dirty="0"/>
              <a:t> permet d'automatiser plus ou moins le chainage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608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43EA71-D982-49A8-4DCD-F43B1129F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Vectorisation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E24007-0DE2-5FF4-C36F-00F250C3F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modèles de vectorisation (</a:t>
            </a:r>
            <a:r>
              <a:rPr lang="fr-FR" dirty="0" err="1"/>
              <a:t>embedding</a:t>
            </a:r>
            <a:r>
              <a:rPr lang="fr-FR" dirty="0"/>
              <a:t>) sont des réseaux de neurones qui transforment une entrée (phrase, image) en un vecteur de float32</a:t>
            </a:r>
          </a:p>
          <a:p>
            <a:pPr lvl="1"/>
            <a:r>
              <a:rPr lang="fr-FR" dirty="0"/>
              <a:t>Ces modèles ont appris en utilisant un LLM comme </a:t>
            </a:r>
            <a:r>
              <a:rPr lang="fr-FR" dirty="0" err="1"/>
              <a:t>scoring</a:t>
            </a:r>
            <a:r>
              <a:rPr lang="fr-FR" dirty="0"/>
              <a:t> de l'angle du vecteur</a:t>
            </a:r>
          </a:p>
          <a:p>
            <a:pPr lvl="1"/>
            <a:r>
              <a:rPr lang="fr-FR" dirty="0"/>
              <a:t>Il est possible d'entrainer soit même un modèle d'</a:t>
            </a:r>
            <a:r>
              <a:rPr lang="fr-FR" dirty="0" err="1"/>
              <a:t>embedding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641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43EA71-D982-49A8-4DCD-F43B1129F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Modèles d'</a:t>
            </a:r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E24007-0DE2-5FF4-C36F-00F250C3F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5701268" cy="5040560"/>
          </a:xfrm>
        </p:spPr>
        <p:txBody>
          <a:bodyPr/>
          <a:lstStyle/>
          <a:p>
            <a:r>
              <a:rPr lang="en-US" sz="2000" dirty="0" err="1"/>
              <a:t>Vectorisation</a:t>
            </a:r>
            <a:endParaRPr lang="en-US" sz="2000" dirty="0"/>
          </a:p>
          <a:p>
            <a:r>
              <a:rPr lang="en-US" sz="2000" dirty="0"/>
              <a:t>from </a:t>
            </a:r>
            <a:r>
              <a:rPr lang="en-US" sz="2000" dirty="0" err="1"/>
              <a:t>langchain_openai</a:t>
            </a:r>
            <a:r>
              <a:rPr lang="en-US" sz="2000" dirty="0"/>
              <a:t> import </a:t>
            </a:r>
            <a:r>
              <a:rPr lang="en-US" sz="2000" dirty="0" err="1"/>
              <a:t>OpenAIEmbeddings</a:t>
            </a:r>
            <a:endParaRPr lang="en-US" sz="2000" dirty="0"/>
          </a:p>
          <a:p>
            <a:r>
              <a:rPr lang="fr-FR" sz="2000" dirty="0" err="1"/>
              <a:t>embeddings</a:t>
            </a:r>
            <a:r>
              <a:rPr lang="fr-FR" sz="2000" dirty="0"/>
              <a:t> = </a:t>
            </a:r>
            <a:r>
              <a:rPr lang="fr-FR" sz="2000" dirty="0" err="1"/>
              <a:t>OpenAIEmbeddings</a:t>
            </a:r>
            <a:r>
              <a:rPr lang="fr-FR" sz="2000" dirty="0"/>
              <a:t>(model="text-embedding-3-large")</a:t>
            </a:r>
          </a:p>
          <a:p>
            <a:r>
              <a:rPr lang="en-US" sz="2000" dirty="0"/>
              <a:t>vector  = </a:t>
            </a:r>
            <a:r>
              <a:rPr lang="en-US" sz="2000" dirty="0" err="1"/>
              <a:t>embeddings.embed_query</a:t>
            </a:r>
            <a:r>
              <a:rPr lang="en-US" sz="2000" dirty="0"/>
              <a:t>(splits)</a:t>
            </a:r>
            <a:endParaRPr lang="fr-FR" sz="2000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7D2B622-6CCD-A25C-53F5-B62067AE6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781" y="980728"/>
            <a:ext cx="3352118" cy="586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4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31FF77-D2C7-C15F-03C2-DDA7E1B6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Vector</a:t>
            </a:r>
            <a:r>
              <a:rPr lang="fr-FR" dirty="0"/>
              <a:t> Storage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1F81B6-5D4B-4877-F3C6-A66560028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l'instant les vecteurs sont stockés en mémoire</a:t>
            </a:r>
          </a:p>
          <a:p>
            <a:pPr lvl="1"/>
            <a:r>
              <a:rPr lang="fr-FR" dirty="0"/>
              <a:t>Non efficace car il faut refaire l'</a:t>
            </a:r>
            <a:r>
              <a:rPr lang="fr-FR" dirty="0" err="1"/>
              <a:t>embedding</a:t>
            </a:r>
            <a:r>
              <a:rPr lang="fr-FR" dirty="0"/>
              <a:t> à chaque fois</a:t>
            </a:r>
          </a:p>
          <a:p>
            <a:pPr lvl="1"/>
            <a:r>
              <a:rPr lang="en-US" dirty="0"/>
              <a:t>from </a:t>
            </a:r>
            <a:r>
              <a:rPr lang="en-US" dirty="0" err="1"/>
              <a:t>langchain_core.vectorstores</a:t>
            </a:r>
            <a:r>
              <a:rPr lang="en-US" dirty="0"/>
              <a:t> import </a:t>
            </a:r>
            <a:r>
              <a:rPr lang="en-US" dirty="0" err="1"/>
              <a:t>InMemoryVectorStore</a:t>
            </a:r>
            <a:endParaRPr lang="en-US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DCF8F5-4B95-B28B-5297-F3208423B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3933056"/>
            <a:ext cx="5680922" cy="54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3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3F1B19-A4C7-A90C-36E2-473774A2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Retrieval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68B3FC-59E6-A535-362E-4F9D36E6A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Recherche de similarité</a:t>
            </a:r>
          </a:p>
          <a:p>
            <a:r>
              <a:rPr lang="fr-FR" dirty="0" err="1"/>
              <a:t>Embedding</a:t>
            </a:r>
            <a:r>
              <a:rPr lang="fr-FR" dirty="0"/>
              <a:t> de la question</a:t>
            </a:r>
          </a:p>
          <a:p>
            <a:r>
              <a:rPr lang="fr-FR" dirty="0"/>
              <a:t>Requêtage dans le </a:t>
            </a:r>
            <a:r>
              <a:rPr lang="fr-FR" dirty="0" err="1"/>
              <a:t>vector</a:t>
            </a:r>
            <a:r>
              <a:rPr lang="fr-FR" dirty="0"/>
              <a:t> store par </a:t>
            </a:r>
            <a:r>
              <a:rPr lang="fr-FR" dirty="0" err="1"/>
              <a:t>cosine</a:t>
            </a:r>
            <a:r>
              <a:rPr lang="fr-FR" dirty="0"/>
              <a:t> </a:t>
            </a:r>
            <a:r>
              <a:rPr lang="fr-FR" dirty="0" err="1"/>
              <a:t>similarity</a:t>
            </a:r>
            <a:endParaRPr lang="fr-FR" dirty="0"/>
          </a:p>
          <a:p>
            <a:r>
              <a:rPr lang="fr-FR" dirty="0"/>
              <a:t>Réception des k vecteurs les plus proches par un modèle de type </a:t>
            </a:r>
            <a:r>
              <a:rPr lang="fr-FR" dirty="0" err="1"/>
              <a:t>kNN</a:t>
            </a:r>
            <a:endParaRPr lang="fr-FR" dirty="0"/>
          </a:p>
          <a:p>
            <a:pPr lvl="1"/>
            <a:r>
              <a:rPr lang="fr-FR" dirty="0"/>
              <a:t>Retournes le k documents les plus proches</a:t>
            </a:r>
          </a:p>
          <a:p>
            <a:pPr lvl="1"/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C68B94A-12C6-05A6-476A-02958F6E1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873724"/>
            <a:ext cx="778999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08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A61CAA-EDB2-D9C1-EB44-35E4691D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Augmentation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5C64CB-7550-825C-0CA4-1F08220CD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Appel du LLM via un </a:t>
            </a:r>
            <a:r>
              <a:rPr lang="fr-FR" dirty="0" err="1"/>
              <a:t>template</a:t>
            </a:r>
            <a:r>
              <a:rPr lang="fr-FR" dirty="0"/>
              <a:t> avec comme contexte systèmes les k </a:t>
            </a:r>
            <a:r>
              <a:rPr lang="fr-FR" dirty="0" err="1"/>
              <a:t>chunks</a:t>
            </a:r>
            <a:r>
              <a:rPr lang="fr-FR" dirty="0"/>
              <a:t> les plus proches et la question user</a:t>
            </a:r>
          </a:p>
          <a:p>
            <a:r>
              <a:rPr lang="fr-FR" dirty="0"/>
              <a:t>Retour de la réponse</a:t>
            </a:r>
          </a:p>
          <a:p>
            <a:r>
              <a:rPr lang="fr-FR" dirty="0"/>
              <a:t>Fin du chainage</a:t>
            </a:r>
          </a:p>
        </p:txBody>
      </p:sp>
    </p:spTree>
    <p:extLst>
      <p:ext uri="{BB962C8B-B14F-4D97-AF65-F5344CB8AC3E}">
        <p14:creationId xmlns:p14="http://schemas.microsoft.com/office/powerpoint/2010/main" val="2983007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D27D6B-852E-894B-D36F-0AC0AE6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Chainage QA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7F8ED3-C330-7BB4-7C29-EFD11B8AF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des chainages préfabriqués</a:t>
            </a:r>
          </a:p>
          <a:p>
            <a:r>
              <a:rPr lang="fr-FR" dirty="0"/>
              <a:t>Le chainage QA est un chainage RAG simple simplifiant toutes les étapes</a:t>
            </a:r>
          </a:p>
          <a:p>
            <a:pPr lvl="1"/>
            <a:r>
              <a:rPr lang="fr-FR" dirty="0"/>
              <a:t>Contient déjà le </a:t>
            </a:r>
            <a:r>
              <a:rPr lang="fr-FR" dirty="0" err="1"/>
              <a:t>retrieval</a:t>
            </a:r>
            <a:r>
              <a:rPr lang="fr-FR" dirty="0"/>
              <a:t> et les </a:t>
            </a:r>
            <a:r>
              <a:rPr lang="fr-FR" dirty="0" err="1"/>
              <a:t>templates</a:t>
            </a:r>
            <a:r>
              <a:rPr lang="fr-FR" dirty="0"/>
              <a:t> pour l'augmentation</a:t>
            </a:r>
          </a:p>
          <a:p>
            <a:pPr lvl="1"/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langchain.chains</a:t>
            </a:r>
            <a:r>
              <a:rPr lang="fr-FR" dirty="0"/>
              <a:t> import </a:t>
            </a:r>
            <a:r>
              <a:rPr lang="fr-FR" dirty="0" err="1"/>
              <a:t>RetrievalQA</a:t>
            </a:r>
            <a:endParaRPr lang="fr-FR" dirty="0"/>
          </a:p>
          <a:p>
            <a:pPr lvl="1"/>
            <a:r>
              <a:rPr lang="fr-FR" dirty="0" err="1"/>
              <a:t>qa_chain</a:t>
            </a:r>
            <a:r>
              <a:rPr lang="fr-FR" dirty="0"/>
              <a:t> = </a:t>
            </a:r>
            <a:r>
              <a:rPr lang="fr-FR" dirty="0" err="1"/>
              <a:t>RetrievalQA.from_chain_type</a:t>
            </a:r>
            <a:r>
              <a:rPr lang="fr-FR" dirty="0"/>
              <a:t>(</a:t>
            </a:r>
            <a:r>
              <a:rPr lang="fr-FR" dirty="0" err="1"/>
              <a:t>llm</a:t>
            </a:r>
            <a:r>
              <a:rPr lang="fr-FR" dirty="0"/>
              <a:t>=</a:t>
            </a:r>
            <a:r>
              <a:rPr lang="fr-FR" dirty="0" err="1"/>
              <a:t>ChatOpenAI</a:t>
            </a:r>
            <a:r>
              <a:rPr lang="fr-FR" dirty="0"/>
              <a:t>(), retriever=retriever)</a:t>
            </a:r>
          </a:p>
          <a:p>
            <a:pPr lvl="1"/>
            <a:r>
              <a:rPr lang="fr-FR" dirty="0" err="1"/>
              <a:t>response</a:t>
            </a:r>
            <a:r>
              <a:rPr lang="fr-FR" dirty="0"/>
              <a:t> = </a:t>
            </a:r>
            <a:r>
              <a:rPr lang="fr-FR" dirty="0" err="1"/>
              <a:t>qa_chain.invoke</a:t>
            </a:r>
            <a:r>
              <a:rPr lang="fr-FR" dirty="0"/>
              <a:t>(</a:t>
            </a:r>
            <a:r>
              <a:rPr lang="fr-FR" dirty="0" err="1"/>
              <a:t>query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1435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586D72-1FDD-0E43-0CAB-2C242272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LangGraph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8188A6-2716-A228-0FE8-7E8726373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créer un graphe de chainage sur mesure</a:t>
            </a:r>
          </a:p>
          <a:p>
            <a:r>
              <a:rPr lang="fr-FR" dirty="0"/>
              <a:t>Un graphe est composé de </a:t>
            </a:r>
          </a:p>
          <a:p>
            <a:pPr lvl="1"/>
            <a:r>
              <a:rPr lang="fr-FR" dirty="0" err="1"/>
              <a:t>noeuds</a:t>
            </a:r>
            <a:r>
              <a:rPr lang="fr-FR" dirty="0"/>
              <a:t> (Node) dont un </a:t>
            </a:r>
            <a:r>
              <a:rPr lang="fr-FR" dirty="0" err="1"/>
              <a:t>noeud</a:t>
            </a:r>
            <a:r>
              <a:rPr lang="fr-FR" dirty="0"/>
              <a:t> de départ et d'arrêt</a:t>
            </a:r>
          </a:p>
          <a:p>
            <a:pPr lvl="1"/>
            <a:r>
              <a:rPr lang="fr-FR" dirty="0"/>
              <a:t>d'arêtes (Edge)</a:t>
            </a:r>
          </a:p>
          <a:p>
            <a:r>
              <a:rPr lang="fr-FR" dirty="0"/>
              <a:t>Module </a:t>
            </a:r>
            <a:r>
              <a:rPr lang="fr-FR" dirty="0" err="1"/>
              <a:t>langgraph</a:t>
            </a:r>
            <a:endParaRPr lang="fr-FR" dirty="0"/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langgraph</a:t>
            </a:r>
            <a:endParaRPr lang="fr-FR" dirty="0"/>
          </a:p>
          <a:p>
            <a:r>
              <a:rPr lang="fr-FR" dirty="0"/>
              <a:t>Graphe à état</a:t>
            </a:r>
          </a:p>
          <a:p>
            <a:pPr lvl="1"/>
            <a:r>
              <a:rPr lang="fr-FR" dirty="0"/>
              <a:t>Chaque état du graphe est sauvegardé</a:t>
            </a:r>
          </a:p>
          <a:p>
            <a:pPr lvl="1"/>
            <a:r>
              <a:rPr lang="fr-FR" dirty="0" err="1"/>
              <a:t>StateGraph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1823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7BF66E-0C7B-57E2-F13B-A2909602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Augmentation avec les </a:t>
            </a:r>
            <a:r>
              <a:rPr lang="fr-FR" dirty="0" err="1"/>
              <a:t>metadata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6E5AE1-9BE8-18DA-C412-74D1685DA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sourcer les réponses</a:t>
            </a:r>
          </a:p>
          <a:p>
            <a:pPr lvl="1"/>
            <a:r>
              <a:rPr lang="fr-FR" dirty="0"/>
              <a:t>Dans le </a:t>
            </a:r>
            <a:r>
              <a:rPr lang="fr-FR" dirty="0" err="1"/>
              <a:t>Vector</a:t>
            </a:r>
            <a:r>
              <a:rPr lang="fr-FR" dirty="0"/>
              <a:t> Store chaque </a:t>
            </a:r>
            <a:r>
              <a:rPr lang="fr-FR" dirty="0" err="1"/>
              <a:t>Vector</a:t>
            </a:r>
            <a:r>
              <a:rPr lang="fr-FR" dirty="0"/>
              <a:t> est associé à un </a:t>
            </a:r>
            <a:r>
              <a:rPr lang="fr-FR" dirty="0" err="1"/>
              <a:t>Chunk</a:t>
            </a:r>
            <a:endParaRPr lang="fr-FR" dirty="0"/>
          </a:p>
          <a:p>
            <a:pPr lvl="1"/>
            <a:r>
              <a:rPr lang="fr-FR" dirty="0"/>
              <a:t>Et donc à un document</a:t>
            </a:r>
          </a:p>
          <a:p>
            <a:pPr lvl="1"/>
            <a:r>
              <a:rPr lang="fr-FR" dirty="0"/>
              <a:t>Il est donc possible de citer le document source</a:t>
            </a:r>
          </a:p>
          <a:p>
            <a:r>
              <a:rPr lang="fr-FR" dirty="0"/>
              <a:t>Hallucination</a:t>
            </a:r>
          </a:p>
          <a:p>
            <a:pPr lvl="1"/>
            <a:r>
              <a:rPr lang="fr-FR" dirty="0"/>
              <a:t>Si le score </a:t>
            </a:r>
            <a:r>
              <a:rPr lang="fr-FR" dirty="0" err="1"/>
              <a:t>kNN</a:t>
            </a:r>
            <a:r>
              <a:rPr lang="fr-FR" dirty="0"/>
              <a:t> est trop bas il est possible de répondre "je ne sais pas"</a:t>
            </a:r>
          </a:p>
        </p:txBody>
      </p:sp>
    </p:spTree>
    <p:extLst>
      <p:ext uri="{BB962C8B-B14F-4D97-AF65-F5344CB8AC3E}">
        <p14:creationId xmlns:p14="http://schemas.microsoft.com/office/powerpoint/2010/main" val="3559912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1246DF-A28E-CC4E-184B-6BFCCC01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State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F76A80-4009-922C-9342-42EAFC14E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classe State indique l'état (la variable) qui va parcourir le graphe</a:t>
            </a:r>
          </a:p>
          <a:p>
            <a:pPr lvl="1"/>
            <a:r>
              <a:rPr lang="fr-FR" dirty="0"/>
              <a:t>Hérite de </a:t>
            </a:r>
            <a:r>
              <a:rPr lang="fr-FR" dirty="0" err="1"/>
              <a:t>TypedDict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1979E58-BEF6-FCAF-78B2-9A2CD334F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" y="3356992"/>
            <a:ext cx="3871150" cy="172819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9689C62-52BB-7630-DEA7-E31F6871E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569" y="5278781"/>
            <a:ext cx="6668431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841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44F071-AE08-89A8-CA01-625423655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StateGraph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5CC951-A855-221F-CCDD-735AD1382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Classe principale du graphe</a:t>
            </a:r>
          </a:p>
          <a:p>
            <a:pPr lvl="1"/>
            <a:r>
              <a:rPr lang="fr-FR" dirty="0"/>
              <a:t>Prend en paramètre du constructeur un State</a:t>
            </a:r>
          </a:p>
          <a:p>
            <a:pPr lvl="1"/>
            <a:r>
              <a:rPr lang="fr-FR" dirty="0"/>
              <a:t>Retourne un </a:t>
            </a:r>
            <a:r>
              <a:rPr lang="fr-FR" dirty="0" err="1"/>
              <a:t>GraphBuilder</a:t>
            </a:r>
            <a:endParaRPr lang="fr-FR" dirty="0"/>
          </a:p>
          <a:p>
            <a:pPr lvl="1"/>
            <a:r>
              <a:rPr lang="en-US" dirty="0"/>
              <a:t>from </a:t>
            </a:r>
            <a:r>
              <a:rPr lang="en-US" dirty="0" err="1"/>
              <a:t>langgraph.graph</a:t>
            </a:r>
            <a:r>
              <a:rPr lang="en-US" dirty="0"/>
              <a:t> import </a:t>
            </a:r>
            <a:r>
              <a:rPr lang="en-US" dirty="0" err="1"/>
              <a:t>StateGraph</a:t>
            </a:r>
            <a:endParaRPr lang="fr-FR" dirty="0"/>
          </a:p>
          <a:p>
            <a:pPr lvl="1"/>
            <a:r>
              <a:rPr lang="fr-FR" dirty="0" err="1"/>
              <a:t>graph_builder</a:t>
            </a:r>
            <a:r>
              <a:rPr lang="fr-FR" dirty="0"/>
              <a:t> = </a:t>
            </a:r>
            <a:r>
              <a:rPr lang="fr-FR" dirty="0" err="1"/>
              <a:t>StateGraph</a:t>
            </a:r>
            <a:r>
              <a:rPr lang="fr-FR" dirty="0"/>
              <a:t>(State)</a:t>
            </a:r>
          </a:p>
        </p:txBody>
      </p:sp>
    </p:spTree>
    <p:extLst>
      <p:ext uri="{BB962C8B-B14F-4D97-AF65-F5344CB8AC3E}">
        <p14:creationId xmlns:p14="http://schemas.microsoft.com/office/powerpoint/2010/main" val="174732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F2C81-DFED-CE7A-BC76-3C849D4DD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FE4513-9A9D-497D-4770-0CDC5E82E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52DDCD-A514-A7D8-A7F4-5A38F3919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nœuds du graphe sont des fonctions</a:t>
            </a:r>
          </a:p>
          <a:p>
            <a:pPr lvl="1"/>
            <a:r>
              <a:rPr lang="fr-FR" dirty="0"/>
              <a:t>Chaque fonction du nœuds prends un State en paramètre</a:t>
            </a:r>
          </a:p>
          <a:p>
            <a:pPr lvl="1"/>
            <a:r>
              <a:rPr lang="fr-FR" dirty="0"/>
              <a:t>Ajout d'un nœud par </a:t>
            </a:r>
            <a:r>
              <a:rPr lang="fr-FR" dirty="0" err="1"/>
              <a:t>add_node</a:t>
            </a:r>
            <a:endParaRPr lang="fr-FR" dirty="0"/>
          </a:p>
          <a:p>
            <a:pPr lvl="1"/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chatbot</a:t>
            </a:r>
            <a:r>
              <a:rPr lang="fr-FR" dirty="0"/>
              <a:t>(state: State):    </a:t>
            </a:r>
          </a:p>
          <a:p>
            <a:pPr marL="914400" lvl="2" indent="0">
              <a:buNone/>
            </a:pPr>
            <a:r>
              <a:rPr lang="fr-FR" dirty="0"/>
              <a:t>return {"messages": [</a:t>
            </a:r>
            <a:r>
              <a:rPr lang="fr-FR" dirty="0" err="1"/>
              <a:t>llm.invoke</a:t>
            </a:r>
            <a:r>
              <a:rPr lang="fr-FR" dirty="0"/>
              <a:t>(state["messages"])]}</a:t>
            </a:r>
          </a:p>
          <a:p>
            <a:pPr lvl="1"/>
            <a:r>
              <a:rPr lang="fr-FR" dirty="0" err="1"/>
              <a:t>graph_builder.add_node</a:t>
            </a:r>
            <a:r>
              <a:rPr lang="fr-FR" dirty="0"/>
              <a:t>("</a:t>
            </a:r>
            <a:r>
              <a:rPr lang="fr-FR" dirty="0" err="1"/>
              <a:t>chatbot</a:t>
            </a:r>
            <a:r>
              <a:rPr lang="fr-FR" dirty="0"/>
              <a:t>", </a:t>
            </a:r>
            <a:r>
              <a:rPr lang="fr-FR" dirty="0" err="1"/>
              <a:t>chatbot</a:t>
            </a:r>
            <a:r>
              <a:rPr lang="fr-FR" dirty="0"/>
              <a:t>)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721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650702-A298-1A4D-290C-0047CE01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Edge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76708F-E90C-E36A-02D8-AE57FE0F7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noeuds</a:t>
            </a:r>
            <a:r>
              <a:rPr lang="fr-FR" dirty="0"/>
              <a:t> spéciaux sont START et END</a:t>
            </a:r>
          </a:p>
          <a:p>
            <a:pPr lvl="1"/>
            <a:r>
              <a:rPr lang="en-US" dirty="0"/>
              <a:t>from </a:t>
            </a:r>
            <a:r>
              <a:rPr lang="en-US" dirty="0" err="1"/>
              <a:t>langgraph.graph</a:t>
            </a:r>
            <a:r>
              <a:rPr lang="en-US" dirty="0"/>
              <a:t> import START, END</a:t>
            </a:r>
            <a:endParaRPr lang="fr-FR" dirty="0"/>
          </a:p>
          <a:p>
            <a:r>
              <a:rPr lang="fr-FR" dirty="0"/>
              <a:t>Un Edge est une arête du graphe</a:t>
            </a:r>
          </a:p>
          <a:p>
            <a:pPr lvl="1"/>
            <a:r>
              <a:rPr lang="fr-FR" dirty="0"/>
              <a:t>Permet de passer d'un nœud à un autre</a:t>
            </a:r>
          </a:p>
          <a:p>
            <a:pPr lvl="1"/>
            <a:r>
              <a:rPr lang="en-US" dirty="0" err="1"/>
              <a:t>graph_builder.add_edge</a:t>
            </a:r>
            <a:r>
              <a:rPr lang="en-US" dirty="0"/>
              <a:t>(START, "chatbot")</a:t>
            </a:r>
          </a:p>
          <a:p>
            <a:pPr lvl="1"/>
            <a:r>
              <a:rPr lang="en-US" dirty="0" err="1"/>
              <a:t>graph_builder.add_edge</a:t>
            </a:r>
            <a:r>
              <a:rPr lang="en-US" dirty="0"/>
              <a:t>("chatbot", END)</a:t>
            </a:r>
          </a:p>
          <a:p>
            <a:r>
              <a:rPr lang="en-US" dirty="0"/>
              <a:t>Compilation</a:t>
            </a:r>
          </a:p>
          <a:p>
            <a:pPr lvl="1"/>
            <a:r>
              <a:rPr lang="en-US" dirty="0" err="1"/>
              <a:t>Permet</a:t>
            </a:r>
            <a:r>
              <a:rPr lang="en-US" dirty="0"/>
              <a:t> </a:t>
            </a:r>
            <a:r>
              <a:rPr lang="en-US" dirty="0" err="1"/>
              <a:t>d'obtenir</a:t>
            </a:r>
            <a:r>
              <a:rPr lang="en-US" dirty="0"/>
              <a:t> le </a:t>
            </a:r>
            <a:r>
              <a:rPr lang="en-US" dirty="0" err="1"/>
              <a:t>graphe</a:t>
            </a:r>
            <a:r>
              <a:rPr lang="en-US" dirty="0"/>
              <a:t> final</a:t>
            </a:r>
          </a:p>
          <a:p>
            <a:pPr lvl="1"/>
            <a:r>
              <a:rPr lang="fr-FR" dirty="0"/>
              <a:t>graph = </a:t>
            </a:r>
            <a:r>
              <a:rPr lang="fr-FR" dirty="0" err="1"/>
              <a:t>graph_builder.compile</a:t>
            </a:r>
            <a:r>
              <a:rPr lang="fr-FR" dirty="0"/>
              <a:t>()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1C8C8D3-1B4F-A87C-1D9F-41C29E718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344" y="1988840"/>
            <a:ext cx="1038370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66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7FB6BB-29A1-D863-53A9-C97C69080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Parcours du graphe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F3DBF9-8316-2C90-8C37-4B8436C6B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init_chat_model</a:t>
            </a:r>
            <a:endParaRPr lang="fr-FR" dirty="0"/>
          </a:p>
          <a:p>
            <a:pPr lvl="1"/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langchain.chat_models</a:t>
            </a:r>
            <a:r>
              <a:rPr lang="fr-FR" dirty="0"/>
              <a:t> import </a:t>
            </a:r>
            <a:r>
              <a:rPr lang="fr-FR" dirty="0" err="1"/>
              <a:t>init_chat_model</a:t>
            </a:r>
            <a:endParaRPr lang="fr-FR" dirty="0"/>
          </a:p>
          <a:p>
            <a:pPr lvl="1"/>
            <a:r>
              <a:rPr lang="it-IT" dirty="0" err="1"/>
              <a:t>llm</a:t>
            </a:r>
            <a:r>
              <a:rPr lang="it-IT" dirty="0"/>
              <a:t> = </a:t>
            </a:r>
            <a:r>
              <a:rPr lang="it-IT" dirty="0" err="1"/>
              <a:t>init_chat_model</a:t>
            </a:r>
            <a:r>
              <a:rPr lang="it-IT" dirty="0"/>
              <a:t>("gpt-4o-mini", </a:t>
            </a:r>
            <a:r>
              <a:rPr lang="it-IT" dirty="0" err="1"/>
              <a:t>model_provider</a:t>
            </a:r>
            <a:r>
              <a:rPr lang="it-IT" dirty="0"/>
              <a:t>="</a:t>
            </a:r>
            <a:r>
              <a:rPr lang="it-IT" dirty="0" err="1"/>
              <a:t>openai</a:t>
            </a:r>
            <a:r>
              <a:rPr lang="it-IT" dirty="0"/>
              <a:t>")</a:t>
            </a:r>
            <a:endParaRPr lang="fr-FR" dirty="0"/>
          </a:p>
          <a:p>
            <a:r>
              <a:rPr lang="fr-FR" dirty="0" err="1"/>
              <a:t>Graph.invoke</a:t>
            </a:r>
            <a:endParaRPr lang="fr-FR" dirty="0"/>
          </a:p>
          <a:p>
            <a:pPr lvl="1"/>
            <a:r>
              <a:rPr lang="fr-FR" dirty="0"/>
              <a:t>Permet un parcours synchrone</a:t>
            </a:r>
          </a:p>
          <a:p>
            <a:r>
              <a:rPr lang="fr-FR" dirty="0" err="1"/>
              <a:t>Graph.stream</a:t>
            </a:r>
            <a:endParaRPr lang="fr-FR" dirty="0"/>
          </a:p>
          <a:p>
            <a:pPr lvl="1"/>
            <a:r>
              <a:rPr lang="fr-FR" dirty="0"/>
              <a:t>Permet un parcours asynchrone</a:t>
            </a:r>
          </a:p>
        </p:txBody>
      </p:sp>
    </p:spTree>
    <p:extLst>
      <p:ext uri="{BB962C8B-B14F-4D97-AF65-F5344CB8AC3E}">
        <p14:creationId xmlns:p14="http://schemas.microsoft.com/office/powerpoint/2010/main" val="718699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205229-EFAB-77E3-92A1-F86345E5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Graphe </a:t>
            </a:r>
            <a:r>
              <a:rPr lang="fr-FR" dirty="0" err="1"/>
              <a:t>Retrieve</a:t>
            </a:r>
            <a:endParaRPr lang="fr-FR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DCCB6A6F-E96C-2A94-D8F1-7B3D2D1BF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822101" y="1988840"/>
            <a:ext cx="1171739" cy="2514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51B3077-F90E-90CA-4CFE-41AB17297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29" y="1127676"/>
            <a:ext cx="7253883" cy="448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8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96C52C-0FF1-C073-15D4-3794D2F99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Graphe RAG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FC72DE79-6C70-917F-4C7E-888575A66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8344" y="188640"/>
            <a:ext cx="1238423" cy="356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ECBFC9C-CC2C-057A-756D-AA760AE1A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03957"/>
            <a:ext cx="9020903" cy="264083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E13A38F-9B38-AD00-AD18-A5F91FBD7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218447"/>
            <a:ext cx="6581395" cy="287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0815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4065</TotalTime>
  <Words>604</Words>
  <Application>Microsoft Office PowerPoint</Application>
  <PresentationFormat>Affichage à l'écran (4:3)</PresentationFormat>
  <Paragraphs>90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Monotype Sorts</vt:lpstr>
      <vt:lpstr>Times New Roman</vt:lpstr>
      <vt:lpstr>cvc</vt:lpstr>
      <vt:lpstr>Présentation PowerPoint</vt:lpstr>
      <vt:lpstr>Chainage</vt:lpstr>
      <vt:lpstr>Vectorisation</vt:lpstr>
      <vt:lpstr>Modèles d'embedding</vt:lpstr>
      <vt:lpstr>Vector Storage</vt:lpstr>
      <vt:lpstr>Retrieval</vt:lpstr>
      <vt:lpstr>Augmentation</vt:lpstr>
      <vt:lpstr>Chainage QA</vt:lpstr>
      <vt:lpstr>LangGraph</vt:lpstr>
      <vt:lpstr>Augmentation avec les metadata</vt:lpstr>
      <vt:lpstr>State</vt:lpstr>
      <vt:lpstr>StateGraph</vt:lpstr>
      <vt:lpstr>Node</vt:lpstr>
      <vt:lpstr>Edge</vt:lpstr>
      <vt:lpstr>Parcours du graphe</vt:lpstr>
      <vt:lpstr>Graphe Retrieve</vt:lpstr>
      <vt:lpstr>Graphe RAG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306</cp:revision>
  <dcterms:created xsi:type="dcterms:W3CDTF">2000-04-10T19:33:12Z</dcterms:created>
  <dcterms:modified xsi:type="dcterms:W3CDTF">2025-11-14T09:55:30Z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