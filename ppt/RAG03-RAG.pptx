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4"/>
  </p:notesMasterIdLst>
  <p:handoutMasterIdLst>
    <p:handoutMasterId r:id="rId15"/>
  </p:handoutMasterIdLst>
  <p:sldIdLst>
    <p:sldId id="264" r:id="rId2"/>
    <p:sldId id="265" r:id="rId3"/>
    <p:sldId id="266" r:id="rId4"/>
    <p:sldId id="286" r:id="rId5"/>
    <p:sldId id="287" r:id="rId6"/>
    <p:sldId id="267" r:id="rId7"/>
    <p:sldId id="277" r:id="rId8"/>
    <p:sldId id="268" r:id="rId9"/>
    <p:sldId id="276" r:id="rId10"/>
    <p:sldId id="288" r:id="rId11"/>
    <p:sldId id="289" r:id="rId12"/>
    <p:sldId id="290" r:id="rId13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737324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/>
              <a:t>RAG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74303-5807-48EF-6630-C66B005A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C8A03-1DF1-D020-430E-79E31BFE9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Retrieval-augmented</a:t>
            </a:r>
            <a:r>
              <a:rPr lang="fr-FR" dirty="0"/>
              <a:t> </a:t>
            </a:r>
            <a:r>
              <a:rPr lang="fr-FR" dirty="0" err="1"/>
              <a:t>generation</a:t>
            </a:r>
            <a:endParaRPr lang="fr-FR" dirty="0"/>
          </a:p>
          <a:p>
            <a:r>
              <a:rPr lang="fr-FR" dirty="0"/>
              <a:t>La Génération Augmentée de Récupération est une technique d'optimisation de réponses LLM</a:t>
            </a:r>
          </a:p>
          <a:p>
            <a:r>
              <a:rPr lang="fr-FR" dirty="0"/>
              <a:t>Cette méthode permet notamment d'améliorer la qualité de réponses aux requêtes en permettant aux LLM d'exploiter des ressources de données supplémentaires sans </a:t>
            </a:r>
            <a:r>
              <a:rPr lang="fr-FR" dirty="0" err="1"/>
              <a:t>ré-entraînement</a:t>
            </a:r>
            <a:endParaRPr lang="fr-FR" dirty="0"/>
          </a:p>
          <a:p>
            <a:pPr lvl="1"/>
            <a:r>
              <a:rPr lang="fr-FR" dirty="0"/>
              <a:t>Les cas d'utilisation incluent l'accès via un </a:t>
            </a:r>
            <a:r>
              <a:rPr lang="fr-FR" dirty="0" err="1"/>
              <a:t>chatbot</a:t>
            </a:r>
            <a:r>
              <a:rPr lang="fr-FR" dirty="0"/>
              <a:t> aux données internes de l'entreprise ou la diffusion d'informations vérifiées provenant exclusivement de sources fiables et reconnues</a:t>
            </a:r>
          </a:p>
        </p:txBody>
      </p:sp>
    </p:spTree>
    <p:extLst>
      <p:ext uri="{BB962C8B-B14F-4D97-AF65-F5344CB8AC3E}">
        <p14:creationId xmlns:p14="http://schemas.microsoft.com/office/powerpoint/2010/main" val="3475619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32D864-D576-1576-27C7-AE7FD389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pic>
        <p:nvPicPr>
          <p:cNvPr id="5" name="Espace réservé du contenu 4" descr="Une image contenant texte, diagramm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0F51FEF5-76BA-DD61-DBD5-A0978CE301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514" y="980729"/>
            <a:ext cx="6786044" cy="5472460"/>
          </a:xfrm>
        </p:spPr>
      </p:pic>
    </p:spTree>
    <p:extLst>
      <p:ext uri="{BB962C8B-B14F-4D97-AF65-F5344CB8AC3E}">
        <p14:creationId xmlns:p14="http://schemas.microsoft.com/office/powerpoint/2010/main" val="39737042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9E766A-D7EB-8753-5BF7-41F5DAD3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ndex_diagram">
            <a:extLst>
              <a:ext uri="{FF2B5EF4-FFF2-40B4-BE49-F238E27FC236}">
                <a16:creationId xmlns:a16="http://schemas.microsoft.com/office/drawing/2014/main" id="{E97727BE-F777-EEDA-FD92-C4E4497C0F1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1728761"/>
            <a:ext cx="8766175" cy="4408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7230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B398C0-CFE9-352D-F9ED-CA3EE8AC9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BDD323-629B-5404-85C8-3CD3D0E340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retrieval_diagram">
            <a:extLst>
              <a:ext uri="{FF2B5EF4-FFF2-40B4-BE49-F238E27FC236}">
                <a16:creationId xmlns:a16="http://schemas.microsoft.com/office/drawing/2014/main" id="{AE830D2C-C82D-4590-43C4-4C8B75CEC7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82675"/>
            <a:ext cx="9144000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8637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F1CA9-48A4-1270-8CE8-2AAEB2DF3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composants du RAG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4119DE5-D6DD-EC9A-E975-42E4B10F0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LLM</a:t>
            </a:r>
          </a:p>
          <a:p>
            <a:pPr lvl="1"/>
            <a:r>
              <a:rPr lang="fr-FR" dirty="0"/>
              <a:t>Le modèle utilisé</a:t>
            </a:r>
          </a:p>
          <a:p>
            <a:r>
              <a:rPr lang="fr-FR" dirty="0" err="1"/>
              <a:t>Embedding</a:t>
            </a:r>
            <a:endParaRPr lang="fr-FR" dirty="0"/>
          </a:p>
          <a:p>
            <a:pPr lvl="1"/>
            <a:r>
              <a:rPr lang="fr-FR" dirty="0"/>
              <a:t>Modèle d'indexation</a:t>
            </a:r>
          </a:p>
          <a:p>
            <a:pPr lvl="1"/>
            <a:r>
              <a:rPr lang="fr-FR" dirty="0" err="1"/>
              <a:t>Chunks</a:t>
            </a:r>
            <a:endParaRPr lang="fr-FR" dirty="0"/>
          </a:p>
          <a:p>
            <a:pPr lvl="1"/>
            <a:r>
              <a:rPr lang="fr-FR" dirty="0" err="1"/>
              <a:t>Vector</a:t>
            </a:r>
            <a:r>
              <a:rPr lang="fr-FR" dirty="0"/>
              <a:t> </a:t>
            </a:r>
            <a:r>
              <a:rPr lang="fr-FR" dirty="0" err="1"/>
              <a:t>database</a:t>
            </a:r>
            <a:endParaRPr lang="fr-FR" dirty="0"/>
          </a:p>
          <a:p>
            <a:pPr lvl="1"/>
            <a:r>
              <a:rPr lang="fr-FR" dirty="0" err="1"/>
              <a:t>Retrieval</a:t>
            </a:r>
            <a:endParaRPr lang="fr-FR" dirty="0"/>
          </a:p>
          <a:p>
            <a:r>
              <a:rPr lang="fr-FR" dirty="0"/>
              <a:t>Augmentation</a:t>
            </a:r>
          </a:p>
          <a:p>
            <a:pPr lvl="1"/>
            <a:r>
              <a:rPr lang="fr-FR" dirty="0"/>
              <a:t>Augmentation du contexte</a:t>
            </a:r>
          </a:p>
          <a:p>
            <a:pPr lvl="1"/>
            <a:r>
              <a:rPr lang="fr-FR" dirty="0"/>
              <a:t>Accès au LLM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0713964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2B9487-0DC7-C501-0467-450DA7835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Plusieurs méthodologies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432ACE1-D449-EC80-81DB-98E7C5D936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Injection des documents dans le prompt</a:t>
            </a:r>
          </a:p>
          <a:p>
            <a:r>
              <a:rPr lang="fr-FR" dirty="0" err="1"/>
              <a:t>Embedding</a:t>
            </a:r>
            <a:endParaRPr lang="fr-FR" dirty="0"/>
          </a:p>
          <a:p>
            <a:r>
              <a:rPr lang="fr-FR" dirty="0"/>
              <a:t>Fine Tuning</a:t>
            </a:r>
          </a:p>
          <a:p>
            <a:r>
              <a:rPr lang="fr-FR" dirty="0"/>
              <a:t>Agent IA</a:t>
            </a:r>
          </a:p>
          <a:p>
            <a:r>
              <a:rPr lang="fr-FR" dirty="0"/>
              <a:t>Mixte</a:t>
            </a:r>
          </a:p>
        </p:txBody>
      </p:sp>
    </p:spTree>
    <p:extLst>
      <p:ext uri="{BB962C8B-B14F-4D97-AF65-F5344CB8AC3E}">
        <p14:creationId xmlns:p14="http://schemas.microsoft.com/office/powerpoint/2010/main" val="2006298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05F0F3-4AC6-9D0B-A529-33240D328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Injection du contexte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739E34-3C46-552E-EC5C-B18945591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Méthode simple</a:t>
            </a:r>
          </a:p>
          <a:p>
            <a:r>
              <a:rPr lang="fr-FR" dirty="0"/>
              <a:t>Dans un LLM il est possible d'injecter un document qui sert de contexte</a:t>
            </a:r>
          </a:p>
          <a:p>
            <a:pPr lvl="1"/>
            <a:r>
              <a:rPr lang="fr-FR" dirty="0"/>
              <a:t>Dans ce document retrouver moi l'information pertinente</a:t>
            </a:r>
          </a:p>
          <a:p>
            <a:pPr lvl="1"/>
            <a:r>
              <a:rPr lang="fr-FR" dirty="0"/>
              <a:t>Limitation du nombre de </a:t>
            </a:r>
            <a:r>
              <a:rPr lang="fr-FR" dirty="0" err="1"/>
              <a:t>Token</a:t>
            </a:r>
            <a:endParaRPr lang="fr-FR" dirty="0"/>
          </a:p>
          <a:p>
            <a:pPr lvl="1"/>
            <a:r>
              <a:rPr lang="fr-FR" dirty="0"/>
              <a:t>Entre 4000 </a:t>
            </a:r>
            <a:r>
              <a:rPr lang="fr-FR" dirty="0" err="1"/>
              <a:t>tokens</a:t>
            </a:r>
            <a:r>
              <a:rPr lang="fr-FR" dirty="0"/>
              <a:t> et 16 000 </a:t>
            </a:r>
            <a:r>
              <a:rPr lang="fr-FR" dirty="0" err="1"/>
              <a:t>tokens</a:t>
            </a:r>
            <a:r>
              <a:rPr lang="fr-FR" dirty="0"/>
              <a:t> pour les meilleurs modèles</a:t>
            </a:r>
          </a:p>
          <a:p>
            <a:pPr lvl="1"/>
            <a:r>
              <a:rPr lang="fr-FR" dirty="0"/>
              <a:t>Il est possible d'injecter en plusieurs fois</a:t>
            </a:r>
          </a:p>
          <a:p>
            <a:pPr lvl="1"/>
            <a:r>
              <a:rPr lang="fr-FR" dirty="0"/>
              <a:t>Il faut tout réinjecter à chaque fois</a:t>
            </a:r>
          </a:p>
          <a:p>
            <a:pPr lvl="1"/>
            <a:r>
              <a:rPr lang="fr-FR" dirty="0"/>
              <a:t>Chère €</a:t>
            </a:r>
          </a:p>
          <a:p>
            <a:pPr lvl="1"/>
            <a:r>
              <a:rPr lang="fr-FR" dirty="0"/>
              <a:t>Limité à une centaine de pages</a:t>
            </a:r>
          </a:p>
        </p:txBody>
      </p:sp>
    </p:spTree>
    <p:extLst>
      <p:ext uri="{BB962C8B-B14F-4D97-AF65-F5344CB8AC3E}">
        <p14:creationId xmlns:p14="http://schemas.microsoft.com/office/powerpoint/2010/main" val="2179083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BA56A7-B9C8-8BD9-4FE4-32E265871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Transformer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801E3C-E6FD-6CEF-ABC3-91185EC11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Transformer est un mécanisme d'IA qui transforme un objet quelconque en une entité mathématique appelé tenseur</a:t>
            </a:r>
          </a:p>
          <a:p>
            <a:pPr lvl="1"/>
            <a:r>
              <a:rPr lang="fr-FR" dirty="0"/>
              <a:t>Texte vers vecteur</a:t>
            </a:r>
          </a:p>
          <a:p>
            <a:pPr lvl="1"/>
            <a:r>
              <a:rPr lang="fr-FR" dirty="0"/>
              <a:t>Image vers matrice ou vecteur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437CD86-C10C-053B-97F6-9DA8AF441B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3848" y="3933056"/>
            <a:ext cx="2534004" cy="21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5831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E80F7A-6628-0BCD-F841-7B8781283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Chunking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BAEECF1-D815-EC56-EFF3-8BB5D58BD3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Chunk</a:t>
            </a:r>
            <a:r>
              <a:rPr lang="fr-FR" dirty="0"/>
              <a:t> est un transformer qui va découper le document</a:t>
            </a:r>
          </a:p>
          <a:p>
            <a:pPr lvl="1"/>
            <a:r>
              <a:rPr lang="fr-FR" dirty="0"/>
              <a:t>Suivant une logique</a:t>
            </a:r>
          </a:p>
          <a:p>
            <a:pPr lvl="1"/>
            <a:r>
              <a:rPr lang="fr-FR" dirty="0"/>
              <a:t>Une taille</a:t>
            </a:r>
          </a:p>
          <a:p>
            <a:pPr lvl="1"/>
            <a:r>
              <a:rPr lang="fr-FR" dirty="0"/>
              <a:t>…</a:t>
            </a:r>
          </a:p>
          <a:p>
            <a:pPr lvl="1"/>
            <a:r>
              <a:rPr lang="fr-FR" dirty="0"/>
              <a:t>Voir chapitre suivant</a:t>
            </a:r>
          </a:p>
        </p:txBody>
      </p:sp>
    </p:spTree>
    <p:extLst>
      <p:ext uri="{BB962C8B-B14F-4D97-AF65-F5344CB8AC3E}">
        <p14:creationId xmlns:p14="http://schemas.microsoft.com/office/powerpoint/2010/main" val="13534804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DF7322-0CCC-53E1-5798-7F2509412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Vectorisation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A518453-1905-D42F-4E62-54DACEB8E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La vectorisation est un Transformer qui transforme un objet en un vecteur algébrique</a:t>
            </a:r>
          </a:p>
          <a:p>
            <a:pPr lvl="1"/>
            <a:r>
              <a:rPr lang="fr-FR" dirty="0"/>
              <a:t>Par exemple du texte</a:t>
            </a:r>
          </a:p>
          <a:p>
            <a:r>
              <a:rPr lang="fr-FR" dirty="0"/>
              <a:t>Puis de le stocker</a:t>
            </a:r>
          </a:p>
          <a:p>
            <a:r>
              <a:rPr lang="fr-FR" dirty="0"/>
              <a:t>Puis de l'envoyer au LLM</a:t>
            </a:r>
          </a:p>
          <a:p>
            <a:pPr lvl="1"/>
            <a:r>
              <a:rPr lang="fr-FR" dirty="0"/>
              <a:t>On parle alors d'</a:t>
            </a:r>
            <a:r>
              <a:rPr lang="fr-FR" dirty="0" err="1"/>
              <a:t>embeddings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59851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420DB5-0148-D6A2-8016-786B7225E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Vecteur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A85809-5C0E-D57E-52E8-E16D164B9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mathématiques, un vecteur est un objet généralisant plusieurs notions provenant de la géométrie, de l'algèbre ou de la physique</a:t>
            </a:r>
          </a:p>
          <a:p>
            <a:r>
              <a:rPr lang="fr-FR" dirty="0"/>
              <a:t>Exemple de vecteur</a:t>
            </a:r>
          </a:p>
          <a:p>
            <a:r>
              <a:rPr lang="fr-FR" dirty="0"/>
              <a:t>Un vecteur peut avoir une dimension largement supérieure à 2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0682371-7486-0C55-DB78-23B1A79B51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4005064"/>
            <a:ext cx="2289635" cy="194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7162321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3410</TotalTime>
  <Words>281</Words>
  <Application>Microsoft Office PowerPoint</Application>
  <PresentationFormat>Affichage à l'écran (4:3)</PresentationFormat>
  <Paragraphs>56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Monotype Sorts</vt:lpstr>
      <vt:lpstr>Times New Roman</vt:lpstr>
      <vt:lpstr>cvc</vt:lpstr>
      <vt:lpstr>Présentation PowerPoint</vt:lpstr>
      <vt:lpstr>RAG</vt:lpstr>
      <vt:lpstr>Architecture</vt:lpstr>
      <vt:lpstr>Présentation PowerPoint</vt:lpstr>
      <vt:lpstr>Présentation PowerPoint</vt:lpstr>
      <vt:lpstr>Les composants du RAG</vt:lpstr>
      <vt:lpstr>Plusieurs méthodologies</vt:lpstr>
      <vt:lpstr>Injection du contexte</vt:lpstr>
      <vt:lpstr>Transformer</vt:lpstr>
      <vt:lpstr>Chunking</vt:lpstr>
      <vt:lpstr>Vectorisation</vt:lpstr>
      <vt:lpstr>Vecteur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264</cp:revision>
  <dcterms:created xsi:type="dcterms:W3CDTF">2000-04-10T19:33:12Z</dcterms:created>
  <dcterms:modified xsi:type="dcterms:W3CDTF">2025-10-17T15:11:35Z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